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DZ" rtl="1" sz="1200">
                <a:cs typeface="Cairo"/>
                <a:latin typeface="Cairo"/>
                <a:ea typeface="Cairo"/>
              </a:rPr>
              <a:t>ما أقوله: السلام عليكم ورحمة الله وبركاته. نقدم اليوم مشروع تخرج بعنوان تصميم وإنجاز نظام معلوماتي لتسيير مكتبة كلية العلوم الاجتماعية والإنسانية بجامعة الشهيد حمه لخضر بالوادي. أنجز هذا العمل حمي فطيمة وحماني عائشة وبلابل فرح، بإشراف المؤطرة صبرينة قرزي، ضمن تخصص تقني سامي في الإعلام الآلي، خيار قاعدة معطيات، دفعة مارس 2026.</a:t>
            </a:r>
          </a:p>
          <a:p>
            <a:pPr algn="r" rtl="1"/>
            <a:r>
              <a:rPr lang="ar-DZ" rtl="1" sz="1200">
                <a:cs typeface="Cairo"/>
                <a:latin typeface="Cairo"/>
                <a:ea typeface="Cairo"/>
              </a:rPr>
              <a:t>النقطة التي أركز عليها: ذكر العنوان والأسماء والمؤسسة كما وردت في صفحة الغلاف، ثم تقديم الفكرة باعتبارها نظامًا عمليًا لتسيير المكتبة لا مجرد قاعدة بيانات.</a:t>
            </a:r>
          </a:p>
          <a:p>
            <a:pPr algn="r" rtl="1"/>
            <a:r>
              <a:rPr lang="ar-DZ" rtl="1" sz="1200">
                <a:cs typeface="Cairo"/>
                <a:latin typeface="Cairo"/>
                <a:ea typeface="Cairo"/>
              </a:rPr>
              <a:t>الانتقال: نبدأ بتحديد موقع المكتبة ودورها، ثم ننتقل إلى الإشكالية التي بررت اختيار المشروع.</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DZ" rtl="1" sz="1200">
                <a:cs typeface="Cairo"/>
                <a:latin typeface="Cairo"/>
                <a:ea typeface="Cairo"/>
              </a:rPr>
              <a:t>ما أقوله: تتمحور الدراسة حول مكتبة كلية العلوم الاجتماعية والإنسانية بجامعة الوادي، وهي جزء من المكتبة المركزية. دورها دعم العملية التعليمية والبحث العلمي، من خلال الكتب والمراجع والرسائل الجامعية والدوريات والأبحاث. ويستفيد من خدماتها الطلبة وأعضاء الهيئة التدريسية. لذلك فإن التسيير اليومي يتعامل مع الرصيد الوثائقي وتسجيل الكتب والإعارة والإرجاع.</a:t>
            </a:r>
          </a:p>
          <a:p>
            <a:pPr algn="r" rtl="1"/>
            <a:r>
              <a:rPr lang="ar-DZ" rtl="1" sz="1200">
                <a:cs typeface="Cairo"/>
                <a:latin typeface="Cairo"/>
                <a:ea typeface="Cairo"/>
              </a:rPr>
              <a:t>النقطة التي أركز عليها: إظهار أن مجال المشروع ليس مكتبة عامة، بل مرفق جامعي له مستفيدون وموارد وإجراءات يومية محددة.</a:t>
            </a:r>
          </a:p>
          <a:p>
            <a:pPr algn="r" rtl="1"/>
            <a:r>
              <a:rPr lang="ar-DZ" rtl="1" sz="1200">
                <a:cs typeface="Cairo"/>
                <a:latin typeface="Cairo"/>
                <a:ea typeface="Cairo"/>
              </a:rPr>
              <a:t>الانتقال: بعد فهم السياق، نعرض موضع التعثر في الطريقة الحالية وسؤال الدراسة.</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DZ" rtl="1" sz="1200">
                <a:cs typeface="Cairo"/>
                <a:latin typeface="Cairo"/>
                <a:ea typeface="Cairo"/>
              </a:rPr>
              <a:t>ما أقوله: توضح المذكرة أن العمل اليدوي يجعل التسجيل والإعارة والإرجاع والبحث عن المراجع بطيئة. كما أن تنظيم البيانات واستخراج المعلومات في الوقت المناسب صعب، وتتكدس الطلبات ويستغرق إعداد الإحصاءات والتقارير وقتًا كبيرًا. وقد يؤدي ذلك إلى أخطاء ويؤثر في مردودية المكتبة. ومن هنا صيغ السؤال: كيف يمكن تسيير المكتبة بطريقة فعالة؟</a:t>
            </a:r>
          </a:p>
          <a:p>
            <a:pPr algn="r" rtl="1"/>
            <a:r>
              <a:rPr lang="ar-DZ" rtl="1" sz="1200">
                <a:cs typeface="Cairo"/>
                <a:latin typeface="Cairo"/>
                <a:ea typeface="Cairo"/>
              </a:rPr>
              <a:t>النقطة التي أركز عليها: التركيز على سلسلة السبب والنتيجة: إجراء يدوي متكرر، ثم بطء وصعوبة في الاسترجاع، ثم ضغط وأخطاء؛ لا نضيف أرقامًا غير موجودة.</a:t>
            </a:r>
          </a:p>
          <a:p>
            <a:pPr algn="r" rtl="1"/>
            <a:r>
              <a:rPr lang="ar-DZ" rtl="1" sz="1200">
                <a:cs typeface="Cairo"/>
                <a:latin typeface="Cairo"/>
                <a:ea typeface="Cairo"/>
              </a:rPr>
              <a:t>الانتقال: ننتقل من تشخيص المشكلة إلى الحل الذي بُني عليه المشروع وأهدافه.</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DZ" rtl="1" sz="1200">
                <a:cs typeface="Cairo"/>
                <a:latin typeface="Cairo"/>
                <a:ea typeface="Cairo"/>
              </a:rPr>
              <a:t>ما أقوله: الحل المقترح هو تصميم وإنجاز نظام معلوماتي خاص بتسيير المكتبة. أهدافه كما حددتها المذكرة هي تحسين السرعة والتنظيم، رفع دقة معالجة البيانات والحد من أخطاء العمل اليدوي، تسهيل تخزين كم البيانات واسترجاعها، وتخفيف العبء الإداري وتقليل الاعتماد على الوثائق الورقية مع مراعاة أمن المعلومات. هذا انتقال من آلية العمل الحالية إلى حل مبني على قاعدة بيانات وواجهة تشغيل.</a:t>
            </a:r>
          </a:p>
          <a:p>
            <a:pPr algn="r" rtl="1"/>
            <a:r>
              <a:rPr lang="ar-DZ" rtl="1" sz="1200">
                <a:cs typeface="Cairo"/>
                <a:latin typeface="Cairo"/>
                <a:ea typeface="Cairo"/>
              </a:rPr>
              <a:t>النقطة التي أركز عليها: التفريق بين هدف المشروع وبين نتيجة كمية مقاسة؛ المذكرة تطرح أهدافًا نوعية ولا تعرض مقارنة رقمية قبل/بعد.</a:t>
            </a:r>
          </a:p>
          <a:p>
            <a:pPr algn="r" rtl="1"/>
            <a:r>
              <a:rPr lang="ar-DZ" rtl="1" sz="1200">
                <a:cs typeface="Cairo"/>
                <a:latin typeface="Cairo"/>
                <a:ea typeface="Cairo"/>
              </a:rPr>
              <a:t>الانتقال: لفهم أصحاب البيانات والعمليات، نقرأ أولًا مخطط تدفق المعلومات كما ورد في الدراسة.</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DZ" rtl="1" sz="1200">
                <a:cs typeface="Cairo"/>
                <a:latin typeface="Cairo"/>
                <a:ea typeface="Cairo"/>
              </a:rPr>
              <a:t>ما أقوله: يمثل المخطط حدود النظام وتبادل المعلومات مع الطالب ومديرة المكتبة وعون المكتبة. الطالب يطلب الاستعارة ويقدم بطاقة الطالب، ثم تسلم المكتبة الكتاب المعار. وتتبادل المكتبة مع المديرة التقارير الإحصائية وطلبات شراء الكتب الجديدة، ومع العون أوامر العمل اليومية وتسجيل الكتب الجديدة. أعدنا رسم هذه التدفقات بشكل قابل للتعديل مع الحفاظ على الجهات والاتجاهات الستة.</a:t>
            </a:r>
          </a:p>
          <a:p>
            <a:pPr algn="r" rtl="1"/>
            <a:r>
              <a:rPr lang="ar-DZ" rtl="1" sz="1200">
                <a:cs typeface="Cairo"/>
                <a:latin typeface="Cairo"/>
                <a:ea typeface="Cairo"/>
              </a:rPr>
              <a:t>النقطة التي أركز عليها: الأسهم المرقمة مهمة: الأرقام 1 إلى 6 تطابق المعاملات والاتجاهات الأصلية في المذكرة.</a:t>
            </a:r>
          </a:p>
          <a:p>
            <a:pPr algn="r" rtl="1"/>
            <a:r>
              <a:rPr lang="ar-DZ" rtl="1" sz="1200">
                <a:cs typeface="Cairo"/>
                <a:latin typeface="Cairo"/>
                <a:ea typeface="Cairo"/>
              </a:rPr>
              <a:t>الانتقال: بعد حدود النظام، نميز بين النقائص التي رصدتها الدراسة وبين التوصيات التي اقترحتها.</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DZ" rtl="1" sz="1200">
                <a:cs typeface="Cairo"/>
                <a:latin typeface="Cairo"/>
                <a:ea typeface="Cairo"/>
              </a:rPr>
              <a:t>ما أقوله: قسم النقد صنف النقائص إلى تنظيمية ومعلوماتية وتقنية. من ذلك نقص العاملين والخبرة التقنية وعبء العمل، وعدم وجود سجل للعقوبات، وغياب ضمانات كافية ضد ضياع الملفات، وقلة الأجهزة الحديثة. والتوصيات تشمل دعم الكوادر، وتنظيم سجل المذكرات والعقوبات، واعتماد النسخ الاحتياطية وتحديث العتاد. هذه توصيات للدراسة وليست ادعاء بأن البرنامج يعالج نقص الموظفين أو الأجهزة.</a:t>
            </a:r>
          </a:p>
          <a:p>
            <a:pPr algn="r" rtl="1"/>
            <a:r>
              <a:rPr lang="ar-DZ" rtl="1" sz="1200">
                <a:cs typeface="Cairo"/>
                <a:latin typeface="Cairo"/>
                <a:ea typeface="Cairo"/>
              </a:rPr>
              <a:t>النقطة التي أركز عليها: الفصل بين ما يمكن للنظام المعلوماتي معالجته مباشرة وما يتطلب قرارًا إداريًا أو تجهيزًا مؤسسيًا.</a:t>
            </a:r>
          </a:p>
          <a:p>
            <a:pPr algn="r" rtl="1"/>
            <a:r>
              <a:rPr lang="ar-DZ" rtl="1" sz="1200">
                <a:cs typeface="Cairo"/>
                <a:latin typeface="Cairo"/>
                <a:ea typeface="Cairo"/>
              </a:rPr>
              <a:t>الانتقال: ننتقل إلى منهجية MERISE التي رتبت التحليل والتصميم والتنفيذ.</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DZ" rtl="1" sz="1200">
                <a:cs typeface="Cairo"/>
                <a:latin typeface="Cairo"/>
                <a:ea typeface="Cairo"/>
              </a:rPr>
              <a:t>ما أقوله: اعتمد المشروع منهجية MERISE. تبدأ بالدراسة التمهيدية لمناصب العمل والوثائق والإجراءات وتدفق المعلومات، ثم تنقيح قاموس البيانات والروابط الوظيفية والقواعد. بعد ذلك يتم بناء MCD، وتحويله إلى MLD، ثم MPD قبل تنفيذ قاعدة البيانات والواجهة. قيمة هذا المسار أنه يمنع القفز مباشرة إلى البرمجة ويفصل تصور البيانات عن المعالجات.</a:t>
            </a:r>
          </a:p>
          <a:p>
            <a:pPr algn="r" rtl="1"/>
            <a:r>
              <a:rPr lang="ar-DZ" rtl="1" sz="1200">
                <a:cs typeface="Cairo"/>
                <a:latin typeface="Cairo"/>
                <a:ea typeface="Cairo"/>
              </a:rPr>
              <a:t>النقطة التي أركز عليها: أشر إلى تسلسل المراحل من اليمين إلى اليسار، وبيّن كيف ينتقل التحليل من وصف المؤسسة إلى بنية قابلة للتنفيذ.</a:t>
            </a:r>
          </a:p>
          <a:p>
            <a:pPr algn="r" rtl="1"/>
            <a:r>
              <a:rPr lang="ar-DZ" rtl="1" sz="1200">
                <a:cs typeface="Cairo"/>
                <a:latin typeface="Cairo"/>
                <a:ea typeface="Cairo"/>
              </a:rPr>
              <a:t>الانتقال: قبل بناء MCD، يوضح SAT كيف يحدد كل معرّف خصائصه الوظيفية.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DZ" rtl="1" sz="1200">
                <a:cs typeface="Cairo"/>
                <a:latin typeface="Cairo"/>
                <a:ea typeface="Cairo"/>
              </a:rPr>
              <a:t>ما أقوله: في SAT نحدد الارتباط الوظيفي: معرفة قيمة المعرف تسمح بمعرفة خصائص الكائن. رقم الكتاب يحدد العنوان وسنة الإصدار وتاريخ الدخول وعدد النسخ، ورقم المنخرط يحدد بياناته الأساسية، وبالمثل للمؤلف والصنف ودار النشر والسنة والعقوبة. كما أن علاقة يستعير تحمل تاريخ الإعارة وتاريخ الإرجاع. هذه الروابط هي الأساس لاستخراج الكيانات والعلاقات.</a:t>
            </a:r>
          </a:p>
          <a:p>
            <a:pPr algn="r" rtl="1"/>
            <a:r>
              <a:rPr lang="ar-DZ" rtl="1" sz="1200">
                <a:cs typeface="Cairo"/>
                <a:latin typeface="Cairo"/>
                <a:ea typeface="Cairo"/>
              </a:rPr>
              <a:t>النقطة التي أركز عليها: توضيح أن السهم يعبّر عن تبعية وظيفية للخصائص وليس عن تكرار أو إحصائية.</a:t>
            </a:r>
          </a:p>
          <a:p>
            <a:pPr algn="r" rtl="1"/>
            <a:r>
              <a:rPr lang="ar-DZ" rtl="1" sz="1200">
                <a:cs typeface="Cairo"/>
                <a:latin typeface="Cairo"/>
                <a:ea typeface="Cairo"/>
              </a:rPr>
              <a:t>الانتقال: بعد تحديد المعرفات والخصائص، تعرض القواعد التسييرية قيود العمل التي ستظهر في MCD.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DZ" rtl="1" sz="1200">
                <a:cs typeface="Cairo"/>
                <a:latin typeface="Cairo"/>
                <a:ea typeface="Cairo"/>
              </a:rPr>
              <a:t>ما أقوله: قبل رسم النموذج نرجع إلى قواعد التسيير والتنظيم. لكل كتاب مؤلف واحد وناشر واحد وصنف واحد، والطالب يرتبط بسنة انخراط واحدة. الإعارة مخصصة لحاملي بطاقة الطالب ومدتها القصوى سبعة أيام مع إمكانية الإرجاع قبل ذلك. والعقوبة يمكن أن تتكرر للمنخرط، وكل عقوبة تخص منخرطًا واحدًا. كما تنص الدراسة على تعويض الكتاب الضائع أو المتلف بخمسة أضعاف قيمته.</a:t>
            </a:r>
          </a:p>
          <a:p>
            <a:pPr algn="r" rtl="1"/>
            <a:r>
              <a:rPr lang="ar-DZ" rtl="1" sz="1200">
                <a:cs typeface="Cairo"/>
                <a:latin typeface="Cairo"/>
                <a:ea typeface="Cairo"/>
              </a:rPr>
              <a:t>النقطة التي أركز عليها: اربط كل قاعدة بعلاقتها أو بتعدادها في MCD، ولا تخلط قاعدة التعويض بتطبيق آلي غير موثق.</a:t>
            </a:r>
          </a:p>
          <a:p>
            <a:pPr algn="r" rtl="1"/>
            <a:r>
              <a:rPr lang="ar-DZ" rtl="1" sz="1200">
                <a:cs typeface="Cairo"/>
                <a:latin typeface="Cairo"/>
                <a:ea typeface="Cairo"/>
              </a:rPr>
              <a:t>الانتقال: نحوّل هذه القواعد الآن إلى مخطط MCD كامل مع الكيانات والعلاقات والتعدادات.</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DZ" rtl="1" sz="1200">
                <a:cs typeface="Cairo"/>
                <a:latin typeface="Cairo"/>
                <a:ea typeface="Cairo"/>
              </a:rPr>
              <a:t>ما أقوله: هذا هو MCD الكامل المستخرج من شكل المذكرة وقائمة الكائنات والعلاقات. يضم الكتاب والمنخرط والمؤلف ودار النشر والصنف والسنة والعقوبة. الكتاب يرتبط بمؤلف وناشر وصنف، والمنخرط ينتمي إلى سنة، وقد تكون له عقوبات متعددة. علاقة يستعير متعددة إلى متعددة وتحمل تاريخ الإعارة وتاريخ الإرجاع. أعدنا رسم الكيانات والعلاقات والتعدادات بدل إدراج صورة صغيرة للمخطط.</a:t>
            </a:r>
          </a:p>
          <a:p>
            <a:pPr algn="r" rtl="1"/>
            <a:r>
              <a:rPr lang="ar-DZ" rtl="1" sz="1200">
                <a:cs typeface="Cairo"/>
                <a:latin typeface="Cairo"/>
                <a:ea typeface="Cairo"/>
              </a:rPr>
              <a:t>النقطة التي أركز عليها: اعرض الصورة كاملة أولًا، ثم سمِّ الكيانات والتعدادات؛ الكارديناليات جزء من المعنى ولا ينبغي إسقاطها.</a:t>
            </a:r>
          </a:p>
          <a:p>
            <a:pPr algn="r" rtl="1"/>
            <a:r>
              <a:rPr lang="ar-DZ" rtl="1" sz="1200">
                <a:cs typeface="Cairo"/>
                <a:latin typeface="Cairo"/>
                <a:ea typeface="Cairo"/>
              </a:rPr>
              <a:t>الانتقال: في الشريحة التالية نقترب بصريًا من مسار الطالب والكتاب والإعارة والعقوبة قبل التحويل إلى MLD.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DZ" rtl="1" sz="1200">
                <a:cs typeface="Cairo"/>
                <a:latin typeface="Cairo"/>
                <a:ea typeface="Cairo"/>
              </a:rPr>
              <a:t>ما أقوله: هذه اللقطة تركز على محور المعاملة: الكتاب والمنخرط يلتقيان في علاقة يستعير التي تحفظ تاريخ الإعارة والإرجاع، والتعداد من الجهتين صفر إلى متعدد كما في النموذج. ومن المنخرط تتفرع علاقة العقوبة، حيث كل عقوبة لمنخرط واحد، وعلاقة الانخراط بسنة واحدة. أما علاقات الكتاب بالمؤلف والناشر والصنف فباقية كما في المخطط الكامل.</a:t>
            </a:r>
          </a:p>
          <a:p>
            <a:pPr algn="r" rtl="1"/>
            <a:r>
              <a:rPr lang="ar-DZ" rtl="1" sz="1200">
                <a:cs typeface="Cairo"/>
                <a:latin typeface="Cairo"/>
                <a:ea typeface="Cairo"/>
              </a:rPr>
              <a:t>النقطة التي أركز عليها: استخدمها كحركة تركيز بعد العرض الكامل: اشرح الإعارة أولًا، ثم العقوبة والانخراط، مع عدم تغيير الكارديناليات.</a:t>
            </a:r>
          </a:p>
          <a:p>
            <a:pPr algn="r" rtl="1"/>
            <a:r>
              <a:rPr lang="ar-DZ" rtl="1" sz="1200">
                <a:cs typeface="Cairo"/>
                <a:latin typeface="Cairo"/>
                <a:ea typeface="Cairo"/>
              </a:rPr>
              <a:t>الانتقال: الآن نترجم الكيانات والعلاقات إلى جداول منطقية ومفاتيح في MLD.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DZ" rtl="1" sz="1200">
                <a:cs typeface="Cairo"/>
                <a:latin typeface="Cairo"/>
                <a:ea typeface="Cairo"/>
              </a:rPr>
              <a:t>ما أقوله: عند الانتقال من MCD إلى MLD تصبح الكيانات علاقات منطقية. يظهر رقم الصنف والمؤلف ودار النشر كمفاتيح أجنبية في جدول الكتاب، ورقم السنة في جدول الطالب، ورقم الطالب في جدول العقوبة. العلاقة متعددة إلى متعددة يستعير تصبح علاقة مستقلة تحمل رقمي الطالب والكتاب وتاريخ الإعارة والإرجاع. يعرض المخطط أسماء العلاقات والحقول كما وردت في المذكرة.</a:t>
            </a:r>
          </a:p>
          <a:p>
            <a:pPr algn="r" rtl="1"/>
            <a:r>
              <a:rPr lang="ar-DZ" rtl="1" sz="1200">
                <a:cs typeface="Cairo"/>
                <a:latin typeface="Cairo"/>
                <a:ea typeface="Cairo"/>
              </a:rPr>
              <a:t>النقطة التي أركز عليها: إبراز أن FK هو آلية حفظ العلاقة عند التحويل، وأن جدول يستعير هو الجسر بين الطالب والكتاب.</a:t>
            </a:r>
          </a:p>
          <a:p>
            <a:pPr algn="r" rtl="1"/>
            <a:r>
              <a:rPr lang="ar-DZ" rtl="1" sz="1200">
                <a:cs typeface="Cairo"/>
                <a:latin typeface="Cairo"/>
                <a:ea typeface="Cairo"/>
              </a:rPr>
              <a:t>الانتقال: بعد النموذج المنطقي نحدد أنواع الحقول والقيود الفيزيائية في MPD.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DZ" rtl="1" sz="1200">
                <a:cs typeface="Cairo"/>
                <a:latin typeface="Cairo"/>
                <a:ea typeface="Cairo"/>
              </a:rPr>
              <a:t>ما أقوله: في MPD يصبح النموذج مجموعة جداول وحقول فعلية. اعتمد المشروع قاعدة بيانات باسم My_Data، وعرّف أنواعًا مثل INT للمعرفات والأعداد، وNVARCHAR للنصوص، وDATE للتواريخ، مع مفاتيح رئيسية وأجنبية. المثال المعروض مأخوذ من جدول الكتب المذكور في سكريبت SQL؛ وهو يوضح التحول من المفاهيم المنطقية إلى أوامر قابلة للتنفيذ.</a:t>
            </a:r>
          </a:p>
          <a:p>
            <a:pPr algn="r" rtl="1"/>
            <a:r>
              <a:rPr lang="ar-DZ" rtl="1" sz="1200">
                <a:cs typeface="Cairo"/>
                <a:latin typeface="Cairo"/>
                <a:ea typeface="Cairo"/>
              </a:rPr>
              <a:t>النقطة التي أركز عليها: الربط بين معنى الحقل ونوعه وقيد المفتاح، مع الإشارة إلى أن SQL Server هو محرك التنفيذ الوارد في المذكرة.</a:t>
            </a:r>
          </a:p>
          <a:p>
            <a:pPr algn="r" rtl="1"/>
            <a:r>
              <a:rPr lang="ar-DZ" rtl="1" sz="1200">
                <a:cs typeface="Cairo"/>
                <a:latin typeface="Cairo"/>
                <a:ea typeface="Cairo"/>
              </a:rPr>
              <a:t>الانتقال: نستعرض الآن المخطط النهائي للجداول والعلاقات كما أُنجز في قاعدة البيانات.</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DZ" rtl="1" sz="1200">
                <a:cs typeface="Cairo"/>
                <a:latin typeface="Cairo"/>
                <a:ea typeface="Cairo"/>
              </a:rPr>
              <a:t>ما أقوله: يعرض هذا المخطط الجداول التسعة الظاهرة في قاعدة البيانات النهائية: الكتب، المؤلفون، الأصناف، دور النشر، الإعارة، السنوات، الطلبة، العقوبات، وتسجيل الدخول. خطوط الربط تعرض علاقات الكتاب بالمؤلف والصنف والناشر، وعلاقة الإعارة بالكتاب والطالب، وارتباط الطالب بسنة الانخراط والعقوبة. حقول FK تبين المفاتيح الأجنبية. جدول الدخول مستقل في الشكل الأصلي. أسماء الجداول والحقول التقنية أُبقيت كما هي في المذكرة.</a:t>
            </a:r>
          </a:p>
          <a:p>
            <a:pPr algn="r" rtl="1"/>
            <a:r>
              <a:rPr lang="ar-DZ" rtl="1" sz="1200">
                <a:cs typeface="Cairo"/>
                <a:latin typeface="Cairo"/>
                <a:ea typeface="Cairo"/>
              </a:rPr>
              <a:t>النقطة التي أركز عليها: تحريك المؤشر على المسار الأساسي Book → Iara → Student، ثم على جداول القواميس والروابط؛ لا نعرض لقطة صغيرة للمخطط بل نبنيه من بطاقات قابلة للتعديل.</a:t>
            </a:r>
          </a:p>
          <a:p>
            <a:pPr algn="r" rtl="1"/>
            <a:r>
              <a:rPr lang="ar-DZ" rtl="1" sz="1200">
                <a:cs typeface="Cairo"/>
                <a:latin typeface="Cairo"/>
                <a:ea typeface="Cairo"/>
              </a:rPr>
              <a:t>الانتقال: بعد بنية البيانات نوضح كيف تتصل الواجهة بمحرك قاعدة البيانات وما أضيف من SQL.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DZ" rtl="1" sz="1200">
                <a:cs typeface="Cairo"/>
                <a:latin typeface="Cairo"/>
                <a:ea typeface="Cairo"/>
              </a:rPr>
              <a:t>ما أقوله: طبقة الاستخدام هي برنامج مكتبي بُني باستخدام Delphi 10.4 ضمن RAD Studio. وتتصل الواجهة بقاعدة My_Data التي تعمل على SQL Server 2017 Express. توثق المذكرة إنشاء جداول بأوامر SQL وإجراءات مخزنة لإضافة مؤلف أو تعديله أو حذفه، كما تذكر Trigger في SQL Server دون شرح وظيفته التفصيلية، لذلك لا ننسب إليه سلوكًا غير موثق.</a:t>
            </a:r>
          </a:p>
          <a:p>
            <a:pPr algn="r" rtl="1"/>
            <a:r>
              <a:rPr lang="ar-DZ" rtl="1" sz="1200">
                <a:cs typeface="Cairo"/>
                <a:latin typeface="Cairo"/>
                <a:ea typeface="Cairo"/>
              </a:rPr>
              <a:t>النقطة التي أركز عليها: ذكر التقنيات وأدوارها بدقة، والتنبيه إلى أن وظيفة الـ Trigger غير مفصلة في المصدر.</a:t>
            </a:r>
          </a:p>
          <a:p>
            <a:pPr algn="r" rtl="1"/>
            <a:r>
              <a:rPr lang="ar-DZ" rtl="1" sz="1200">
                <a:cs typeface="Cairo"/>
                <a:latin typeface="Cairo"/>
                <a:ea typeface="Cairo"/>
              </a:rPr>
              <a:t>الانتقال: معمارية النظام وحدها لا تكفي؛ ننتقل إلى ضوابط الوصول وحماية البيانات والنسخ الاحتياطي.</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DZ" rtl="1" sz="1200">
                <a:cs typeface="Cairo"/>
                <a:latin typeface="Cairo"/>
                <a:ea typeface="Cairo"/>
              </a:rPr>
              <a:t>ما أقوله: قسم الأمن يذكر كلمة المرور وقصر الاستعمال على المرخص لهم، والتحقق من نوع البيانات والمعرفات الفارغة أو المكررة والتواريخ، مع تنبيه آلي. كما يذكر مكافحة الفيروسات، حفظ المعلومات على أكثر من حامل، فحص الحوامل، الاستخدام السليم للعتاد، وتغذية كهربائية UPS. وفي الأرشفة، تستخدم المذكرة استعلام Delphi لنسخ My_Data إلى ملف My_Data.bak ثم استرجاعها وإعادة الاتصال.</a:t>
            </a:r>
          </a:p>
          <a:p>
            <a:pPr algn="r" rtl="1"/>
            <a:r>
              <a:rPr lang="ar-DZ" rtl="1" sz="1200">
                <a:cs typeface="Cairo"/>
                <a:latin typeface="Cairo"/>
                <a:ea typeface="Cairo"/>
              </a:rPr>
              <a:t>النقطة التي أركز عليها: الحماية هنا متعددة الطبقات: صلاحيات، تحقق من المدخلات، حماية مادية وبرمجية، ثم نسخة قابلة للاسترجاع. لا ندّعي تشفيرًا غير مذكور.</a:t>
            </a:r>
          </a:p>
          <a:p>
            <a:pPr algn="r" rtl="1"/>
            <a:r>
              <a:rPr lang="ar-DZ" rtl="1" sz="1200">
                <a:cs typeface="Cairo"/>
                <a:latin typeface="Cairo"/>
                <a:ea typeface="Cairo"/>
              </a:rPr>
              <a:t>الانتقال: بعد الضوابط التقنية، نرى دليل التنفيذ الفعلي في صور الواجهة الأصلية.</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DZ" rtl="1" sz="1200">
                <a:cs typeface="Cairo"/>
                <a:latin typeface="Cairo"/>
                <a:ea typeface="Cairo"/>
              </a:rPr>
              <a:t>ما أقوله: تعرض هذه الشريحة لقطتين أصليتين من صور البرنامج في المذكرة: الشاشة الرئيسية بخلفية رفوف الكتب والاختصارات، ونافذة تسجيل الدخول التي تحتوي اسم المستخدم وكلمة المرور وخيار عرض كلمة المرور. لم نعد تصميم محتوى الواجهة ولم نضع بيانات وهمية عليها؛ اكتفينا بإطار عرض احترافي وعناوين تشير إلى ما يظهر في الصورة.</a:t>
            </a:r>
          </a:p>
          <a:p>
            <a:pPr algn="r" rtl="1"/>
            <a:r>
              <a:rPr lang="ar-DZ" rtl="1" sz="1200">
                <a:cs typeface="Cairo"/>
                <a:latin typeface="Cairo"/>
                <a:ea typeface="Cairo"/>
              </a:rPr>
              <a:t>النقطة التي أركز عليها: تكبير لقطة الشاشة بدل وضعها في زاوية، مع التنبيه إلى أن الصور مقتبسة من المذكرة وليست واجهات جديدة.</a:t>
            </a:r>
          </a:p>
          <a:p>
            <a:pPr algn="r" rtl="1"/>
            <a:r>
              <a:rPr lang="ar-DZ" rtl="1" sz="1200">
                <a:cs typeface="Cairo"/>
                <a:latin typeface="Cairo"/>
                <a:ea typeface="Cairo"/>
              </a:rPr>
              <a:t>الانتقال: مخطط الواجهة التالي يوضح كيف تتفرع وظائف التطبيق بعد تسجيل الدخول.</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DZ" rtl="1" sz="1200">
                <a:cs typeface="Cairo"/>
                <a:latin typeface="Cairo"/>
                <a:ea typeface="Cairo"/>
              </a:rPr>
              <a:t>ما أقوله: بعد تسجيل الدخول يتفرع التطبيق إلى ستة أقسام: الإعدادات، المستخدمون، الإعارة والاسترجاع، إدارة الكتب، إدارة المنخرطين، وملف. تحت الإعدادات توجد الأرشفة والاسترجاع وتغيير الخلفية وكلمة المرور؛ وتحت إدارة الكتب الأصناف والمؤلفون ودور النشر؛ وتحت الإعارة الاسترجاع والعقوبة، إضافة إلى إدارة المستخدمين وسنة الانخراط وتسجيل الخروج. المخطط أعيد بناؤه مع الحفاظ على هذه الوظائف. وقد أضيف أسفل المخطط سيناريو الإعارة الوارد في إجراءات الفصل الأول: البحث عن الكتاب، تدوين الإعارة، ثم تسليم الكتاب مع بطاقة الطالب.</a:t>
            </a:r>
          </a:p>
          <a:p>
            <a:pPr algn="r" rtl="1"/>
            <a:r>
              <a:rPr lang="ar-DZ" rtl="1" sz="1200">
                <a:cs typeface="Cairo"/>
                <a:latin typeface="Cairo"/>
                <a:ea typeface="Cairo"/>
              </a:rPr>
              <a:t>النقطة التي أركز عليها: المخطط وظيفي وليس مخططًا لكل شاشة أو حالة استخدام؛ لا نضيف فروعًا غير موجودة في الأصل.</a:t>
            </a:r>
          </a:p>
          <a:p>
            <a:pPr algn="r" rtl="1"/>
            <a:r>
              <a:rPr lang="ar-DZ" rtl="1" sz="1200">
                <a:cs typeface="Cairo"/>
                <a:latin typeface="Cairo"/>
                <a:ea typeface="Cairo"/>
              </a:rPr>
              <a:t>الانتقال: نختم بعرض ما تم إنجازه وما يستهدفه النظام، مع التمييز بين المخرجات والأثر المتوقع.</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DZ" rtl="1" sz="1200">
                <a:cs typeface="Cairo"/>
                <a:latin typeface="Cairo"/>
                <a:ea typeface="Cairo"/>
              </a:rPr>
              <a:t>ما أقوله: حقق المشروع مخرجات يمكن التحقق منها في المذكرة: النماذج الثلاثة، قاعدة My_Data، التطبيق المكتبي المصور، إجراءات مخزنة وTrigger، ومسار الأرشفة والاسترجاع. أما تنظيم البيانات والدقة وتقليل الوقت والجهد وتخفيف العبء فهي آثار مستهدفة وردت في أهداف وخاتمة المذكرة، وليست نتائج مقاسة بأرقام أو اختبار قبل/بعد؛ لذلك نعرضها بوضوح كأثر مرجو.</a:t>
            </a:r>
          </a:p>
          <a:p>
            <a:pPr algn="r" rtl="1"/>
            <a:r>
              <a:rPr lang="ar-DZ" rtl="1" sz="1200">
                <a:cs typeface="Cairo"/>
                <a:latin typeface="Cairo"/>
                <a:ea typeface="Cairo"/>
              </a:rPr>
              <a:t>النقطة التي أركز عليها: التمييز بين الإنجاز الفعلي الموثق وبين الفوائد المرجوة؛ لا ننسب للمشروع نسب تحسين أو أعدادًا غير موجودة.</a:t>
            </a:r>
          </a:p>
          <a:p>
            <a:pPr algn="r" rtl="1"/>
            <a:r>
              <a:rPr lang="ar-DZ" rtl="1" sz="1200">
                <a:cs typeface="Cairo"/>
                <a:latin typeface="Cairo"/>
                <a:ea typeface="Cairo"/>
              </a:rPr>
              <a:t>الانتقال: نلخص القصة في جملة واحدة ثم نفتح المجال للأسئلة والمناقشة.</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DZ" rtl="1" sz="1200">
                <a:cs typeface="Cairo"/>
                <a:latin typeface="Cairo"/>
                <a:ea typeface="Cairo"/>
              </a:rPr>
              <a:t>ما أقوله: نخلص إلى أن المشروع اتبع مسارًا واضحًا: تحليل واقع المكتبة، بناء نماذج البيانات، تنفيذ قاعدة SQL Server وبرنامج Delphi، ثم تضمين الدخول والتحقق والأرشفة والاسترجاع. الهدف هو جعل المعلومة أكثر تنظيمًا وتسهيل التسيير، مع عدم الادعاء بأثر رقمي لم تقسه المذكرة. شكرًا لحسن الإصغاء، ونرحب بأسئلتكم وملاحظاتكم.</a:t>
            </a:r>
          </a:p>
          <a:p>
            <a:pPr algn="r" rtl="1"/>
            <a:r>
              <a:rPr lang="ar-DZ" rtl="1" sz="1200">
                <a:cs typeface="Cairo"/>
                <a:latin typeface="Cairo"/>
                <a:ea typeface="Cairo"/>
              </a:rPr>
              <a:t>النقطة التي أركز عليها: الخاتمة تجمع مسار العرض ولا تكرر تفاصيل المخططات؛ اترك مساحة للأسئلة.</a:t>
            </a:r>
          </a:p>
          <a:p>
            <a:pPr algn="r" rtl="1"/>
            <a:r>
              <a:rPr lang="ar-DZ" rtl="1" sz="1200">
                <a:cs typeface="Cairo"/>
                <a:latin typeface="Cairo"/>
                <a:ea typeface="Cairo"/>
              </a:rPr>
              <a:t>الانتقال: لا توجد شريحة تالية؛ افتح النقاش مع اللجنة.</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33D"/>
        </a:solidFill>
        <a:effectLst/>
      </p:bgPr>
    </p:bg>
    <p:spTree>
      <p:nvGrpSpPr>
        <p:cNvPr id="1" name=""/>
        <p:cNvGrpSpPr/>
        <p:nvPr/>
      </p:nvGrpSpPr>
      <p:grpSpPr/>
      <p:sp>
        <p:nvSpPr>
          <p:cNvPr id="2" name="Rectangle 1"/>
          <p:cNvSpPr/>
          <p:nvPr/>
        </p:nvSpPr>
        <p:spPr>
          <a:xfrm>
            <a:off x="182880" y="502920"/>
            <a:ext cx="411480" cy="5760720"/>
          </a:xfrm>
          <a:prstGeom prst="rect">
            <a:avLst/>
          </a:prstGeom>
          <a:solidFill>
            <a:srgbClr val="18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 y="502920"/>
            <a:ext cx="320040" cy="5760720"/>
          </a:xfrm>
          <a:prstGeom prst="rect">
            <a:avLst/>
          </a:prstGeom>
          <a:solidFill>
            <a:srgbClr val="142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3000" y="502920"/>
            <a:ext cx="502920" cy="5760720"/>
          </a:xfrm>
          <a:prstGeom prst="rect">
            <a:avLst/>
          </a:prstGeom>
          <a:solidFill>
            <a:srgbClr val="173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783080" y="502920"/>
            <a:ext cx="274320" cy="5760720"/>
          </a:xfrm>
          <a:prstGeom prst="rect">
            <a:avLst/>
          </a:prstGeom>
          <a:solidFill>
            <a:srgbClr val="142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320040" y="1755648"/>
            <a:ext cx="1691640" cy="0"/>
          </a:xfrm>
          <a:prstGeom prst="line">
            <a:avLst/>
          </a:prstGeom>
          <a:ln w="13970">
            <a:solidFill>
              <a:srgbClr val="294869"/>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393192" y="1207007"/>
            <a:ext cx="283464" cy="530352"/>
          </a:xfrm>
          <a:prstGeom prst="rect">
            <a:avLst/>
          </a:prstGeom>
          <a:solidFill>
            <a:srgbClr val="316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20623" y="1298448"/>
            <a:ext cx="228600" cy="22860"/>
          </a:xfrm>
          <a:prstGeom prst="rect">
            <a:avLst/>
          </a:prstGeom>
          <a:solidFill>
            <a:srgbClr val="9CB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9808" y="1060704"/>
            <a:ext cx="210312" cy="676656"/>
          </a:xfrm>
          <a:prstGeom prst="rect">
            <a:avLst/>
          </a:prstGeom>
          <a:solidFill>
            <a:srgbClr val="18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152144"/>
            <a:ext cx="155448" cy="22860"/>
          </a:xfrm>
          <a:prstGeom prst="rect">
            <a:avLst/>
          </a:prstGeom>
          <a:solidFill>
            <a:srgbClr val="9CB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33272" y="1298448"/>
            <a:ext cx="283464" cy="438912"/>
          </a:xfrm>
          <a:prstGeom prst="rect">
            <a:avLst/>
          </a:prstGeom>
          <a:solidFill>
            <a:srgbClr val="2446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60704" y="1389888"/>
            <a:ext cx="228600" cy="22860"/>
          </a:xfrm>
          <a:prstGeom prst="rect">
            <a:avLst/>
          </a:prstGeom>
          <a:solidFill>
            <a:srgbClr val="9CB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389888" y="1124712"/>
            <a:ext cx="210312" cy="612648"/>
          </a:xfrm>
          <a:prstGeom prst="rect">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417320" y="1216152"/>
            <a:ext cx="155448" cy="22860"/>
          </a:xfrm>
          <a:prstGeom prst="rect">
            <a:avLst/>
          </a:prstGeom>
          <a:solidFill>
            <a:srgbClr val="9CB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673352" y="1225295"/>
            <a:ext cx="283464" cy="512064"/>
          </a:xfrm>
          <a:prstGeom prst="rect">
            <a:avLst/>
          </a:prstGeom>
          <a:solidFill>
            <a:srgbClr val="345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700784" y="1316736"/>
            <a:ext cx="228600" cy="22860"/>
          </a:xfrm>
          <a:prstGeom prst="rect">
            <a:avLst/>
          </a:prstGeom>
          <a:solidFill>
            <a:srgbClr val="9CB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320040" y="2990088"/>
            <a:ext cx="1691640" cy="0"/>
          </a:xfrm>
          <a:prstGeom prst="line">
            <a:avLst/>
          </a:prstGeom>
          <a:ln w="13970">
            <a:solidFill>
              <a:srgbClr val="294869"/>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393192" y="2441448"/>
            <a:ext cx="283464" cy="530352"/>
          </a:xfrm>
          <a:prstGeom prst="rect">
            <a:avLst/>
          </a:prstGeom>
          <a:solidFill>
            <a:srgbClr val="316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0623" y="2532888"/>
            <a:ext cx="228600" cy="22860"/>
          </a:xfrm>
          <a:prstGeom prst="rect">
            <a:avLst/>
          </a:prstGeom>
          <a:solidFill>
            <a:srgbClr val="9CB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9808" y="2295144"/>
            <a:ext cx="210312" cy="676656"/>
          </a:xfrm>
          <a:prstGeom prst="rect">
            <a:avLst/>
          </a:prstGeom>
          <a:solidFill>
            <a:srgbClr val="18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2386584"/>
            <a:ext cx="155448" cy="22860"/>
          </a:xfrm>
          <a:prstGeom prst="rect">
            <a:avLst/>
          </a:prstGeom>
          <a:solidFill>
            <a:srgbClr val="9CB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33272" y="2532888"/>
            <a:ext cx="283464" cy="438912"/>
          </a:xfrm>
          <a:prstGeom prst="rect">
            <a:avLst/>
          </a:prstGeom>
          <a:solidFill>
            <a:srgbClr val="2446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60704" y="2624328"/>
            <a:ext cx="228600" cy="22860"/>
          </a:xfrm>
          <a:prstGeom prst="rect">
            <a:avLst/>
          </a:prstGeom>
          <a:solidFill>
            <a:srgbClr val="9CB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389888" y="2359152"/>
            <a:ext cx="210312" cy="612648"/>
          </a:xfrm>
          <a:prstGeom prst="rect">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417320" y="2450592"/>
            <a:ext cx="155448" cy="22860"/>
          </a:xfrm>
          <a:prstGeom prst="rect">
            <a:avLst/>
          </a:prstGeom>
          <a:solidFill>
            <a:srgbClr val="9CB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673352" y="2459736"/>
            <a:ext cx="283464" cy="512064"/>
          </a:xfrm>
          <a:prstGeom prst="rect">
            <a:avLst/>
          </a:prstGeom>
          <a:solidFill>
            <a:srgbClr val="345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700784" y="2551176"/>
            <a:ext cx="228600" cy="22860"/>
          </a:xfrm>
          <a:prstGeom prst="rect">
            <a:avLst/>
          </a:prstGeom>
          <a:solidFill>
            <a:srgbClr val="9CB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a:off x="320040" y="4224528"/>
            <a:ext cx="1691640" cy="0"/>
          </a:xfrm>
          <a:prstGeom prst="line">
            <a:avLst/>
          </a:prstGeom>
          <a:ln w="13970">
            <a:solidFill>
              <a:srgbClr val="294869"/>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393192" y="3675888"/>
            <a:ext cx="283464" cy="530352"/>
          </a:xfrm>
          <a:prstGeom prst="rect">
            <a:avLst/>
          </a:prstGeom>
          <a:solidFill>
            <a:srgbClr val="316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20623" y="3767328"/>
            <a:ext cx="228600" cy="22860"/>
          </a:xfrm>
          <a:prstGeom prst="rect">
            <a:avLst/>
          </a:prstGeom>
          <a:solidFill>
            <a:srgbClr val="9CB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49808" y="3529584"/>
            <a:ext cx="210312" cy="676656"/>
          </a:xfrm>
          <a:prstGeom prst="rect">
            <a:avLst/>
          </a:prstGeom>
          <a:solidFill>
            <a:srgbClr val="18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3621024"/>
            <a:ext cx="155448" cy="22860"/>
          </a:xfrm>
          <a:prstGeom prst="rect">
            <a:avLst/>
          </a:prstGeom>
          <a:solidFill>
            <a:srgbClr val="9CB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33272" y="3767328"/>
            <a:ext cx="283464" cy="438912"/>
          </a:xfrm>
          <a:prstGeom prst="rect">
            <a:avLst/>
          </a:prstGeom>
          <a:solidFill>
            <a:srgbClr val="2446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060704" y="3858768"/>
            <a:ext cx="228600" cy="22860"/>
          </a:xfrm>
          <a:prstGeom prst="rect">
            <a:avLst/>
          </a:prstGeom>
          <a:solidFill>
            <a:srgbClr val="9CB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389888" y="3593592"/>
            <a:ext cx="210312" cy="612648"/>
          </a:xfrm>
          <a:prstGeom prst="rect">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417320" y="3685032"/>
            <a:ext cx="155448" cy="22860"/>
          </a:xfrm>
          <a:prstGeom prst="rect">
            <a:avLst/>
          </a:prstGeom>
          <a:solidFill>
            <a:srgbClr val="9CB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673352" y="3694176"/>
            <a:ext cx="283464" cy="512064"/>
          </a:xfrm>
          <a:prstGeom prst="rect">
            <a:avLst/>
          </a:prstGeom>
          <a:solidFill>
            <a:srgbClr val="345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700784" y="3785616"/>
            <a:ext cx="228600" cy="22860"/>
          </a:xfrm>
          <a:prstGeom prst="rect">
            <a:avLst/>
          </a:prstGeom>
          <a:solidFill>
            <a:srgbClr val="9CB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a:off x="320040" y="5458968"/>
            <a:ext cx="1691640" cy="0"/>
          </a:xfrm>
          <a:prstGeom prst="line">
            <a:avLst/>
          </a:prstGeom>
          <a:ln w="13970">
            <a:solidFill>
              <a:srgbClr val="294869"/>
            </a:solidFill>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393192" y="4910328"/>
            <a:ext cx="283464" cy="530352"/>
          </a:xfrm>
          <a:prstGeom prst="rect">
            <a:avLst/>
          </a:prstGeom>
          <a:solidFill>
            <a:srgbClr val="316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20623" y="5001768"/>
            <a:ext cx="228600" cy="22860"/>
          </a:xfrm>
          <a:prstGeom prst="rect">
            <a:avLst/>
          </a:prstGeom>
          <a:solidFill>
            <a:srgbClr val="9CB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49808" y="4764024"/>
            <a:ext cx="210312" cy="676656"/>
          </a:xfrm>
          <a:prstGeom prst="rect">
            <a:avLst/>
          </a:prstGeom>
          <a:solidFill>
            <a:srgbClr val="18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77240" y="4855464"/>
            <a:ext cx="155448" cy="22860"/>
          </a:xfrm>
          <a:prstGeom prst="rect">
            <a:avLst/>
          </a:prstGeom>
          <a:solidFill>
            <a:srgbClr val="9CB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33272" y="5001768"/>
            <a:ext cx="283464" cy="438912"/>
          </a:xfrm>
          <a:prstGeom prst="rect">
            <a:avLst/>
          </a:prstGeom>
          <a:solidFill>
            <a:srgbClr val="2446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60704" y="5093208"/>
            <a:ext cx="228600" cy="22860"/>
          </a:xfrm>
          <a:prstGeom prst="rect">
            <a:avLst/>
          </a:prstGeom>
          <a:solidFill>
            <a:srgbClr val="9CB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389888" y="4828032"/>
            <a:ext cx="210312" cy="612648"/>
          </a:xfrm>
          <a:prstGeom prst="rect">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417320" y="4919472"/>
            <a:ext cx="155448" cy="22860"/>
          </a:xfrm>
          <a:prstGeom prst="rect">
            <a:avLst/>
          </a:prstGeom>
          <a:solidFill>
            <a:srgbClr val="9CB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673352" y="4928616"/>
            <a:ext cx="283464" cy="512064"/>
          </a:xfrm>
          <a:prstGeom prst="rect">
            <a:avLst/>
          </a:prstGeom>
          <a:solidFill>
            <a:srgbClr val="345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700784" y="5020056"/>
            <a:ext cx="228600" cy="22860"/>
          </a:xfrm>
          <a:prstGeom prst="rect">
            <a:avLst/>
          </a:prstGeom>
          <a:solidFill>
            <a:srgbClr val="9CB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an 49"/>
          <p:cNvSpPr/>
          <p:nvPr/>
        </p:nvSpPr>
        <p:spPr>
          <a:xfrm>
            <a:off x="1078992" y="5413248"/>
            <a:ext cx="713232" cy="658368"/>
          </a:xfrm>
          <a:prstGeom prst="can">
            <a:avLst/>
          </a:prstGeom>
          <a:solidFill>
            <a:srgbClr val="234B79"/>
          </a:solidFill>
          <a:ln w="12700">
            <a:solidFill>
              <a:srgbClr val="5E7E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Connector 50"/>
          <p:cNvCxnSpPr/>
          <p:nvPr/>
        </p:nvCxnSpPr>
        <p:spPr>
          <a:xfrm>
            <a:off x="1106424" y="5596128"/>
            <a:ext cx="658368" cy="0"/>
          </a:xfrm>
          <a:prstGeom prst="line">
            <a:avLst/>
          </a:prstGeom>
          <a:ln w="10160">
            <a:solidFill>
              <a:srgbClr val="8BA7C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106424" y="5797296"/>
            <a:ext cx="658368" cy="0"/>
          </a:xfrm>
          <a:prstGeom prst="line">
            <a:avLst/>
          </a:prstGeom>
          <a:ln w="10160">
            <a:solidFill>
              <a:srgbClr val="8BA7C8"/>
            </a:solidFill>
          </a:ln>
        </p:spPr>
        <p:style>
          <a:lnRef idx="2">
            <a:schemeClr val="accent1"/>
          </a:lnRef>
          <a:fillRef idx="0">
            <a:schemeClr val="accent1"/>
          </a:fillRef>
          <a:effectRef idx="1">
            <a:schemeClr val="accent1"/>
          </a:effectRef>
          <a:fontRef idx="minor">
            <a:schemeClr val="tx1"/>
          </a:fontRef>
        </p:style>
      </p:cxnSp>
      <p:sp>
        <p:nvSpPr>
          <p:cNvPr id="53" name="Oval 52"/>
          <p:cNvSpPr/>
          <p:nvPr/>
        </p:nvSpPr>
        <p:spPr>
          <a:xfrm>
            <a:off x="2450592" y="914400"/>
            <a:ext cx="73152" cy="73152"/>
          </a:xfrm>
          <a:prstGeom prst="ellipse">
            <a:avLst/>
          </a:prstGeom>
          <a:solidFill>
            <a:srgbClr val="3158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2971800" y="1417320"/>
            <a:ext cx="73152" cy="73152"/>
          </a:xfrm>
          <a:prstGeom prst="ellipse">
            <a:avLst/>
          </a:prstGeom>
          <a:solidFill>
            <a:srgbClr val="3158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2359152" y="2057400"/>
            <a:ext cx="73152" cy="73152"/>
          </a:xfrm>
          <a:prstGeom prst="ellipse">
            <a:avLst/>
          </a:prstGeom>
          <a:solidFill>
            <a:srgbClr val="3158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2999232" y="2743200"/>
            <a:ext cx="73152" cy="73152"/>
          </a:xfrm>
          <a:prstGeom prst="ellipse">
            <a:avLst/>
          </a:prstGeom>
          <a:solidFill>
            <a:srgbClr val="3158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2523744" y="3657600"/>
            <a:ext cx="73152" cy="73152"/>
          </a:xfrm>
          <a:prstGeom prst="ellipse">
            <a:avLst/>
          </a:prstGeom>
          <a:solidFill>
            <a:srgbClr val="3158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2926080" y="4572000"/>
            <a:ext cx="73152" cy="73152"/>
          </a:xfrm>
          <a:prstGeom prst="ellipse">
            <a:avLst/>
          </a:prstGeom>
          <a:solidFill>
            <a:srgbClr val="3158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2404872" y="5669280"/>
            <a:ext cx="73152" cy="73152"/>
          </a:xfrm>
          <a:prstGeom prst="ellipse">
            <a:avLst/>
          </a:prstGeom>
          <a:solidFill>
            <a:srgbClr val="3158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0" name="Connector 59"/>
          <p:cNvCxnSpPr/>
          <p:nvPr/>
        </p:nvCxnSpPr>
        <p:spPr>
          <a:xfrm>
            <a:off x="2487168" y="950976"/>
            <a:ext cx="521208" cy="502920"/>
          </a:xfrm>
          <a:prstGeom prst="line">
            <a:avLst/>
          </a:prstGeom>
          <a:ln w="10160">
            <a:solidFill>
              <a:srgbClr val="28496E"/>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2395728" y="2093976"/>
            <a:ext cx="603504" cy="685800"/>
          </a:xfrm>
          <a:prstGeom prst="line">
            <a:avLst/>
          </a:prstGeom>
          <a:ln w="10160">
            <a:solidFill>
              <a:srgbClr val="28496E"/>
            </a:solidFill>
          </a:ln>
        </p:spPr>
        <p:style>
          <a:lnRef idx="2">
            <a:schemeClr val="accent1"/>
          </a:lnRef>
          <a:fillRef idx="0">
            <a:schemeClr val="accent1"/>
          </a:fillRef>
          <a:effectRef idx="1">
            <a:schemeClr val="accent1"/>
          </a:effectRef>
          <a:fontRef idx="minor">
            <a:schemeClr val="tx1"/>
          </a:fontRef>
        </p:style>
      </p:cxnSp>
      <p:sp>
        <p:nvSpPr>
          <p:cNvPr id="62" name="Rounded Rectangle 61"/>
          <p:cNvSpPr/>
          <p:nvPr/>
        </p:nvSpPr>
        <p:spPr>
          <a:xfrm>
            <a:off x="7973568" y="438912"/>
            <a:ext cx="3611880" cy="365760"/>
          </a:xfrm>
          <a:prstGeom prst="roundRect">
            <a:avLst/>
          </a:prstGeom>
          <a:solidFill>
            <a:srgbClr val="1C3C63"/>
          </a:solidFill>
          <a:ln w="8890">
            <a:solidFill>
              <a:srgbClr val="1C3C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014716" y="443484"/>
            <a:ext cx="3529584" cy="356616"/>
          </a:xfrm>
          <a:prstGeom prst="rect">
            <a:avLst/>
          </a:prstGeom>
          <a:noFill/>
        </p:spPr>
        <p:txBody>
          <a:bodyPr wrap="square" lIns="9144" rIns="9144" tIns="9144" bIns="9144" anchor="ctr">
            <a:spAutoFit/>
          </a:bodyPr>
          <a:lstStyle/>
          <a:p>
            <a:pPr algn="ctr" rtl="1">
              <a:lnSpc>
                <a:spcPct val="100000"/>
              </a:lnSpc>
              <a:spcAft>
                <a:spcPts val="0"/>
              </a:spcAft>
            </a:pPr>
            <a:r>
              <a:rPr sz="1100" b="1" i="0" lang="ar-DZ" rtl="1">
                <a:solidFill>
                  <a:srgbClr val="E7EEF8"/>
                </a:solidFill>
                <a:latin typeface="Cairo"/>
                <a:cs typeface="Cairo"/>
                <a:ea typeface="Cairo"/>
              </a:rPr>
              <a:t>مناقشة مذكرة تخرج · مارس 2026</a:t>
            </a:r>
          </a:p>
        </p:txBody>
      </p:sp>
      <p:sp>
        <p:nvSpPr>
          <p:cNvPr id="64" name="TextBox 63"/>
          <p:cNvSpPr txBox="1"/>
          <p:nvPr/>
        </p:nvSpPr>
        <p:spPr>
          <a:xfrm>
            <a:off x="3703320" y="850392"/>
            <a:ext cx="7818120" cy="658368"/>
          </a:xfrm>
          <a:prstGeom prst="rect">
            <a:avLst/>
          </a:prstGeom>
          <a:noFill/>
        </p:spPr>
        <p:txBody>
          <a:bodyPr wrap="square" lIns="18288" rIns="18288" tIns="18288" bIns="18288" anchor="ctr">
            <a:spAutoFit/>
          </a:bodyPr>
          <a:lstStyle/>
          <a:p>
            <a:pPr algn="r" rtl="1">
              <a:lnSpc>
                <a:spcPct val="100000"/>
              </a:lnSpc>
              <a:spcAft>
                <a:spcPts val="0"/>
              </a:spcAft>
            </a:pPr>
            <a:r>
              <a:rPr sz="1600" b="1" i="0" lang="ar-DZ" rtl="1">
                <a:solidFill>
                  <a:srgbClr val="D6E1EF"/>
                </a:solidFill>
                <a:latin typeface="Cairo"/>
                <a:cs typeface="Cairo"/>
                <a:ea typeface="Cairo"/>
              </a:rPr>
              <a:t>المعهد الوطني المتخصص في التكوين والتعليم المهني</a:t>
            </a:r>
            <a:br/>
            <a:r>
              <a:rPr sz="1600" b="1" i="0" lang="ar-DZ" rtl="1">
                <a:solidFill>
                  <a:srgbClr val="D6E1EF"/>
                </a:solidFill>
                <a:latin typeface="Cairo"/>
                <a:cs typeface="Cairo"/>
                <a:ea typeface="Cairo"/>
              </a:rPr>
              <a:t>الشهيد عمامرة بشير</a:t>
            </a:r>
          </a:p>
        </p:txBody>
      </p:sp>
      <p:sp>
        <p:nvSpPr>
          <p:cNvPr id="65" name="Rectangle 64"/>
          <p:cNvSpPr/>
          <p:nvPr/>
        </p:nvSpPr>
        <p:spPr>
          <a:xfrm>
            <a:off x="10954512" y="1828800"/>
            <a:ext cx="64008" cy="1316736"/>
          </a:xfrm>
          <a:prstGeom prst="rect">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703320" y="1691640"/>
            <a:ext cx="7040880" cy="1325880"/>
          </a:xfrm>
          <a:prstGeom prst="rect">
            <a:avLst/>
          </a:prstGeom>
          <a:noFill/>
        </p:spPr>
        <p:txBody>
          <a:bodyPr wrap="square" lIns="18288" rIns="18288" tIns="18288" bIns="18288" anchor="ctr">
            <a:spAutoFit/>
          </a:bodyPr>
          <a:lstStyle/>
          <a:p>
            <a:pPr algn="r" rtl="1">
              <a:lnSpc>
                <a:spcPct val="105000"/>
              </a:lnSpc>
              <a:spcAft>
                <a:spcPts val="0"/>
              </a:spcAft>
            </a:pPr>
            <a:r>
              <a:rPr sz="2800" b="1" i="0" lang="ar-DZ" rtl="1">
                <a:solidFill>
                  <a:srgbClr val="FFFFFF"/>
                </a:solidFill>
                <a:latin typeface="Cairo"/>
                <a:cs typeface="Cairo"/>
                <a:ea typeface="Cairo"/>
              </a:rPr>
              <a:t>تصميم وإنجاز نظام معلوماتي</a:t>
            </a:r>
            <a:br/>
            <a:r>
              <a:rPr sz="2800" b="1" i="0" lang="ar-DZ" rtl="1">
                <a:solidFill>
                  <a:srgbClr val="FFFFFF"/>
                </a:solidFill>
                <a:latin typeface="Cairo"/>
                <a:cs typeface="Cairo"/>
                <a:ea typeface="Cairo"/>
              </a:rPr>
              <a:t>لتسيير مكتبة كلية العلوم الاجتماعية والإنسانية</a:t>
            </a:r>
          </a:p>
        </p:txBody>
      </p:sp>
      <p:sp>
        <p:nvSpPr>
          <p:cNvPr id="67" name="TextBox 66"/>
          <p:cNvSpPr txBox="1"/>
          <p:nvPr/>
        </p:nvSpPr>
        <p:spPr>
          <a:xfrm>
            <a:off x="3703320" y="3072384"/>
            <a:ext cx="7040880" cy="411480"/>
          </a:xfrm>
          <a:prstGeom prst="rect">
            <a:avLst/>
          </a:prstGeom>
          <a:noFill/>
        </p:spPr>
        <p:txBody>
          <a:bodyPr wrap="square" lIns="18288" rIns="18288" tIns="18288" bIns="18288" anchor="ctr">
            <a:spAutoFit/>
          </a:bodyPr>
          <a:lstStyle/>
          <a:p>
            <a:pPr algn="r" rtl="1">
              <a:lnSpc>
                <a:spcPct val="100000"/>
              </a:lnSpc>
              <a:spcAft>
                <a:spcPts val="0"/>
              </a:spcAft>
            </a:pPr>
            <a:r>
              <a:rPr sz="1800" b="1" i="0" lang="ar-DZ" rtl="1">
                <a:solidFill>
                  <a:srgbClr val="C7D6E8"/>
                </a:solidFill>
                <a:latin typeface="Cairo"/>
                <a:cs typeface="Cairo"/>
                <a:ea typeface="Cairo"/>
              </a:rPr>
              <a:t>بجامعة الشهيد حمه لخضر بالوادي</a:t>
            </a:r>
          </a:p>
        </p:txBody>
      </p:sp>
      <p:sp>
        <p:nvSpPr>
          <p:cNvPr id="68" name="Rounded Rectangle 67"/>
          <p:cNvSpPr/>
          <p:nvPr/>
        </p:nvSpPr>
        <p:spPr>
          <a:xfrm>
            <a:off x="5486400" y="3639312"/>
            <a:ext cx="6080760" cy="384048"/>
          </a:xfrm>
          <a:prstGeom prst="roundRect">
            <a:avLst/>
          </a:prstGeom>
          <a:solidFill>
            <a:srgbClr val="244A78"/>
          </a:solidFill>
          <a:ln w="8890">
            <a:solidFill>
              <a:srgbClr val="24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527548" y="3643884"/>
            <a:ext cx="5998464" cy="374904"/>
          </a:xfrm>
          <a:prstGeom prst="rect">
            <a:avLst/>
          </a:prstGeom>
          <a:noFill/>
        </p:spPr>
        <p:txBody>
          <a:bodyPr wrap="square" lIns="9144" rIns="9144" tIns="9144" bIns="9144" anchor="ctr">
            <a:spAutoFit/>
          </a:bodyPr>
          <a:lstStyle/>
          <a:p>
            <a:pPr algn="ctr" rtl="1">
              <a:lnSpc>
                <a:spcPct val="100000"/>
              </a:lnSpc>
              <a:spcAft>
                <a:spcPts val="0"/>
              </a:spcAft>
            </a:pPr>
            <a:r>
              <a:rPr sz="1300" b="1" i="0" lang="ar-DZ" rtl="1">
                <a:solidFill>
                  <a:srgbClr val="FFFFFF"/>
                </a:solidFill>
                <a:latin typeface="Cairo"/>
                <a:cs typeface="Cairo"/>
                <a:ea typeface="Cairo"/>
              </a:rPr>
              <a:t>تقني سامي  ·  إعلام آلي  ·  خيار قاعدة معطيات</a:t>
            </a:r>
          </a:p>
        </p:txBody>
      </p:sp>
      <p:sp>
        <p:nvSpPr>
          <p:cNvPr id="70" name="Rounded Rectangle 69"/>
          <p:cNvSpPr/>
          <p:nvPr/>
        </p:nvSpPr>
        <p:spPr>
          <a:xfrm>
            <a:off x="3703320" y="4325112"/>
            <a:ext cx="7863840" cy="1325880"/>
          </a:xfrm>
          <a:prstGeom prst="roundRect">
            <a:avLst/>
          </a:prstGeom>
          <a:solidFill>
            <a:srgbClr val="173252"/>
          </a:solidFill>
          <a:ln w="10160">
            <a:solidFill>
              <a:srgbClr val="3156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613648" y="4443984"/>
            <a:ext cx="2697480" cy="246888"/>
          </a:xfrm>
          <a:prstGeom prst="rect">
            <a:avLst/>
          </a:prstGeom>
          <a:noFill/>
        </p:spPr>
        <p:txBody>
          <a:bodyPr wrap="square" lIns="18288" rIns="18288" tIns="18288" bIns="18288" anchor="ctr">
            <a:spAutoFit/>
          </a:bodyPr>
          <a:lstStyle/>
          <a:p>
            <a:pPr algn="r" rtl="1">
              <a:lnSpc>
                <a:spcPct val="100000"/>
              </a:lnSpc>
              <a:spcAft>
                <a:spcPts val="0"/>
              </a:spcAft>
            </a:pPr>
            <a:r>
              <a:rPr sz="1200" b="1" i="0" lang="ar-DZ" rtl="1">
                <a:solidFill>
                  <a:srgbClr val="DCA74C"/>
                </a:solidFill>
                <a:latin typeface="Cairo"/>
                <a:cs typeface="Cairo"/>
                <a:ea typeface="Cairo"/>
              </a:rPr>
              <a:t>إعداد المتربصات</a:t>
            </a:r>
          </a:p>
        </p:txBody>
      </p:sp>
      <p:sp>
        <p:nvSpPr>
          <p:cNvPr id="72" name="TextBox 71"/>
          <p:cNvSpPr txBox="1"/>
          <p:nvPr/>
        </p:nvSpPr>
        <p:spPr>
          <a:xfrm>
            <a:off x="5961888" y="4681728"/>
            <a:ext cx="5349240" cy="347472"/>
          </a:xfrm>
          <a:prstGeom prst="rect">
            <a:avLst/>
          </a:prstGeom>
          <a:noFill/>
        </p:spPr>
        <p:txBody>
          <a:bodyPr wrap="square" lIns="18288" rIns="18288" tIns="18288" bIns="18288" anchor="ctr">
            <a:spAutoFit/>
          </a:bodyPr>
          <a:lstStyle/>
          <a:p>
            <a:pPr algn="r" rtl="1">
              <a:lnSpc>
                <a:spcPct val="100000"/>
              </a:lnSpc>
              <a:spcAft>
                <a:spcPts val="0"/>
              </a:spcAft>
            </a:pPr>
            <a:r>
              <a:rPr sz="1600" b="1" i="0" lang="ar-DZ" rtl="1">
                <a:solidFill>
                  <a:srgbClr val="FFFFFF"/>
                </a:solidFill>
                <a:latin typeface="Cairo"/>
                <a:cs typeface="Cairo"/>
                <a:ea typeface="Cairo"/>
              </a:rPr>
              <a:t>حمي فطيمة  ·  حماني عائشة  ·  بلابل فرح</a:t>
            </a:r>
          </a:p>
        </p:txBody>
      </p:sp>
      <p:cxnSp>
        <p:nvCxnSpPr>
          <p:cNvPr id="73" name="Connector 72"/>
          <p:cNvCxnSpPr/>
          <p:nvPr/>
        </p:nvCxnSpPr>
        <p:spPr>
          <a:xfrm>
            <a:off x="5715000" y="4572000"/>
            <a:ext cx="0" cy="859536"/>
          </a:xfrm>
          <a:prstGeom prst="line">
            <a:avLst/>
          </a:prstGeom>
          <a:ln w="12700">
            <a:solidFill>
              <a:srgbClr val="31567D"/>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3977639" y="4443984"/>
            <a:ext cx="1508760" cy="246888"/>
          </a:xfrm>
          <a:prstGeom prst="rect">
            <a:avLst/>
          </a:prstGeom>
          <a:noFill/>
        </p:spPr>
        <p:txBody>
          <a:bodyPr wrap="square" lIns="18288" rIns="18288" tIns="18288" bIns="18288" anchor="ctr">
            <a:spAutoFit/>
          </a:bodyPr>
          <a:lstStyle/>
          <a:p>
            <a:pPr algn="r" rtl="1">
              <a:lnSpc>
                <a:spcPct val="100000"/>
              </a:lnSpc>
              <a:spcAft>
                <a:spcPts val="0"/>
              </a:spcAft>
            </a:pPr>
            <a:r>
              <a:rPr sz="1200" b="1" i="0" lang="ar-DZ" rtl="1">
                <a:solidFill>
                  <a:srgbClr val="DCA74C"/>
                </a:solidFill>
                <a:latin typeface="Cairo"/>
                <a:cs typeface="Cairo"/>
                <a:ea typeface="Cairo"/>
              </a:rPr>
              <a:t>إشراف المؤطرة</a:t>
            </a:r>
          </a:p>
        </p:txBody>
      </p:sp>
      <p:sp>
        <p:nvSpPr>
          <p:cNvPr id="75" name="TextBox 74"/>
          <p:cNvSpPr txBox="1"/>
          <p:nvPr/>
        </p:nvSpPr>
        <p:spPr>
          <a:xfrm>
            <a:off x="3977639" y="4736592"/>
            <a:ext cx="1508760" cy="310896"/>
          </a:xfrm>
          <a:prstGeom prst="rect">
            <a:avLst/>
          </a:prstGeom>
          <a:noFill/>
        </p:spPr>
        <p:txBody>
          <a:bodyPr wrap="square" lIns="18288" rIns="18288" tIns="18288" bIns="18288" anchor="ctr">
            <a:spAutoFit/>
          </a:bodyPr>
          <a:lstStyle/>
          <a:p>
            <a:pPr algn="r" rtl="1">
              <a:lnSpc>
                <a:spcPct val="100000"/>
              </a:lnSpc>
              <a:spcAft>
                <a:spcPts val="0"/>
              </a:spcAft>
            </a:pPr>
            <a:r>
              <a:rPr sz="1500" b="1" i="0" lang="ar-DZ" rtl="1">
                <a:solidFill>
                  <a:srgbClr val="FFFFFF"/>
                </a:solidFill>
                <a:latin typeface="Cairo"/>
                <a:cs typeface="Cairo"/>
                <a:ea typeface="Cairo"/>
              </a:rPr>
              <a:t>صبرينة قرزي</a:t>
            </a:r>
          </a:p>
        </p:txBody>
      </p:sp>
      <p:sp>
        <p:nvSpPr>
          <p:cNvPr id="76" name="TextBox 75"/>
          <p:cNvSpPr txBox="1"/>
          <p:nvPr/>
        </p:nvSpPr>
        <p:spPr>
          <a:xfrm>
            <a:off x="8732520" y="5980176"/>
            <a:ext cx="2788920" cy="310896"/>
          </a:xfrm>
          <a:prstGeom prst="rect">
            <a:avLst/>
          </a:prstGeom>
          <a:noFill/>
        </p:spPr>
        <p:txBody>
          <a:bodyPr wrap="square" lIns="18288" rIns="18288" tIns="18288" bIns="18288" anchor="ctr">
            <a:spAutoFit/>
          </a:bodyPr>
          <a:lstStyle/>
          <a:p>
            <a:pPr algn="r" rtl="1">
              <a:lnSpc>
                <a:spcPct val="100000"/>
              </a:lnSpc>
              <a:spcAft>
                <a:spcPts val="0"/>
              </a:spcAft>
            </a:pPr>
            <a:r>
              <a:rPr sz="1400" b="1" i="0" lang="ar-DZ" rtl="1">
                <a:solidFill>
                  <a:srgbClr val="D6E1EF"/>
                </a:solidFill>
                <a:latin typeface="Cairo"/>
                <a:cs typeface="Cairo"/>
                <a:ea typeface="Cairo"/>
              </a:rPr>
              <a:t>دفعة مارس 2026</a:t>
            </a:r>
          </a:p>
        </p:txBody>
      </p:sp>
      <p:sp>
        <p:nvSpPr>
          <p:cNvPr id="77" name="TextBox 76"/>
          <p:cNvSpPr txBox="1"/>
          <p:nvPr/>
        </p:nvSpPr>
        <p:spPr>
          <a:xfrm>
            <a:off x="438912" y="6245352"/>
            <a:ext cx="4023360" cy="256032"/>
          </a:xfrm>
          <a:prstGeom prst="rect">
            <a:avLst/>
          </a:prstGeom>
          <a:noFill/>
        </p:spPr>
        <p:txBody>
          <a:bodyPr wrap="square" lIns="18288" rIns="18288" tIns="18288" bIns="18288" anchor="ctr">
            <a:spAutoFit/>
          </a:bodyPr>
          <a:lstStyle/>
          <a:p>
            <a:pPr algn="l" rtl="0">
              <a:lnSpc>
                <a:spcPct val="100000"/>
              </a:lnSpc>
              <a:spcAft>
                <a:spcPts val="0"/>
              </a:spcAft>
            </a:pPr>
            <a:r>
              <a:rPr sz="950" b="0" i="0" lang="en-US">
                <a:solidFill>
                  <a:srgbClr val="94AACA"/>
                </a:solidFill>
                <a:latin typeface="Aptos"/>
                <a:cs typeface="Aptos"/>
                <a:ea typeface="Aptos"/>
              </a:rPr>
              <a:t>نظام معلومات · قاعدة بيانات · مكتبة جامعية</a:t>
            </a:r>
          </a:p>
        </p:txBody>
      </p:sp>
    </p:spTree>
  </p:cSld>
  <p:clrMapOvr>
    <a:masterClrMapping/>
  </p:clrMapOvr>
  <p:transition spd="med"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ounded Rectangle 1"/>
          <p:cNvSpPr/>
          <p:nvPr/>
        </p:nvSpPr>
        <p:spPr>
          <a:xfrm>
            <a:off x="530352" y="292608"/>
            <a:ext cx="2423160" cy="310896"/>
          </a:xfrm>
          <a:prstGeom prst="roundRect">
            <a:avLst/>
          </a:prstGeom>
          <a:solidFill>
            <a:srgbClr val="10233D"/>
          </a:solidFill>
          <a:ln w="889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1500" y="297180"/>
            <a:ext cx="2340864" cy="301752"/>
          </a:xfrm>
          <a:prstGeom prst="rect">
            <a:avLst/>
          </a:prstGeom>
          <a:noFill/>
        </p:spPr>
        <p:txBody>
          <a:bodyPr wrap="square" lIns="9144" rIns="9144" tIns="9144" bIns="9144" anchor="ctr">
            <a:spAutoFit/>
          </a:bodyPr>
          <a:lstStyle/>
          <a:p>
            <a:pPr algn="ctr" rtl="0">
              <a:lnSpc>
                <a:spcPct val="100000"/>
              </a:lnSpc>
              <a:spcAft>
                <a:spcPts val="0"/>
              </a:spcAft>
            </a:pPr>
            <a:r>
              <a:rPr sz="1050" b="1" i="0" lang="en-US">
                <a:solidFill>
                  <a:srgbClr val="FFFFFF"/>
                </a:solidFill>
                <a:latin typeface="Aptos"/>
                <a:cs typeface="Aptos"/>
                <a:ea typeface="Aptos"/>
              </a:rPr>
              <a:t>01  /  الدراسة</a:t>
            </a:r>
          </a:p>
        </p:txBody>
      </p:sp>
      <p:sp>
        <p:nvSpPr>
          <p:cNvPr id="4" name="Rectangle 3"/>
          <p:cNvSpPr/>
          <p:nvPr/>
        </p:nvSpPr>
        <p:spPr>
          <a:xfrm>
            <a:off x="11594592" y="283464"/>
            <a:ext cx="64008" cy="502920"/>
          </a:xfrm>
          <a:prstGeom prst="rect">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063240" y="182880"/>
            <a:ext cx="8229600" cy="557784"/>
          </a:xfrm>
          <a:prstGeom prst="rect">
            <a:avLst/>
          </a:prstGeom>
          <a:noFill/>
        </p:spPr>
        <p:txBody>
          <a:bodyPr wrap="square" lIns="18288" rIns="18288" tIns="18288" bIns="18288" anchor="ctr">
            <a:spAutoFit/>
          </a:bodyPr>
          <a:lstStyle/>
          <a:p>
            <a:pPr algn="r" rtl="1">
              <a:lnSpc>
                <a:spcPct val="100000"/>
              </a:lnSpc>
              <a:spcAft>
                <a:spcPts val="0"/>
              </a:spcAft>
            </a:pPr>
            <a:r>
              <a:rPr sz="2600" b="1" i="0" lang="ar-DZ" rtl="1">
                <a:solidFill>
                  <a:srgbClr val="10233D"/>
                </a:solidFill>
                <a:latin typeface="Cairo"/>
                <a:cs typeface="Cairo"/>
                <a:ea typeface="Cairo"/>
              </a:rPr>
              <a:t>مكتبة الكلية: خدمة علمية يومية</a:t>
            </a:r>
          </a:p>
        </p:txBody>
      </p:sp>
      <p:sp>
        <p:nvSpPr>
          <p:cNvPr id="6" name="TextBox 5"/>
          <p:cNvSpPr txBox="1"/>
          <p:nvPr/>
        </p:nvSpPr>
        <p:spPr>
          <a:xfrm>
            <a:off x="3063240" y="731520"/>
            <a:ext cx="8229600" cy="310896"/>
          </a:xfrm>
          <a:prstGeom prst="rect">
            <a:avLst/>
          </a:prstGeom>
          <a:noFill/>
        </p:spPr>
        <p:txBody>
          <a:bodyPr wrap="square" lIns="9144" rIns="9144" tIns="9144" bIns="9144" anchor="ctr">
            <a:spAutoFit/>
          </a:bodyPr>
          <a:lstStyle/>
          <a:p>
            <a:pPr algn="r" rtl="1">
              <a:lnSpc>
                <a:spcPct val="100000"/>
              </a:lnSpc>
              <a:spcAft>
                <a:spcPts val="0"/>
              </a:spcAft>
            </a:pPr>
            <a:r>
              <a:rPr sz="1350" b="0" i="0" lang="ar-DZ" rtl="1">
                <a:solidFill>
                  <a:srgbClr val="617187"/>
                </a:solidFill>
                <a:latin typeface="Cairo"/>
                <a:cs typeface="Cairo"/>
                <a:ea typeface="Cairo"/>
              </a:rPr>
              <a:t>مجال الدراسة هو تسيير موارد المكتبة وخدماتها داخل كلية العلوم الاجتماعية والإنسانية.</a:t>
            </a:r>
          </a:p>
        </p:txBody>
      </p:sp>
      <p:cxnSp>
        <p:nvCxnSpPr>
          <p:cNvPr id="7" name="Connector 6"/>
          <p:cNvCxnSpPr/>
          <p:nvPr/>
        </p:nvCxnSpPr>
        <p:spPr>
          <a:xfrm>
            <a:off x="530352" y="1170432"/>
            <a:ext cx="11128248" cy="0"/>
          </a:xfrm>
          <a:prstGeom prst="line">
            <a:avLst/>
          </a:prstGeom>
          <a:ln w="10160">
            <a:solidFill>
              <a:srgbClr val="D5DFE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30352" y="6382512"/>
            <a:ext cx="11128248" cy="0"/>
          </a:xfrm>
          <a:prstGeom prst="line">
            <a:avLst/>
          </a:prstGeom>
          <a:ln w="8890">
            <a:solidFill>
              <a:srgbClr val="D5DFEA"/>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03504" y="6437376"/>
            <a:ext cx="8778240" cy="210312"/>
          </a:xfrm>
          <a:prstGeom prst="rect">
            <a:avLst/>
          </a:prstGeom>
          <a:noFill/>
        </p:spPr>
        <p:txBody>
          <a:bodyPr wrap="square" lIns="0" rIns="0" tIns="0" bIns="0" anchor="ctr">
            <a:spAutoFit/>
          </a:bodyPr>
          <a:lstStyle/>
          <a:p>
            <a:pPr algn="l" rtl="1">
              <a:lnSpc>
                <a:spcPct val="100000"/>
              </a:lnSpc>
              <a:spcAft>
                <a:spcPts val="0"/>
              </a:spcAft>
            </a:pPr>
            <a:r>
              <a:rPr sz="850" b="0" i="0" lang="ar-DZ" rtl="1">
                <a:solidFill>
                  <a:srgbClr val="617187"/>
                </a:solidFill>
                <a:latin typeface="Cairo"/>
                <a:cs typeface="Cairo"/>
                <a:ea typeface="Cairo"/>
              </a:rPr>
              <a:t>المصدر: المذكرة، الفصل الأول، ص 9–11</a:t>
            </a:r>
          </a:p>
        </p:txBody>
      </p:sp>
      <p:sp>
        <p:nvSpPr>
          <p:cNvPr id="10" name="TextBox 9"/>
          <p:cNvSpPr txBox="1"/>
          <p:nvPr/>
        </p:nvSpPr>
        <p:spPr>
          <a:xfrm>
            <a:off x="10725912" y="6409944"/>
            <a:ext cx="932688" cy="228600"/>
          </a:xfrm>
          <a:prstGeom prst="rect">
            <a:avLst/>
          </a:prstGeom>
          <a:noFill/>
        </p:spPr>
        <p:txBody>
          <a:bodyPr wrap="square" lIns="0" rIns="0" tIns="0" bIns="0" anchor="ctr">
            <a:spAutoFit/>
          </a:bodyPr>
          <a:lstStyle/>
          <a:p>
            <a:pPr algn="l" rtl="0">
              <a:lnSpc>
                <a:spcPct val="100000"/>
              </a:lnSpc>
              <a:spcAft>
                <a:spcPts val="0"/>
              </a:spcAft>
            </a:pPr>
            <a:r>
              <a:rPr sz="950" b="1" i="0" lang="en-US">
                <a:solidFill>
                  <a:srgbClr val="10233D"/>
                </a:solidFill>
                <a:latin typeface="Aptos"/>
                <a:cs typeface="Aptos"/>
                <a:ea typeface="Aptos"/>
              </a:rPr>
              <a:t>02 / 20</a:t>
            </a:r>
          </a:p>
        </p:txBody>
      </p:sp>
      <p:sp>
        <p:nvSpPr>
          <p:cNvPr id="11" name="Rectangle 10"/>
          <p:cNvSpPr/>
          <p:nvPr/>
        </p:nvSpPr>
        <p:spPr>
          <a:xfrm>
            <a:off x="9400032" y="6519672"/>
            <a:ext cx="114300" cy="32004"/>
          </a:xfrm>
          <a:prstGeom prst="rect">
            <a:avLst/>
          </a:prstGeom>
          <a:solidFill>
            <a:srgbClr val="316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801100" y="1495044"/>
            <a:ext cx="2834640" cy="932688"/>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759952" y="1444752"/>
            <a:ext cx="2834640" cy="932688"/>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5400" y="1554480"/>
            <a:ext cx="2514600" cy="384048"/>
          </a:xfrm>
          <a:prstGeom prst="rect">
            <a:avLst/>
          </a:prstGeom>
          <a:noFill/>
        </p:spPr>
        <p:txBody>
          <a:bodyPr wrap="square" lIns="18288" rIns="18288" tIns="18288" bIns="18288" anchor="ctr">
            <a:spAutoFit/>
          </a:bodyPr>
          <a:lstStyle/>
          <a:p>
            <a:pPr algn="r" rtl="1">
              <a:lnSpc>
                <a:spcPct val="100000"/>
              </a:lnSpc>
              <a:spcAft>
                <a:spcPts val="0"/>
              </a:spcAft>
            </a:pPr>
            <a:r>
              <a:rPr sz="1600" b="1" i="0" lang="ar-DZ" rtl="1">
                <a:solidFill>
                  <a:srgbClr val="10233D"/>
                </a:solidFill>
                <a:latin typeface="Cairo"/>
                <a:cs typeface="Cairo"/>
                <a:ea typeface="Cairo"/>
              </a:rPr>
              <a:t>جامعة الشهيد حمه لخضر</a:t>
            </a:r>
          </a:p>
        </p:txBody>
      </p:sp>
      <p:sp>
        <p:nvSpPr>
          <p:cNvPr id="15" name="TextBox 14"/>
          <p:cNvSpPr txBox="1"/>
          <p:nvPr/>
        </p:nvSpPr>
        <p:spPr>
          <a:xfrm>
            <a:off x="8915400" y="1993392"/>
            <a:ext cx="2514600" cy="219456"/>
          </a:xfrm>
          <a:prstGeom prst="rect">
            <a:avLst/>
          </a:prstGeom>
          <a:noFill/>
        </p:spPr>
        <p:txBody>
          <a:bodyPr wrap="square" lIns="18288" rIns="18288" tIns="18288" bIns="18288" anchor="ctr">
            <a:spAutoFit/>
          </a:bodyPr>
          <a:lstStyle/>
          <a:p>
            <a:pPr algn="r" rtl="1">
              <a:lnSpc>
                <a:spcPct val="100000"/>
              </a:lnSpc>
              <a:spcAft>
                <a:spcPts val="0"/>
              </a:spcAft>
            </a:pPr>
            <a:r>
              <a:rPr sz="1050" b="0" i="0" lang="ar-DZ" rtl="1">
                <a:solidFill>
                  <a:srgbClr val="617187"/>
                </a:solidFill>
                <a:latin typeface="Cairo"/>
                <a:cs typeface="Cairo"/>
                <a:ea typeface="Cairo"/>
              </a:rPr>
              <a:t>الوادي</a:t>
            </a:r>
          </a:p>
        </p:txBody>
      </p:sp>
      <p:sp>
        <p:nvSpPr>
          <p:cNvPr id="16" name="Rounded Rectangle 15"/>
          <p:cNvSpPr/>
          <p:nvPr/>
        </p:nvSpPr>
        <p:spPr>
          <a:xfrm>
            <a:off x="4841748" y="1495044"/>
            <a:ext cx="2834640" cy="932688"/>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800600" y="1444752"/>
            <a:ext cx="2834640" cy="932688"/>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56048" y="1554480"/>
            <a:ext cx="2514600" cy="384048"/>
          </a:xfrm>
          <a:prstGeom prst="rect">
            <a:avLst/>
          </a:prstGeom>
          <a:noFill/>
        </p:spPr>
        <p:txBody>
          <a:bodyPr wrap="square" lIns="18288" rIns="18288" tIns="18288" bIns="18288" anchor="ctr">
            <a:spAutoFit/>
          </a:bodyPr>
          <a:lstStyle/>
          <a:p>
            <a:pPr algn="r" rtl="1">
              <a:lnSpc>
                <a:spcPct val="100000"/>
              </a:lnSpc>
              <a:spcAft>
                <a:spcPts val="0"/>
              </a:spcAft>
            </a:pPr>
            <a:r>
              <a:rPr sz="1600" b="1" i="0" lang="ar-DZ" rtl="1">
                <a:solidFill>
                  <a:srgbClr val="10233D"/>
                </a:solidFill>
                <a:latin typeface="Cairo"/>
                <a:cs typeface="Cairo"/>
                <a:ea typeface="Cairo"/>
              </a:rPr>
              <a:t>كلية العلوم الاجتماعية</a:t>
            </a:r>
            <a:br/>
            <a:r>
              <a:rPr sz="1600" b="1" i="0" lang="ar-DZ" rtl="1">
                <a:solidFill>
                  <a:srgbClr val="10233D"/>
                </a:solidFill>
                <a:latin typeface="Cairo"/>
                <a:cs typeface="Cairo"/>
                <a:ea typeface="Cairo"/>
              </a:rPr>
              <a:t>والإنسانية</a:t>
            </a:r>
          </a:p>
        </p:txBody>
      </p:sp>
      <p:sp>
        <p:nvSpPr>
          <p:cNvPr id="19" name="TextBox 18"/>
          <p:cNvSpPr txBox="1"/>
          <p:nvPr/>
        </p:nvSpPr>
        <p:spPr>
          <a:xfrm>
            <a:off x="4956048" y="1993392"/>
            <a:ext cx="2514600" cy="219456"/>
          </a:xfrm>
          <a:prstGeom prst="rect">
            <a:avLst/>
          </a:prstGeom>
          <a:noFill/>
        </p:spPr>
        <p:txBody>
          <a:bodyPr wrap="square" lIns="18288" rIns="18288" tIns="18288" bIns="18288" anchor="ctr">
            <a:spAutoFit/>
          </a:bodyPr>
          <a:lstStyle/>
          <a:p>
            <a:pPr algn="r" rtl="1">
              <a:lnSpc>
                <a:spcPct val="100000"/>
              </a:lnSpc>
              <a:spcAft>
                <a:spcPts val="0"/>
              </a:spcAft>
            </a:pPr>
            <a:r>
              <a:rPr sz="1050" b="0" i="0" lang="ar-DZ" rtl="1">
                <a:solidFill>
                  <a:srgbClr val="617187"/>
                </a:solidFill>
                <a:latin typeface="Cairo"/>
                <a:cs typeface="Cairo"/>
                <a:ea typeface="Cairo"/>
              </a:rPr>
              <a:t>مجال الدراسة</a:t>
            </a:r>
          </a:p>
        </p:txBody>
      </p:sp>
      <p:sp>
        <p:nvSpPr>
          <p:cNvPr id="20" name="Rounded Rectangle 19"/>
          <p:cNvSpPr/>
          <p:nvPr/>
        </p:nvSpPr>
        <p:spPr>
          <a:xfrm>
            <a:off x="909828" y="1495044"/>
            <a:ext cx="2834640" cy="932688"/>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68680" y="1444752"/>
            <a:ext cx="2834640" cy="932688"/>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4127" y="1554480"/>
            <a:ext cx="2514600" cy="384048"/>
          </a:xfrm>
          <a:prstGeom prst="rect">
            <a:avLst/>
          </a:prstGeom>
          <a:noFill/>
        </p:spPr>
        <p:txBody>
          <a:bodyPr wrap="square" lIns="18288" rIns="18288" tIns="18288" bIns="18288" anchor="ctr">
            <a:spAutoFit/>
          </a:bodyPr>
          <a:lstStyle/>
          <a:p>
            <a:pPr algn="r" rtl="1">
              <a:lnSpc>
                <a:spcPct val="100000"/>
              </a:lnSpc>
              <a:spcAft>
                <a:spcPts val="0"/>
              </a:spcAft>
            </a:pPr>
            <a:r>
              <a:rPr sz="1600" b="1" i="0" lang="ar-DZ" rtl="1">
                <a:solidFill>
                  <a:srgbClr val="10233D"/>
                </a:solidFill>
                <a:latin typeface="Cairo"/>
                <a:cs typeface="Cairo"/>
                <a:ea typeface="Cairo"/>
              </a:rPr>
              <a:t>مكتبة الكلية</a:t>
            </a:r>
          </a:p>
        </p:txBody>
      </p:sp>
      <p:sp>
        <p:nvSpPr>
          <p:cNvPr id="23" name="TextBox 22"/>
          <p:cNvSpPr txBox="1"/>
          <p:nvPr/>
        </p:nvSpPr>
        <p:spPr>
          <a:xfrm>
            <a:off x="1024127" y="1993392"/>
            <a:ext cx="2514600" cy="219456"/>
          </a:xfrm>
          <a:prstGeom prst="rect">
            <a:avLst/>
          </a:prstGeom>
          <a:noFill/>
        </p:spPr>
        <p:txBody>
          <a:bodyPr wrap="square" lIns="18288" rIns="18288" tIns="18288" bIns="18288" anchor="ctr">
            <a:spAutoFit/>
          </a:bodyPr>
          <a:lstStyle/>
          <a:p>
            <a:pPr algn="r" rtl="1">
              <a:lnSpc>
                <a:spcPct val="100000"/>
              </a:lnSpc>
              <a:spcAft>
                <a:spcPts val="0"/>
              </a:spcAft>
            </a:pPr>
            <a:r>
              <a:rPr sz="1050" b="0" i="0" lang="ar-DZ" rtl="1">
                <a:solidFill>
                  <a:srgbClr val="617187"/>
                </a:solidFill>
                <a:latin typeface="Cairo"/>
                <a:cs typeface="Cairo"/>
                <a:ea typeface="Cairo"/>
              </a:rPr>
              <a:t>جزء من المكتبة المركزية</a:t>
            </a:r>
          </a:p>
        </p:txBody>
      </p:sp>
      <p:cxnSp>
        <p:nvCxnSpPr>
          <p:cNvPr id="24" name="Connector 23"/>
          <p:cNvCxnSpPr/>
          <p:nvPr/>
        </p:nvCxnSpPr>
        <p:spPr>
          <a:xfrm flipH="1">
            <a:off x="7891272" y="1901952"/>
            <a:ext cx="740664" cy="0"/>
          </a:xfrm>
          <a:prstGeom prst="line">
            <a:avLst/>
          </a:prstGeom>
          <a:ln w="22860">
            <a:solidFill>
              <a:srgbClr val="DCA74C"/>
            </a:solidFill>
          </a:ln>
        </p:spPr>
        <p:style>
          <a:lnRef idx="2">
            <a:schemeClr val="accent1"/>
          </a:lnRef>
          <a:fillRef idx="0">
            <a:schemeClr val="accent1"/>
          </a:fillRef>
          <a:effectRef idx="1">
            <a:schemeClr val="accent1"/>
          </a:effectRef>
          <a:fontRef idx="minor">
            <a:schemeClr val="tx1"/>
          </a:fontRef>
        </p:style>
      </p:cxnSp>
      <p:sp>
        <p:nvSpPr>
          <p:cNvPr id="25" name="Isosceles Triangle 24"/>
          <p:cNvSpPr/>
          <p:nvPr/>
        </p:nvSpPr>
        <p:spPr>
          <a:xfrm rot="16200000">
            <a:off x="7836408" y="1847088"/>
            <a:ext cx="109728" cy="109728"/>
          </a:xfrm>
          <a:prstGeom prst="triangle">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flipH="1">
            <a:off x="3685032" y="1901952"/>
            <a:ext cx="978408" cy="0"/>
          </a:xfrm>
          <a:prstGeom prst="line">
            <a:avLst/>
          </a:prstGeom>
          <a:ln w="22860">
            <a:solidFill>
              <a:srgbClr val="DCA74C"/>
            </a:solidFill>
          </a:ln>
        </p:spPr>
        <p:style>
          <a:lnRef idx="2">
            <a:schemeClr val="accent1"/>
          </a:lnRef>
          <a:fillRef idx="0">
            <a:schemeClr val="accent1"/>
          </a:fillRef>
          <a:effectRef idx="1">
            <a:schemeClr val="accent1"/>
          </a:effectRef>
          <a:fontRef idx="minor">
            <a:schemeClr val="tx1"/>
          </a:fontRef>
        </p:style>
      </p:cxnSp>
      <p:sp>
        <p:nvSpPr>
          <p:cNvPr id="27" name="Isosceles Triangle 26"/>
          <p:cNvSpPr/>
          <p:nvPr/>
        </p:nvSpPr>
        <p:spPr>
          <a:xfrm rot="16200000">
            <a:off x="3630168" y="1847088"/>
            <a:ext cx="109728" cy="109728"/>
          </a:xfrm>
          <a:prstGeom prst="triangle">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58368" y="2770632"/>
            <a:ext cx="5285232" cy="3017520"/>
          </a:xfrm>
          <a:prstGeom prst="roundRect">
            <a:avLst/>
          </a:prstGeom>
          <a:solidFill>
            <a:srgbClr val="10233D"/>
          </a:solidFill>
          <a:ln w="1016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453128" y="3008376"/>
            <a:ext cx="1115568" cy="292608"/>
          </a:xfrm>
          <a:prstGeom prst="roundRect">
            <a:avLst/>
          </a:prstGeom>
          <a:solidFill>
            <a:srgbClr val="244A78"/>
          </a:solidFill>
          <a:ln w="8890">
            <a:solidFill>
              <a:srgbClr val="24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94276" y="3012948"/>
            <a:ext cx="1033271" cy="283464"/>
          </a:xfrm>
          <a:prstGeom prst="rect">
            <a:avLst/>
          </a:prstGeom>
          <a:noFill/>
        </p:spPr>
        <p:txBody>
          <a:bodyPr wrap="square" lIns="9144" rIns="9144" tIns="9144" bIns="9144" anchor="ctr">
            <a:spAutoFit/>
          </a:bodyPr>
          <a:lstStyle/>
          <a:p>
            <a:pPr algn="ctr" rtl="1">
              <a:lnSpc>
                <a:spcPct val="100000"/>
              </a:lnSpc>
              <a:spcAft>
                <a:spcPts val="0"/>
              </a:spcAft>
            </a:pPr>
            <a:r>
              <a:rPr sz="1100" b="1" i="0" lang="ar-DZ" rtl="1">
                <a:solidFill>
                  <a:srgbClr val="FFFFFF"/>
                </a:solidFill>
                <a:latin typeface="Cairo"/>
                <a:cs typeface="Cairo"/>
                <a:ea typeface="Cairo"/>
              </a:rPr>
              <a:t>مهمتها</a:t>
            </a:r>
          </a:p>
        </p:txBody>
      </p:sp>
      <p:sp>
        <p:nvSpPr>
          <p:cNvPr id="31" name="TextBox 30"/>
          <p:cNvSpPr txBox="1"/>
          <p:nvPr/>
        </p:nvSpPr>
        <p:spPr>
          <a:xfrm>
            <a:off x="960120" y="3493008"/>
            <a:ext cx="4617720" cy="438912"/>
          </a:xfrm>
          <a:prstGeom prst="rect">
            <a:avLst/>
          </a:prstGeom>
          <a:noFill/>
        </p:spPr>
        <p:txBody>
          <a:bodyPr wrap="square" lIns="18288" rIns="18288" tIns="18288" bIns="18288" anchor="ctr">
            <a:spAutoFit/>
          </a:bodyPr>
          <a:lstStyle/>
          <a:p>
            <a:pPr algn="r" rtl="1">
              <a:lnSpc>
                <a:spcPct val="100000"/>
              </a:lnSpc>
              <a:spcAft>
                <a:spcPts val="0"/>
              </a:spcAft>
            </a:pPr>
            <a:r>
              <a:rPr sz="2200" b="1" i="0" lang="ar-DZ" rtl="1">
                <a:solidFill>
                  <a:srgbClr val="FFFFFF"/>
                </a:solidFill>
                <a:latin typeface="Cairo"/>
                <a:cs typeface="Cairo"/>
                <a:ea typeface="Cairo"/>
              </a:rPr>
              <a:t>دعم التعليم والبحث العلمي</a:t>
            </a:r>
          </a:p>
        </p:txBody>
      </p:sp>
      <p:sp>
        <p:nvSpPr>
          <p:cNvPr id="32" name="TextBox 31"/>
          <p:cNvSpPr txBox="1"/>
          <p:nvPr/>
        </p:nvSpPr>
        <p:spPr>
          <a:xfrm>
            <a:off x="3959352" y="4187952"/>
            <a:ext cx="1600200" cy="265176"/>
          </a:xfrm>
          <a:prstGeom prst="rect">
            <a:avLst/>
          </a:prstGeom>
          <a:noFill/>
        </p:spPr>
        <p:txBody>
          <a:bodyPr wrap="square" lIns="18288" rIns="18288" tIns="18288" bIns="18288" anchor="ctr">
            <a:spAutoFit/>
          </a:bodyPr>
          <a:lstStyle/>
          <a:p>
            <a:pPr algn="r" rtl="1">
              <a:lnSpc>
                <a:spcPct val="100000"/>
              </a:lnSpc>
              <a:spcAft>
                <a:spcPts val="0"/>
              </a:spcAft>
            </a:pPr>
            <a:r>
              <a:rPr sz="1200" b="1" i="0" lang="ar-DZ" rtl="1">
                <a:solidFill>
                  <a:srgbClr val="DCA74C"/>
                </a:solidFill>
                <a:latin typeface="Cairo"/>
                <a:cs typeface="Cairo"/>
                <a:ea typeface="Cairo"/>
              </a:rPr>
              <a:t>موارد المكتبة</a:t>
            </a:r>
          </a:p>
        </p:txBody>
      </p:sp>
      <p:sp>
        <p:nvSpPr>
          <p:cNvPr id="33" name="Oval 32"/>
          <p:cNvSpPr/>
          <p:nvPr/>
        </p:nvSpPr>
        <p:spPr>
          <a:xfrm>
            <a:off x="5394960" y="4626864"/>
            <a:ext cx="73152" cy="73152"/>
          </a:xfrm>
          <a:prstGeom prst="ellipse">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0120" y="4553712"/>
            <a:ext cx="4315968" cy="265176"/>
          </a:xfrm>
          <a:prstGeom prst="rect">
            <a:avLst/>
          </a:prstGeom>
          <a:noFill/>
        </p:spPr>
        <p:txBody>
          <a:bodyPr wrap="square" lIns="18288" rIns="18288" tIns="18288" bIns="18288" anchor="ctr">
            <a:spAutoFit/>
          </a:bodyPr>
          <a:lstStyle/>
          <a:p>
            <a:pPr algn="r" rtl="1">
              <a:lnSpc>
                <a:spcPct val="100000"/>
              </a:lnSpc>
              <a:spcAft>
                <a:spcPts val="0"/>
              </a:spcAft>
            </a:pPr>
            <a:r>
              <a:rPr sz="1450" b="0" i="0" lang="ar-DZ" rtl="1">
                <a:solidFill>
                  <a:srgbClr val="E2EAF5"/>
                </a:solidFill>
                <a:latin typeface="Cairo"/>
                <a:cs typeface="Cairo"/>
                <a:ea typeface="Cairo"/>
              </a:rPr>
              <a:t>كتب ومراجع علمية</a:t>
            </a:r>
          </a:p>
        </p:txBody>
      </p:sp>
      <p:sp>
        <p:nvSpPr>
          <p:cNvPr id="35" name="Oval 34"/>
          <p:cNvSpPr/>
          <p:nvPr/>
        </p:nvSpPr>
        <p:spPr>
          <a:xfrm>
            <a:off x="5394960" y="4974336"/>
            <a:ext cx="73152" cy="73152"/>
          </a:xfrm>
          <a:prstGeom prst="ellipse">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0120" y="4901184"/>
            <a:ext cx="4315968" cy="265176"/>
          </a:xfrm>
          <a:prstGeom prst="rect">
            <a:avLst/>
          </a:prstGeom>
          <a:noFill/>
        </p:spPr>
        <p:txBody>
          <a:bodyPr wrap="square" lIns="18288" rIns="18288" tIns="18288" bIns="18288" anchor="ctr">
            <a:spAutoFit/>
          </a:bodyPr>
          <a:lstStyle/>
          <a:p>
            <a:pPr algn="r" rtl="1">
              <a:lnSpc>
                <a:spcPct val="100000"/>
              </a:lnSpc>
              <a:spcAft>
                <a:spcPts val="0"/>
              </a:spcAft>
            </a:pPr>
            <a:r>
              <a:rPr sz="1450" b="0" i="0" lang="ar-DZ" rtl="1">
                <a:solidFill>
                  <a:srgbClr val="E2EAF5"/>
                </a:solidFill>
                <a:latin typeface="Cairo"/>
                <a:cs typeface="Cairo"/>
                <a:ea typeface="Cairo"/>
              </a:rPr>
              <a:t>رسائل جامعية ودوريات</a:t>
            </a:r>
          </a:p>
        </p:txBody>
      </p:sp>
      <p:sp>
        <p:nvSpPr>
          <p:cNvPr id="37" name="Oval 36"/>
          <p:cNvSpPr/>
          <p:nvPr/>
        </p:nvSpPr>
        <p:spPr>
          <a:xfrm>
            <a:off x="5394960" y="5321808"/>
            <a:ext cx="73152" cy="73152"/>
          </a:xfrm>
          <a:prstGeom prst="ellipse">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60120" y="5248656"/>
            <a:ext cx="4315968" cy="265176"/>
          </a:xfrm>
          <a:prstGeom prst="rect">
            <a:avLst/>
          </a:prstGeom>
          <a:noFill/>
        </p:spPr>
        <p:txBody>
          <a:bodyPr wrap="square" lIns="18288" rIns="18288" tIns="18288" bIns="18288" anchor="ctr">
            <a:spAutoFit/>
          </a:bodyPr>
          <a:lstStyle/>
          <a:p>
            <a:pPr algn="r" rtl="1">
              <a:lnSpc>
                <a:spcPct val="100000"/>
              </a:lnSpc>
              <a:spcAft>
                <a:spcPts val="0"/>
              </a:spcAft>
            </a:pPr>
            <a:r>
              <a:rPr sz="1450" b="0" i="0" lang="ar-DZ" rtl="1">
                <a:solidFill>
                  <a:srgbClr val="E2EAF5"/>
                </a:solidFill>
                <a:latin typeface="Cairo"/>
                <a:cs typeface="Cairo"/>
                <a:ea typeface="Cairo"/>
              </a:rPr>
              <a:t>أبحاث ومصادر للمستفيدين</a:t>
            </a:r>
          </a:p>
        </p:txBody>
      </p:sp>
      <p:sp>
        <p:nvSpPr>
          <p:cNvPr id="39" name="Rounded Rectangle 38"/>
          <p:cNvSpPr/>
          <p:nvPr/>
        </p:nvSpPr>
        <p:spPr>
          <a:xfrm>
            <a:off x="6304788" y="2820924"/>
            <a:ext cx="5285232" cy="3017520"/>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6263640" y="2770632"/>
            <a:ext cx="5285232" cy="3017520"/>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601200" y="3026664"/>
            <a:ext cx="1600200" cy="292608"/>
          </a:xfrm>
          <a:prstGeom prst="rect">
            <a:avLst/>
          </a:prstGeom>
          <a:noFill/>
        </p:spPr>
        <p:txBody>
          <a:bodyPr wrap="square" lIns="18288" rIns="18288" tIns="18288" bIns="18288" anchor="ctr">
            <a:spAutoFit/>
          </a:bodyPr>
          <a:lstStyle/>
          <a:p>
            <a:pPr algn="r" rtl="1">
              <a:lnSpc>
                <a:spcPct val="100000"/>
              </a:lnSpc>
              <a:spcAft>
                <a:spcPts val="0"/>
              </a:spcAft>
            </a:pPr>
            <a:r>
              <a:rPr sz="1400" b="1" i="0" lang="ar-DZ" rtl="1">
                <a:solidFill>
                  <a:srgbClr val="3167D5"/>
                </a:solidFill>
                <a:latin typeface="Cairo"/>
                <a:cs typeface="Cairo"/>
                <a:ea typeface="Cairo"/>
              </a:rPr>
              <a:t>المستفيدون</a:t>
            </a:r>
          </a:p>
        </p:txBody>
      </p:sp>
      <p:sp>
        <p:nvSpPr>
          <p:cNvPr id="42" name="Rounded Rectangle 41"/>
          <p:cNvSpPr/>
          <p:nvPr/>
        </p:nvSpPr>
        <p:spPr>
          <a:xfrm>
            <a:off x="9281160" y="3456432"/>
            <a:ext cx="1920240" cy="420624"/>
          </a:xfrm>
          <a:prstGeom prst="roundRect">
            <a:avLst/>
          </a:prstGeom>
          <a:solidFill>
            <a:srgbClr val="E7EFFD"/>
          </a:solidFill>
          <a:ln w="8890">
            <a:solidFill>
              <a:srgbClr val="E7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322308" y="3461003"/>
            <a:ext cx="1837944" cy="411480"/>
          </a:xfrm>
          <a:prstGeom prst="rect">
            <a:avLst/>
          </a:prstGeom>
          <a:noFill/>
        </p:spPr>
        <p:txBody>
          <a:bodyPr wrap="square" lIns="9144" rIns="9144" tIns="9144" bIns="9144" anchor="ctr">
            <a:spAutoFit/>
          </a:bodyPr>
          <a:lstStyle/>
          <a:p>
            <a:pPr algn="ctr" rtl="1">
              <a:lnSpc>
                <a:spcPct val="100000"/>
              </a:lnSpc>
              <a:spcAft>
                <a:spcPts val="0"/>
              </a:spcAft>
            </a:pPr>
            <a:r>
              <a:rPr sz="1500" b="1" i="0" lang="ar-DZ" rtl="1">
                <a:solidFill>
                  <a:srgbClr val="10233D"/>
                </a:solidFill>
                <a:latin typeface="Cairo"/>
                <a:cs typeface="Cairo"/>
                <a:ea typeface="Cairo"/>
              </a:rPr>
              <a:t>الطلبة</a:t>
            </a:r>
          </a:p>
        </p:txBody>
      </p:sp>
      <p:sp>
        <p:nvSpPr>
          <p:cNvPr id="44" name="Rounded Rectangle 43"/>
          <p:cNvSpPr/>
          <p:nvPr/>
        </p:nvSpPr>
        <p:spPr>
          <a:xfrm>
            <a:off x="6903720" y="3456432"/>
            <a:ext cx="2057400" cy="420624"/>
          </a:xfrm>
          <a:prstGeom prst="roundRect">
            <a:avLst/>
          </a:prstGeom>
          <a:solidFill>
            <a:srgbClr val="E7EFFD"/>
          </a:solidFill>
          <a:ln w="8890">
            <a:solidFill>
              <a:srgbClr val="E7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944868" y="3461003"/>
            <a:ext cx="1975104" cy="411480"/>
          </a:xfrm>
          <a:prstGeom prst="rect">
            <a:avLst/>
          </a:prstGeom>
          <a:noFill/>
        </p:spPr>
        <p:txBody>
          <a:bodyPr wrap="square" lIns="9144" rIns="9144" tIns="9144" bIns="9144" anchor="ctr">
            <a:spAutoFit/>
          </a:bodyPr>
          <a:lstStyle/>
          <a:p>
            <a:pPr algn="ctr" rtl="1">
              <a:lnSpc>
                <a:spcPct val="100000"/>
              </a:lnSpc>
              <a:spcAft>
                <a:spcPts val="0"/>
              </a:spcAft>
            </a:pPr>
            <a:r>
              <a:rPr sz="1400" b="1" i="0" lang="ar-DZ" rtl="1">
                <a:solidFill>
                  <a:srgbClr val="10233D"/>
                </a:solidFill>
                <a:latin typeface="Cairo"/>
                <a:cs typeface="Cairo"/>
                <a:ea typeface="Cairo"/>
              </a:rPr>
              <a:t>الهيئة التدريسية</a:t>
            </a:r>
          </a:p>
        </p:txBody>
      </p:sp>
      <p:sp>
        <p:nvSpPr>
          <p:cNvPr id="46" name="TextBox 45"/>
          <p:cNvSpPr txBox="1"/>
          <p:nvPr/>
        </p:nvSpPr>
        <p:spPr>
          <a:xfrm>
            <a:off x="9217152" y="4224528"/>
            <a:ext cx="1965960" cy="283464"/>
          </a:xfrm>
          <a:prstGeom prst="rect">
            <a:avLst/>
          </a:prstGeom>
          <a:noFill/>
        </p:spPr>
        <p:txBody>
          <a:bodyPr wrap="square" lIns="18288" rIns="18288" tIns="18288" bIns="18288" anchor="ctr">
            <a:spAutoFit/>
          </a:bodyPr>
          <a:lstStyle/>
          <a:p>
            <a:pPr algn="r" rtl="1">
              <a:lnSpc>
                <a:spcPct val="100000"/>
              </a:lnSpc>
              <a:spcAft>
                <a:spcPts val="0"/>
              </a:spcAft>
            </a:pPr>
            <a:r>
              <a:rPr sz="1400" b="1" i="0" lang="ar-DZ" rtl="1">
                <a:solidFill>
                  <a:srgbClr val="3167D5"/>
                </a:solidFill>
                <a:latin typeface="Cairo"/>
                <a:cs typeface="Cairo"/>
                <a:ea typeface="Cairo"/>
              </a:rPr>
              <a:t>عمليات التسيير</a:t>
            </a:r>
          </a:p>
        </p:txBody>
      </p:sp>
      <p:sp>
        <p:nvSpPr>
          <p:cNvPr id="47" name="Rounded Rectangle 46"/>
          <p:cNvSpPr/>
          <p:nvPr/>
        </p:nvSpPr>
        <p:spPr>
          <a:xfrm>
            <a:off x="10561320" y="4626864"/>
            <a:ext cx="475488" cy="265176"/>
          </a:xfrm>
          <a:prstGeom prst="roundRect">
            <a:avLst/>
          </a:prstGeom>
          <a:solidFill>
            <a:srgbClr val="10233D"/>
          </a:solidFill>
          <a:ln w="889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602468" y="4631436"/>
            <a:ext cx="393192" cy="256031"/>
          </a:xfrm>
          <a:prstGeom prst="rect">
            <a:avLst/>
          </a:prstGeom>
          <a:noFill/>
        </p:spPr>
        <p:txBody>
          <a:bodyPr wrap="square" lIns="9144" rIns="9144" tIns="9144" bIns="9144" anchor="ctr">
            <a:spAutoFit/>
          </a:bodyPr>
          <a:lstStyle/>
          <a:p>
            <a:pPr algn="ctr" rtl="0">
              <a:lnSpc>
                <a:spcPct val="100000"/>
              </a:lnSpc>
              <a:spcAft>
                <a:spcPts val="0"/>
              </a:spcAft>
            </a:pPr>
            <a:r>
              <a:rPr sz="1000" b="1" i="0" lang="en-US">
                <a:solidFill>
                  <a:srgbClr val="FFFFFF"/>
                </a:solidFill>
                <a:latin typeface="Aptos"/>
                <a:cs typeface="Aptos"/>
                <a:ea typeface="Aptos"/>
              </a:rPr>
              <a:t>01</a:t>
            </a:r>
          </a:p>
        </p:txBody>
      </p:sp>
      <p:sp>
        <p:nvSpPr>
          <p:cNvPr id="49" name="TextBox 48"/>
          <p:cNvSpPr txBox="1"/>
          <p:nvPr/>
        </p:nvSpPr>
        <p:spPr>
          <a:xfrm>
            <a:off x="6720840" y="4617720"/>
            <a:ext cx="3566160" cy="283464"/>
          </a:xfrm>
          <a:prstGeom prst="rect">
            <a:avLst/>
          </a:prstGeom>
          <a:noFill/>
        </p:spPr>
        <p:txBody>
          <a:bodyPr wrap="square" lIns="18288" rIns="18288" tIns="18288" bIns="18288" anchor="ctr">
            <a:spAutoFit/>
          </a:bodyPr>
          <a:lstStyle/>
          <a:p>
            <a:pPr algn="r" rtl="1">
              <a:lnSpc>
                <a:spcPct val="100000"/>
              </a:lnSpc>
              <a:spcAft>
                <a:spcPts val="0"/>
              </a:spcAft>
            </a:pPr>
            <a:r>
              <a:rPr sz="1400" b="0" i="0" lang="ar-DZ" rtl="1">
                <a:solidFill>
                  <a:srgbClr val="17263A"/>
                </a:solidFill>
                <a:latin typeface="Cairo"/>
                <a:cs typeface="Cairo"/>
                <a:ea typeface="Cairo"/>
              </a:rPr>
              <a:t>استقبال الكتب</a:t>
            </a:r>
          </a:p>
        </p:txBody>
      </p:sp>
      <p:sp>
        <p:nvSpPr>
          <p:cNvPr id="50" name="Rounded Rectangle 49"/>
          <p:cNvSpPr/>
          <p:nvPr/>
        </p:nvSpPr>
        <p:spPr>
          <a:xfrm>
            <a:off x="10561320" y="4983479"/>
            <a:ext cx="475488" cy="265176"/>
          </a:xfrm>
          <a:prstGeom prst="roundRect">
            <a:avLst/>
          </a:prstGeom>
          <a:solidFill>
            <a:srgbClr val="10233D"/>
          </a:solidFill>
          <a:ln w="889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602468" y="4988051"/>
            <a:ext cx="393192" cy="256031"/>
          </a:xfrm>
          <a:prstGeom prst="rect">
            <a:avLst/>
          </a:prstGeom>
          <a:noFill/>
        </p:spPr>
        <p:txBody>
          <a:bodyPr wrap="square" lIns="9144" rIns="9144" tIns="9144" bIns="9144" anchor="ctr">
            <a:spAutoFit/>
          </a:bodyPr>
          <a:lstStyle/>
          <a:p>
            <a:pPr algn="ctr" rtl="0">
              <a:lnSpc>
                <a:spcPct val="100000"/>
              </a:lnSpc>
              <a:spcAft>
                <a:spcPts val="0"/>
              </a:spcAft>
            </a:pPr>
            <a:r>
              <a:rPr sz="1000" b="1" i="0" lang="en-US">
                <a:solidFill>
                  <a:srgbClr val="FFFFFF"/>
                </a:solidFill>
                <a:latin typeface="Aptos"/>
                <a:cs typeface="Aptos"/>
                <a:ea typeface="Aptos"/>
              </a:rPr>
              <a:t>02</a:t>
            </a:r>
          </a:p>
        </p:txBody>
      </p:sp>
      <p:sp>
        <p:nvSpPr>
          <p:cNvPr id="52" name="TextBox 51"/>
          <p:cNvSpPr txBox="1"/>
          <p:nvPr/>
        </p:nvSpPr>
        <p:spPr>
          <a:xfrm>
            <a:off x="6720840" y="4974336"/>
            <a:ext cx="3566160" cy="283464"/>
          </a:xfrm>
          <a:prstGeom prst="rect">
            <a:avLst/>
          </a:prstGeom>
          <a:noFill/>
        </p:spPr>
        <p:txBody>
          <a:bodyPr wrap="square" lIns="18288" rIns="18288" tIns="18288" bIns="18288" anchor="ctr">
            <a:spAutoFit/>
          </a:bodyPr>
          <a:lstStyle/>
          <a:p>
            <a:pPr algn="r" rtl="1">
              <a:lnSpc>
                <a:spcPct val="100000"/>
              </a:lnSpc>
              <a:spcAft>
                <a:spcPts val="0"/>
              </a:spcAft>
            </a:pPr>
            <a:r>
              <a:rPr sz="1400" b="0" i="0" lang="ar-DZ" rtl="1">
                <a:solidFill>
                  <a:srgbClr val="17263A"/>
                </a:solidFill>
                <a:latin typeface="Cairo"/>
                <a:cs typeface="Cairo"/>
                <a:ea typeface="Cairo"/>
              </a:rPr>
              <a:t>تنظيم الرصيد</a:t>
            </a:r>
          </a:p>
        </p:txBody>
      </p:sp>
      <p:sp>
        <p:nvSpPr>
          <p:cNvPr id="53" name="Rounded Rectangle 52"/>
          <p:cNvSpPr/>
          <p:nvPr/>
        </p:nvSpPr>
        <p:spPr>
          <a:xfrm>
            <a:off x="10561320" y="5340096"/>
            <a:ext cx="475488" cy="265176"/>
          </a:xfrm>
          <a:prstGeom prst="roundRect">
            <a:avLst/>
          </a:prstGeom>
          <a:solidFill>
            <a:srgbClr val="10233D"/>
          </a:solidFill>
          <a:ln w="889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602468" y="5344668"/>
            <a:ext cx="393192" cy="256031"/>
          </a:xfrm>
          <a:prstGeom prst="rect">
            <a:avLst/>
          </a:prstGeom>
          <a:noFill/>
        </p:spPr>
        <p:txBody>
          <a:bodyPr wrap="square" lIns="9144" rIns="9144" tIns="9144" bIns="9144" anchor="ctr">
            <a:spAutoFit/>
          </a:bodyPr>
          <a:lstStyle/>
          <a:p>
            <a:pPr algn="ctr" rtl="0">
              <a:lnSpc>
                <a:spcPct val="100000"/>
              </a:lnSpc>
              <a:spcAft>
                <a:spcPts val="0"/>
              </a:spcAft>
            </a:pPr>
            <a:r>
              <a:rPr sz="1000" b="1" i="0" lang="en-US">
                <a:solidFill>
                  <a:srgbClr val="FFFFFF"/>
                </a:solidFill>
                <a:latin typeface="Aptos"/>
                <a:cs typeface="Aptos"/>
                <a:ea typeface="Aptos"/>
              </a:rPr>
              <a:t>03</a:t>
            </a:r>
          </a:p>
        </p:txBody>
      </p:sp>
      <p:sp>
        <p:nvSpPr>
          <p:cNvPr id="55" name="TextBox 54"/>
          <p:cNvSpPr txBox="1"/>
          <p:nvPr/>
        </p:nvSpPr>
        <p:spPr>
          <a:xfrm>
            <a:off x="6720840" y="5330952"/>
            <a:ext cx="3566160" cy="283464"/>
          </a:xfrm>
          <a:prstGeom prst="rect">
            <a:avLst/>
          </a:prstGeom>
          <a:noFill/>
        </p:spPr>
        <p:txBody>
          <a:bodyPr wrap="square" lIns="18288" rIns="18288" tIns="18288" bIns="18288" anchor="ctr">
            <a:spAutoFit/>
          </a:bodyPr>
          <a:lstStyle/>
          <a:p>
            <a:pPr algn="r" rtl="1">
              <a:lnSpc>
                <a:spcPct val="100000"/>
              </a:lnSpc>
              <a:spcAft>
                <a:spcPts val="0"/>
              </a:spcAft>
            </a:pPr>
            <a:r>
              <a:rPr sz="1400" b="0" i="0" lang="ar-DZ" rtl="1">
                <a:solidFill>
                  <a:srgbClr val="17263A"/>
                </a:solidFill>
                <a:latin typeface="Cairo"/>
                <a:cs typeface="Cairo"/>
                <a:ea typeface="Cairo"/>
              </a:rPr>
              <a:t>الإعارة والإرجاع</a:t>
            </a:r>
          </a:p>
        </p:txBody>
      </p:sp>
    </p:spTree>
  </p:cSld>
  <p:clrMapOvr>
    <a:masterClrMapping/>
  </p:clrMapOvr>
  <p:transition spd="med" advClick="1">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ounded Rectangle 1"/>
          <p:cNvSpPr/>
          <p:nvPr/>
        </p:nvSpPr>
        <p:spPr>
          <a:xfrm>
            <a:off x="530352" y="292608"/>
            <a:ext cx="2423160" cy="310896"/>
          </a:xfrm>
          <a:prstGeom prst="roundRect">
            <a:avLst/>
          </a:prstGeom>
          <a:solidFill>
            <a:srgbClr val="10233D"/>
          </a:solidFill>
          <a:ln w="889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1500" y="297180"/>
            <a:ext cx="2340864" cy="301752"/>
          </a:xfrm>
          <a:prstGeom prst="rect">
            <a:avLst/>
          </a:prstGeom>
          <a:noFill/>
        </p:spPr>
        <p:txBody>
          <a:bodyPr wrap="square" lIns="9144" rIns="9144" tIns="9144" bIns="9144" anchor="ctr">
            <a:spAutoFit/>
          </a:bodyPr>
          <a:lstStyle/>
          <a:p>
            <a:pPr algn="ctr" rtl="0">
              <a:lnSpc>
                <a:spcPct val="100000"/>
              </a:lnSpc>
              <a:spcAft>
                <a:spcPts val="0"/>
              </a:spcAft>
            </a:pPr>
            <a:r>
              <a:rPr sz="1050" b="1" i="0" lang="en-US">
                <a:solidFill>
                  <a:srgbClr val="FFFFFF"/>
                </a:solidFill>
                <a:latin typeface="Aptos"/>
                <a:cs typeface="Aptos"/>
                <a:ea typeface="Aptos"/>
              </a:rPr>
              <a:t>01  /  الدراسة</a:t>
            </a:r>
          </a:p>
        </p:txBody>
      </p:sp>
      <p:sp>
        <p:nvSpPr>
          <p:cNvPr id="4" name="Rectangle 3"/>
          <p:cNvSpPr/>
          <p:nvPr/>
        </p:nvSpPr>
        <p:spPr>
          <a:xfrm>
            <a:off x="11594592" y="283464"/>
            <a:ext cx="64008" cy="502920"/>
          </a:xfrm>
          <a:prstGeom prst="rect">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063240" y="182880"/>
            <a:ext cx="8229600" cy="557784"/>
          </a:xfrm>
          <a:prstGeom prst="rect">
            <a:avLst/>
          </a:prstGeom>
          <a:noFill/>
        </p:spPr>
        <p:txBody>
          <a:bodyPr wrap="square" lIns="18288" rIns="18288" tIns="18288" bIns="18288" anchor="ctr">
            <a:spAutoFit/>
          </a:bodyPr>
          <a:lstStyle/>
          <a:p>
            <a:pPr algn="r" rtl="1">
              <a:lnSpc>
                <a:spcPct val="100000"/>
              </a:lnSpc>
              <a:spcAft>
                <a:spcPts val="0"/>
              </a:spcAft>
            </a:pPr>
            <a:r>
              <a:rPr sz="2600" b="1" i="0" lang="ar-DZ" rtl="1">
                <a:solidFill>
                  <a:srgbClr val="10233D"/>
                </a:solidFill>
                <a:latin typeface="Cairo"/>
                <a:cs typeface="Cairo"/>
                <a:ea typeface="Cairo"/>
              </a:rPr>
              <a:t>الإشكالية: عمليات أساسية… لكنها يدوية</a:t>
            </a:r>
          </a:p>
        </p:txBody>
      </p:sp>
      <p:sp>
        <p:nvSpPr>
          <p:cNvPr id="6" name="TextBox 5"/>
          <p:cNvSpPr txBox="1"/>
          <p:nvPr/>
        </p:nvSpPr>
        <p:spPr>
          <a:xfrm>
            <a:off x="3063240" y="731520"/>
            <a:ext cx="8229600" cy="310896"/>
          </a:xfrm>
          <a:prstGeom prst="rect">
            <a:avLst/>
          </a:prstGeom>
          <a:noFill/>
        </p:spPr>
        <p:txBody>
          <a:bodyPr wrap="square" lIns="9144" rIns="9144" tIns="9144" bIns="9144" anchor="ctr">
            <a:spAutoFit/>
          </a:bodyPr>
          <a:lstStyle/>
          <a:p>
            <a:pPr algn="r" rtl="1">
              <a:lnSpc>
                <a:spcPct val="100000"/>
              </a:lnSpc>
              <a:spcAft>
                <a:spcPts val="0"/>
              </a:spcAft>
            </a:pPr>
            <a:r>
              <a:rPr sz="1350" b="0" i="0" lang="ar-DZ" rtl="1">
                <a:solidFill>
                  <a:srgbClr val="617187"/>
                </a:solidFill>
                <a:latin typeface="Cairo"/>
                <a:cs typeface="Cairo"/>
                <a:ea typeface="Cairo"/>
              </a:rPr>
              <a:t>المشكلة ليست نقص المعلومات فقط؛ بل بطء تدفقها وتنظيمها واسترجاعها.</a:t>
            </a:r>
          </a:p>
        </p:txBody>
      </p:sp>
      <p:cxnSp>
        <p:nvCxnSpPr>
          <p:cNvPr id="7" name="Connector 6"/>
          <p:cNvCxnSpPr/>
          <p:nvPr/>
        </p:nvCxnSpPr>
        <p:spPr>
          <a:xfrm>
            <a:off x="530352" y="1170432"/>
            <a:ext cx="11128248" cy="0"/>
          </a:xfrm>
          <a:prstGeom prst="line">
            <a:avLst/>
          </a:prstGeom>
          <a:ln w="10160">
            <a:solidFill>
              <a:srgbClr val="D5DFE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30352" y="6382512"/>
            <a:ext cx="11128248" cy="0"/>
          </a:xfrm>
          <a:prstGeom prst="line">
            <a:avLst/>
          </a:prstGeom>
          <a:ln w="8890">
            <a:solidFill>
              <a:srgbClr val="D5DFEA"/>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03504" y="6437376"/>
            <a:ext cx="8778240" cy="210312"/>
          </a:xfrm>
          <a:prstGeom prst="rect">
            <a:avLst/>
          </a:prstGeom>
          <a:noFill/>
        </p:spPr>
        <p:txBody>
          <a:bodyPr wrap="square" lIns="0" rIns="0" tIns="0" bIns="0" anchor="ctr">
            <a:spAutoFit/>
          </a:bodyPr>
          <a:lstStyle/>
          <a:p>
            <a:pPr algn="l" rtl="1">
              <a:lnSpc>
                <a:spcPct val="100000"/>
              </a:lnSpc>
              <a:spcAft>
                <a:spcPts val="0"/>
              </a:spcAft>
            </a:pPr>
            <a:r>
              <a:rPr sz="850" b="0" i="0" lang="ar-DZ" rtl="1">
                <a:solidFill>
                  <a:srgbClr val="617187"/>
                </a:solidFill>
                <a:latin typeface="Cairo"/>
                <a:cs typeface="Cairo"/>
                <a:ea typeface="Cairo"/>
              </a:rPr>
              <a:t>المصدر: المذكرة، المقدمة، ص 2</a:t>
            </a:r>
          </a:p>
        </p:txBody>
      </p:sp>
      <p:sp>
        <p:nvSpPr>
          <p:cNvPr id="10" name="TextBox 9"/>
          <p:cNvSpPr txBox="1"/>
          <p:nvPr/>
        </p:nvSpPr>
        <p:spPr>
          <a:xfrm>
            <a:off x="10725912" y="6409944"/>
            <a:ext cx="932688" cy="228600"/>
          </a:xfrm>
          <a:prstGeom prst="rect">
            <a:avLst/>
          </a:prstGeom>
          <a:noFill/>
        </p:spPr>
        <p:txBody>
          <a:bodyPr wrap="square" lIns="0" rIns="0" tIns="0" bIns="0" anchor="ctr">
            <a:spAutoFit/>
          </a:bodyPr>
          <a:lstStyle/>
          <a:p>
            <a:pPr algn="l" rtl="0">
              <a:lnSpc>
                <a:spcPct val="100000"/>
              </a:lnSpc>
              <a:spcAft>
                <a:spcPts val="0"/>
              </a:spcAft>
            </a:pPr>
            <a:r>
              <a:rPr sz="950" b="1" i="0" lang="en-US">
                <a:solidFill>
                  <a:srgbClr val="10233D"/>
                </a:solidFill>
                <a:latin typeface="Aptos"/>
                <a:cs typeface="Aptos"/>
                <a:ea typeface="Aptos"/>
              </a:rPr>
              <a:t>03 / 20</a:t>
            </a:r>
          </a:p>
        </p:txBody>
      </p:sp>
      <p:sp>
        <p:nvSpPr>
          <p:cNvPr id="11" name="Rectangle 10"/>
          <p:cNvSpPr/>
          <p:nvPr/>
        </p:nvSpPr>
        <p:spPr>
          <a:xfrm>
            <a:off x="9400032" y="6519672"/>
            <a:ext cx="171450" cy="32004"/>
          </a:xfrm>
          <a:prstGeom prst="rect">
            <a:avLst/>
          </a:prstGeom>
          <a:solidFill>
            <a:srgbClr val="316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42148" y="1879092"/>
            <a:ext cx="3154680" cy="2240280"/>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01000" y="1828800"/>
            <a:ext cx="3154680" cy="2240280"/>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21040" y="2212848"/>
            <a:ext cx="685800" cy="822960"/>
          </a:xfrm>
          <a:prstGeom prst="rect">
            <a:avLst/>
          </a:prstGeom>
          <a:solidFill>
            <a:srgbClr val="E7EFFD"/>
          </a:solidFill>
          <a:ln w="13970">
            <a:solidFill>
              <a:srgbClr val="3167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503920" y="2093976"/>
            <a:ext cx="685800" cy="822960"/>
          </a:xfrm>
          <a:prstGeom prst="rect">
            <a:avLst/>
          </a:prstGeom>
          <a:solidFill>
            <a:srgbClr val="FFFFFF"/>
          </a:solidFill>
          <a:ln w="13970">
            <a:solidFill>
              <a:srgbClr val="3167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8622792" y="2304288"/>
            <a:ext cx="448056" cy="0"/>
          </a:xfrm>
          <a:prstGeom prst="line">
            <a:avLst/>
          </a:prstGeom>
          <a:ln w="12700">
            <a:solidFill>
              <a:srgbClr val="D5DFE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622792" y="2487168"/>
            <a:ext cx="448056" cy="0"/>
          </a:xfrm>
          <a:prstGeom prst="line">
            <a:avLst/>
          </a:prstGeom>
          <a:ln w="12700">
            <a:solidFill>
              <a:srgbClr val="D5DFE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622792" y="2670048"/>
            <a:ext cx="448056" cy="0"/>
          </a:xfrm>
          <a:prstGeom prst="line">
            <a:avLst/>
          </a:prstGeom>
          <a:ln w="12700">
            <a:solidFill>
              <a:srgbClr val="D5DFE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9262872" y="2221992"/>
            <a:ext cx="1664208" cy="365760"/>
          </a:xfrm>
          <a:prstGeom prst="rect">
            <a:avLst/>
          </a:prstGeom>
          <a:noFill/>
        </p:spPr>
        <p:txBody>
          <a:bodyPr wrap="square" lIns="18288" rIns="18288" tIns="18288" bIns="18288" anchor="ctr">
            <a:spAutoFit/>
          </a:bodyPr>
          <a:lstStyle/>
          <a:p>
            <a:pPr algn="r" rtl="1">
              <a:lnSpc>
                <a:spcPct val="100000"/>
              </a:lnSpc>
              <a:spcAft>
                <a:spcPts val="0"/>
              </a:spcAft>
            </a:pPr>
            <a:r>
              <a:rPr sz="1700" b="1" i="0" lang="ar-DZ" rtl="1">
                <a:solidFill>
                  <a:srgbClr val="10233D"/>
                </a:solidFill>
                <a:latin typeface="Cairo"/>
                <a:cs typeface="Cairo"/>
                <a:ea typeface="Cairo"/>
              </a:rPr>
              <a:t>الطريقة اليدوية</a:t>
            </a:r>
          </a:p>
        </p:txBody>
      </p:sp>
      <p:sp>
        <p:nvSpPr>
          <p:cNvPr id="20" name="TextBox 19"/>
          <p:cNvSpPr txBox="1"/>
          <p:nvPr/>
        </p:nvSpPr>
        <p:spPr>
          <a:xfrm>
            <a:off x="9262872" y="2715768"/>
            <a:ext cx="1664208" cy="475488"/>
          </a:xfrm>
          <a:prstGeom prst="rect">
            <a:avLst/>
          </a:prstGeom>
          <a:noFill/>
        </p:spPr>
        <p:txBody>
          <a:bodyPr wrap="square" lIns="18288" rIns="18288" tIns="18288" bIns="18288" anchor="ctr">
            <a:spAutoFit/>
          </a:bodyPr>
          <a:lstStyle/>
          <a:p>
            <a:pPr algn="r" rtl="1">
              <a:lnSpc>
                <a:spcPct val="100000"/>
              </a:lnSpc>
              <a:spcAft>
                <a:spcPts val="0"/>
              </a:spcAft>
            </a:pPr>
            <a:r>
              <a:rPr sz="1250" b="0" i="0" lang="ar-DZ" rtl="1">
                <a:solidFill>
                  <a:srgbClr val="617187"/>
                </a:solidFill>
                <a:latin typeface="Cairo"/>
                <a:cs typeface="Cairo"/>
                <a:ea typeface="Cairo"/>
              </a:rPr>
              <a:t>تتكرر مع كل معاملة</a:t>
            </a:r>
          </a:p>
        </p:txBody>
      </p:sp>
      <p:sp>
        <p:nvSpPr>
          <p:cNvPr id="21" name="TextBox 20"/>
          <p:cNvSpPr txBox="1"/>
          <p:nvPr/>
        </p:nvSpPr>
        <p:spPr>
          <a:xfrm>
            <a:off x="8165592" y="1920240"/>
            <a:ext cx="2788920" cy="274320"/>
          </a:xfrm>
          <a:prstGeom prst="rect">
            <a:avLst/>
          </a:prstGeom>
          <a:noFill/>
        </p:spPr>
        <p:txBody>
          <a:bodyPr wrap="square" lIns="18288" rIns="18288" tIns="18288" bIns="18288" anchor="ctr">
            <a:spAutoFit/>
          </a:bodyPr>
          <a:lstStyle/>
          <a:p>
            <a:pPr algn="r" rtl="1">
              <a:lnSpc>
                <a:spcPct val="100000"/>
              </a:lnSpc>
              <a:spcAft>
                <a:spcPts val="0"/>
              </a:spcAft>
            </a:pPr>
            <a:r>
              <a:rPr sz="1300" b="1" i="0" lang="ar-DZ" rtl="1">
                <a:solidFill>
                  <a:srgbClr val="3167D5"/>
                </a:solidFill>
                <a:latin typeface="Cairo"/>
                <a:cs typeface="Cairo"/>
                <a:ea typeface="Cairo"/>
              </a:rPr>
              <a:t>النظام الحالي</a:t>
            </a:r>
          </a:p>
        </p:txBody>
      </p:sp>
      <p:sp>
        <p:nvSpPr>
          <p:cNvPr id="22" name="Rounded Rectangle 21"/>
          <p:cNvSpPr/>
          <p:nvPr/>
        </p:nvSpPr>
        <p:spPr>
          <a:xfrm>
            <a:off x="4293108" y="1879092"/>
            <a:ext cx="3154680" cy="2240280"/>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251960" y="1828800"/>
            <a:ext cx="3154680" cy="2240280"/>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62272" y="2084831"/>
            <a:ext cx="2724912" cy="1115568"/>
          </a:xfrm>
          <a:prstGeom prst="rect">
            <a:avLst/>
          </a:prstGeom>
          <a:noFill/>
        </p:spPr>
        <p:txBody>
          <a:bodyPr wrap="square" lIns="18288" rIns="18288" tIns="18288" bIns="18288" anchor="ctr">
            <a:spAutoFit/>
          </a:bodyPr>
          <a:lstStyle/>
          <a:p>
            <a:pPr algn="r" rtl="1">
              <a:lnSpc>
                <a:spcPct val="115000"/>
              </a:lnSpc>
              <a:spcAft>
                <a:spcPts val="0"/>
              </a:spcAft>
            </a:pPr>
            <a:r>
              <a:rPr sz="1800" b="1" i="0" lang="ar-DZ" rtl="1">
                <a:solidFill>
                  <a:srgbClr val="10233D"/>
                </a:solidFill>
                <a:latin typeface="Cairo"/>
                <a:cs typeface="Cairo"/>
                <a:ea typeface="Cairo"/>
              </a:rPr>
              <a:t>تسجيل • إعارة • إرجاع</a:t>
            </a:r>
            <a:br/>
            <a:r>
              <a:rPr sz="1800" b="1" i="0" lang="ar-DZ" rtl="1">
                <a:solidFill>
                  <a:srgbClr val="10233D"/>
                </a:solidFill>
                <a:latin typeface="Cairo"/>
                <a:cs typeface="Cairo"/>
                <a:ea typeface="Cairo"/>
              </a:rPr>
              <a:t>بحث وتنظيم البيانات</a:t>
            </a:r>
          </a:p>
        </p:txBody>
      </p:sp>
      <p:sp>
        <p:nvSpPr>
          <p:cNvPr id="25" name="Rounded Rectangle 24"/>
          <p:cNvSpPr/>
          <p:nvPr/>
        </p:nvSpPr>
        <p:spPr>
          <a:xfrm>
            <a:off x="4526280" y="3410712"/>
            <a:ext cx="1143000" cy="347472"/>
          </a:xfrm>
          <a:prstGeom prst="roundRect">
            <a:avLst/>
          </a:prstGeom>
          <a:solidFill>
            <a:srgbClr val="F8F0DF"/>
          </a:solidFill>
          <a:ln w="8890">
            <a:solidFill>
              <a:srgbClr val="F8F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67428" y="3415284"/>
            <a:ext cx="1060704" cy="338328"/>
          </a:xfrm>
          <a:prstGeom prst="rect">
            <a:avLst/>
          </a:prstGeom>
          <a:noFill/>
        </p:spPr>
        <p:txBody>
          <a:bodyPr wrap="square" lIns="9144" rIns="9144" tIns="9144" bIns="9144" anchor="ctr">
            <a:spAutoFit/>
          </a:bodyPr>
          <a:lstStyle/>
          <a:p>
            <a:pPr algn="ctr" rtl="1">
              <a:lnSpc>
                <a:spcPct val="100000"/>
              </a:lnSpc>
              <a:spcAft>
                <a:spcPts val="0"/>
              </a:spcAft>
            </a:pPr>
            <a:r>
              <a:rPr sz="1100" b="1" i="0" lang="ar-DZ" rtl="1">
                <a:solidFill>
                  <a:srgbClr val="10233D"/>
                </a:solidFill>
                <a:latin typeface="Cairo"/>
                <a:cs typeface="Cairo"/>
                <a:ea typeface="Cairo"/>
              </a:rPr>
              <a:t>وقت طويل</a:t>
            </a:r>
          </a:p>
        </p:txBody>
      </p:sp>
      <p:sp>
        <p:nvSpPr>
          <p:cNvPr id="27" name="Rounded Rectangle 26"/>
          <p:cNvSpPr/>
          <p:nvPr/>
        </p:nvSpPr>
        <p:spPr>
          <a:xfrm>
            <a:off x="5824728" y="3410712"/>
            <a:ext cx="1261872" cy="347472"/>
          </a:xfrm>
          <a:prstGeom prst="roundRect">
            <a:avLst/>
          </a:prstGeom>
          <a:solidFill>
            <a:srgbClr val="E7EFFD"/>
          </a:solidFill>
          <a:ln w="8890">
            <a:solidFill>
              <a:srgbClr val="E7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865876" y="3415284"/>
            <a:ext cx="1179575" cy="338328"/>
          </a:xfrm>
          <a:prstGeom prst="rect">
            <a:avLst/>
          </a:prstGeom>
          <a:noFill/>
        </p:spPr>
        <p:txBody>
          <a:bodyPr wrap="square" lIns="9144" rIns="9144" tIns="9144" bIns="9144" anchor="ctr">
            <a:spAutoFit/>
          </a:bodyPr>
          <a:lstStyle/>
          <a:p>
            <a:pPr algn="ctr" rtl="1">
              <a:lnSpc>
                <a:spcPct val="100000"/>
              </a:lnSpc>
              <a:spcAft>
                <a:spcPts val="0"/>
              </a:spcAft>
            </a:pPr>
            <a:r>
              <a:rPr sz="1100" b="1" i="0" lang="ar-DZ" rtl="1">
                <a:solidFill>
                  <a:srgbClr val="10233D"/>
                </a:solidFill>
                <a:latin typeface="Cairo"/>
                <a:cs typeface="Cairo"/>
                <a:ea typeface="Cairo"/>
              </a:rPr>
              <a:t>تنظيم بطيء</a:t>
            </a:r>
          </a:p>
        </p:txBody>
      </p:sp>
      <p:sp>
        <p:nvSpPr>
          <p:cNvPr id="29" name="TextBox 28"/>
          <p:cNvSpPr txBox="1"/>
          <p:nvPr/>
        </p:nvSpPr>
        <p:spPr>
          <a:xfrm>
            <a:off x="4416552" y="1920240"/>
            <a:ext cx="2788920" cy="274320"/>
          </a:xfrm>
          <a:prstGeom prst="rect">
            <a:avLst/>
          </a:prstGeom>
          <a:noFill/>
        </p:spPr>
        <p:txBody>
          <a:bodyPr wrap="square" lIns="18288" rIns="18288" tIns="18288" bIns="18288" anchor="ctr">
            <a:spAutoFit/>
          </a:bodyPr>
          <a:lstStyle/>
          <a:p>
            <a:pPr algn="r" rtl="1">
              <a:lnSpc>
                <a:spcPct val="100000"/>
              </a:lnSpc>
              <a:spcAft>
                <a:spcPts val="0"/>
              </a:spcAft>
            </a:pPr>
            <a:r>
              <a:rPr sz="1300" b="1" i="0" lang="ar-DZ" rtl="1">
                <a:solidFill>
                  <a:srgbClr val="3167D5"/>
                </a:solidFill>
                <a:latin typeface="Cairo"/>
                <a:cs typeface="Cairo"/>
                <a:ea typeface="Cairo"/>
              </a:rPr>
              <a:t>نقاط التعثر</a:t>
            </a:r>
          </a:p>
        </p:txBody>
      </p:sp>
      <p:sp>
        <p:nvSpPr>
          <p:cNvPr id="30" name="Rounded Rectangle 29"/>
          <p:cNvSpPr/>
          <p:nvPr/>
        </p:nvSpPr>
        <p:spPr>
          <a:xfrm>
            <a:off x="635508" y="1879092"/>
            <a:ext cx="3154680" cy="2240280"/>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594360" y="1828800"/>
            <a:ext cx="3154680" cy="2240280"/>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2157984"/>
            <a:ext cx="2788920" cy="850392"/>
          </a:xfrm>
          <a:prstGeom prst="rect">
            <a:avLst/>
          </a:prstGeom>
          <a:noFill/>
        </p:spPr>
        <p:txBody>
          <a:bodyPr wrap="square" lIns="18288" rIns="18288" tIns="18288" bIns="18288" anchor="ctr">
            <a:spAutoFit/>
          </a:bodyPr>
          <a:lstStyle/>
          <a:p>
            <a:pPr algn="r" rtl="1">
              <a:lnSpc>
                <a:spcPct val="110000"/>
              </a:lnSpc>
              <a:spcAft>
                <a:spcPts val="0"/>
              </a:spcAft>
            </a:pPr>
            <a:r>
              <a:rPr sz="1600" b="1" i="0" lang="ar-DZ" rtl="1">
                <a:solidFill>
                  <a:srgbClr val="10233D"/>
                </a:solidFill>
                <a:latin typeface="Cairo"/>
                <a:cs typeface="Cairo"/>
                <a:ea typeface="Cairo"/>
              </a:rPr>
              <a:t>تكدّس الطلبات</a:t>
            </a:r>
            <a:br/>
            <a:r>
              <a:rPr sz="1600" b="1" i="0" lang="ar-DZ" rtl="1">
                <a:solidFill>
                  <a:srgbClr val="10233D"/>
                </a:solidFill>
                <a:latin typeface="Cairo"/>
                <a:cs typeface="Cairo"/>
                <a:ea typeface="Cairo"/>
              </a:rPr>
              <a:t>وصعوبة الوصول للمعلومة</a:t>
            </a:r>
          </a:p>
        </p:txBody>
      </p:sp>
      <p:sp>
        <p:nvSpPr>
          <p:cNvPr id="33" name="TextBox 32"/>
          <p:cNvSpPr txBox="1"/>
          <p:nvPr/>
        </p:nvSpPr>
        <p:spPr>
          <a:xfrm>
            <a:off x="795528" y="3090672"/>
            <a:ext cx="2743200" cy="475488"/>
          </a:xfrm>
          <a:prstGeom prst="rect">
            <a:avLst/>
          </a:prstGeom>
          <a:noFill/>
        </p:spPr>
        <p:txBody>
          <a:bodyPr wrap="square" lIns="18288" rIns="18288" tIns="18288" bIns="18288" anchor="ctr">
            <a:spAutoFit/>
          </a:bodyPr>
          <a:lstStyle/>
          <a:p>
            <a:pPr algn="r" rtl="1">
              <a:lnSpc>
                <a:spcPct val="100000"/>
              </a:lnSpc>
              <a:spcAft>
                <a:spcPts val="0"/>
              </a:spcAft>
            </a:pPr>
            <a:r>
              <a:rPr sz="1250" b="0" i="0" lang="ar-DZ" rtl="1">
                <a:solidFill>
                  <a:srgbClr val="617187"/>
                </a:solidFill>
                <a:latin typeface="Cairo"/>
                <a:cs typeface="Cairo"/>
                <a:ea typeface="Cairo"/>
              </a:rPr>
              <a:t>إحصاءات وتقارير تستغرق وقتًا كبيرًا</a:t>
            </a:r>
          </a:p>
        </p:txBody>
      </p:sp>
      <p:sp>
        <p:nvSpPr>
          <p:cNvPr id="34" name="TextBox 33"/>
          <p:cNvSpPr txBox="1"/>
          <p:nvPr/>
        </p:nvSpPr>
        <p:spPr>
          <a:xfrm>
            <a:off x="758952" y="1920240"/>
            <a:ext cx="2788920" cy="274320"/>
          </a:xfrm>
          <a:prstGeom prst="rect">
            <a:avLst/>
          </a:prstGeom>
          <a:noFill/>
        </p:spPr>
        <p:txBody>
          <a:bodyPr wrap="square" lIns="18288" rIns="18288" tIns="18288" bIns="18288" anchor="ctr">
            <a:spAutoFit/>
          </a:bodyPr>
          <a:lstStyle/>
          <a:p>
            <a:pPr algn="r" rtl="1">
              <a:lnSpc>
                <a:spcPct val="100000"/>
              </a:lnSpc>
              <a:spcAft>
                <a:spcPts val="0"/>
              </a:spcAft>
            </a:pPr>
            <a:r>
              <a:rPr sz="1300" b="1" i="0" lang="ar-DZ" rtl="1">
                <a:solidFill>
                  <a:srgbClr val="3167D5"/>
                </a:solidFill>
                <a:latin typeface="Cairo"/>
                <a:cs typeface="Cairo"/>
                <a:ea typeface="Cairo"/>
              </a:rPr>
              <a:t>الأثر</a:t>
            </a:r>
          </a:p>
        </p:txBody>
      </p:sp>
      <p:cxnSp>
        <p:nvCxnSpPr>
          <p:cNvPr id="35" name="Connector 34"/>
          <p:cNvCxnSpPr/>
          <p:nvPr/>
        </p:nvCxnSpPr>
        <p:spPr>
          <a:xfrm flipH="1">
            <a:off x="7479792" y="2907792"/>
            <a:ext cx="365760" cy="0"/>
          </a:xfrm>
          <a:prstGeom prst="line">
            <a:avLst/>
          </a:prstGeom>
          <a:ln w="27940">
            <a:solidFill>
              <a:srgbClr val="DCA74C"/>
            </a:solidFill>
          </a:ln>
        </p:spPr>
        <p:style>
          <a:lnRef idx="2">
            <a:schemeClr val="accent1"/>
          </a:lnRef>
          <a:fillRef idx="0">
            <a:schemeClr val="accent1"/>
          </a:fillRef>
          <a:effectRef idx="1">
            <a:schemeClr val="accent1"/>
          </a:effectRef>
          <a:fontRef idx="minor">
            <a:schemeClr val="tx1"/>
          </a:fontRef>
        </p:style>
      </p:cxnSp>
      <p:sp>
        <p:nvSpPr>
          <p:cNvPr id="36" name="Isosceles Triangle 35"/>
          <p:cNvSpPr/>
          <p:nvPr/>
        </p:nvSpPr>
        <p:spPr>
          <a:xfrm rot="16200000">
            <a:off x="7415783" y="2843784"/>
            <a:ext cx="128016" cy="128016"/>
          </a:xfrm>
          <a:prstGeom prst="triangle">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Connector 36"/>
          <p:cNvCxnSpPr/>
          <p:nvPr/>
        </p:nvCxnSpPr>
        <p:spPr>
          <a:xfrm flipH="1">
            <a:off x="3749039" y="2907792"/>
            <a:ext cx="347473" cy="0"/>
          </a:xfrm>
          <a:prstGeom prst="line">
            <a:avLst/>
          </a:prstGeom>
          <a:ln w="27940">
            <a:solidFill>
              <a:srgbClr val="DCA74C"/>
            </a:solidFill>
          </a:ln>
        </p:spPr>
        <p:style>
          <a:lnRef idx="2">
            <a:schemeClr val="accent1"/>
          </a:lnRef>
          <a:fillRef idx="0">
            <a:schemeClr val="accent1"/>
          </a:fillRef>
          <a:effectRef idx="1">
            <a:schemeClr val="accent1"/>
          </a:effectRef>
          <a:fontRef idx="minor">
            <a:schemeClr val="tx1"/>
          </a:fontRef>
        </p:style>
      </p:cxnSp>
      <p:sp>
        <p:nvSpPr>
          <p:cNvPr id="38" name="Isosceles Triangle 37"/>
          <p:cNvSpPr/>
          <p:nvPr/>
        </p:nvSpPr>
        <p:spPr>
          <a:xfrm rot="16200000">
            <a:off x="3685031" y="2843784"/>
            <a:ext cx="128016" cy="128016"/>
          </a:xfrm>
          <a:prstGeom prst="triangle">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21792" y="4590288"/>
            <a:ext cx="10945368" cy="1115568"/>
          </a:xfrm>
          <a:prstGeom prst="roundRect">
            <a:avLst/>
          </a:prstGeom>
          <a:solidFill>
            <a:srgbClr val="10233D"/>
          </a:solidFill>
          <a:ln w="1016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9912096" y="4791456"/>
            <a:ext cx="1280160" cy="301752"/>
          </a:xfrm>
          <a:prstGeom prst="roundRect">
            <a:avLst/>
          </a:prstGeom>
          <a:solidFill>
            <a:srgbClr val="244A78"/>
          </a:solidFill>
          <a:ln w="8890">
            <a:solidFill>
              <a:srgbClr val="24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953244" y="4796028"/>
            <a:ext cx="1197863" cy="292608"/>
          </a:xfrm>
          <a:prstGeom prst="rect">
            <a:avLst/>
          </a:prstGeom>
          <a:noFill/>
        </p:spPr>
        <p:txBody>
          <a:bodyPr wrap="square" lIns="9144" rIns="9144" tIns="9144" bIns="9144" anchor="ctr">
            <a:spAutoFit/>
          </a:bodyPr>
          <a:lstStyle/>
          <a:p>
            <a:pPr algn="ctr" rtl="1">
              <a:lnSpc>
                <a:spcPct val="100000"/>
              </a:lnSpc>
              <a:spcAft>
                <a:spcPts val="0"/>
              </a:spcAft>
            </a:pPr>
            <a:r>
              <a:rPr sz="1100" b="1" i="0" lang="ar-DZ" rtl="1">
                <a:solidFill>
                  <a:srgbClr val="FFFFFF"/>
                </a:solidFill>
                <a:latin typeface="Cairo"/>
                <a:cs typeface="Cairo"/>
                <a:ea typeface="Cairo"/>
              </a:rPr>
              <a:t>سؤال الدراسة</a:t>
            </a:r>
          </a:p>
        </p:txBody>
      </p:sp>
      <p:sp>
        <p:nvSpPr>
          <p:cNvPr id="42" name="TextBox 41"/>
          <p:cNvSpPr txBox="1"/>
          <p:nvPr/>
        </p:nvSpPr>
        <p:spPr>
          <a:xfrm>
            <a:off x="987552" y="5129784"/>
            <a:ext cx="10058400" cy="411480"/>
          </a:xfrm>
          <a:prstGeom prst="rect">
            <a:avLst/>
          </a:prstGeom>
          <a:noFill/>
        </p:spPr>
        <p:txBody>
          <a:bodyPr wrap="square" lIns="18288" rIns="18288" tIns="18288" bIns="18288" anchor="ctr">
            <a:spAutoFit/>
          </a:bodyPr>
          <a:lstStyle/>
          <a:p>
            <a:pPr algn="r" rtl="1">
              <a:lnSpc>
                <a:spcPct val="100000"/>
              </a:lnSpc>
              <a:spcAft>
                <a:spcPts val="0"/>
              </a:spcAft>
            </a:pPr>
            <a:r>
              <a:rPr sz="2100" b="1" i="0" lang="ar-DZ" rtl="1">
                <a:solidFill>
                  <a:srgbClr val="FFFFFF"/>
                </a:solidFill>
                <a:latin typeface="Cairo"/>
                <a:cs typeface="Cairo"/>
                <a:ea typeface="Cairo"/>
              </a:rPr>
              <a:t>كيف نُسيّر المكتبة بفعالية، مع دقة وسرعة في العمليات والمعلومات؟</a:t>
            </a:r>
          </a:p>
        </p:txBody>
      </p:sp>
    </p:spTree>
  </p:cSld>
  <p:clrMapOvr>
    <a:masterClrMapping/>
  </p:clrMapOvr>
  <p:transition spd="med"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ounded Rectangle 1"/>
          <p:cNvSpPr/>
          <p:nvPr/>
        </p:nvSpPr>
        <p:spPr>
          <a:xfrm>
            <a:off x="530352" y="292608"/>
            <a:ext cx="2423160" cy="310896"/>
          </a:xfrm>
          <a:prstGeom prst="roundRect">
            <a:avLst/>
          </a:prstGeom>
          <a:solidFill>
            <a:srgbClr val="10233D"/>
          </a:solidFill>
          <a:ln w="889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1500" y="297180"/>
            <a:ext cx="2340864" cy="301752"/>
          </a:xfrm>
          <a:prstGeom prst="rect">
            <a:avLst/>
          </a:prstGeom>
          <a:noFill/>
        </p:spPr>
        <p:txBody>
          <a:bodyPr wrap="square" lIns="9144" rIns="9144" tIns="9144" bIns="9144" anchor="ctr">
            <a:spAutoFit/>
          </a:bodyPr>
          <a:lstStyle/>
          <a:p>
            <a:pPr algn="ctr" rtl="0">
              <a:lnSpc>
                <a:spcPct val="100000"/>
              </a:lnSpc>
              <a:spcAft>
                <a:spcPts val="0"/>
              </a:spcAft>
            </a:pPr>
            <a:r>
              <a:rPr sz="1050" b="1" i="0" lang="en-US">
                <a:solidFill>
                  <a:srgbClr val="FFFFFF"/>
                </a:solidFill>
                <a:latin typeface="Aptos"/>
                <a:cs typeface="Aptos"/>
                <a:ea typeface="Aptos"/>
              </a:rPr>
              <a:t>01  /  الدراسة</a:t>
            </a:r>
          </a:p>
        </p:txBody>
      </p:sp>
      <p:sp>
        <p:nvSpPr>
          <p:cNvPr id="4" name="Rectangle 3"/>
          <p:cNvSpPr/>
          <p:nvPr/>
        </p:nvSpPr>
        <p:spPr>
          <a:xfrm>
            <a:off x="11594592" y="283464"/>
            <a:ext cx="64008" cy="502920"/>
          </a:xfrm>
          <a:prstGeom prst="rect">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063240" y="182880"/>
            <a:ext cx="8229600" cy="557784"/>
          </a:xfrm>
          <a:prstGeom prst="rect">
            <a:avLst/>
          </a:prstGeom>
          <a:noFill/>
        </p:spPr>
        <p:txBody>
          <a:bodyPr wrap="square" lIns="18288" rIns="18288" tIns="18288" bIns="18288" anchor="ctr">
            <a:spAutoFit/>
          </a:bodyPr>
          <a:lstStyle/>
          <a:p>
            <a:pPr algn="r" rtl="1">
              <a:lnSpc>
                <a:spcPct val="100000"/>
              </a:lnSpc>
              <a:spcAft>
                <a:spcPts val="0"/>
              </a:spcAft>
            </a:pPr>
            <a:r>
              <a:rPr sz="2600" b="1" i="0" lang="ar-DZ" rtl="1">
                <a:solidFill>
                  <a:srgbClr val="10233D"/>
                </a:solidFill>
                <a:latin typeface="Cairo"/>
                <a:cs typeface="Cairo"/>
                <a:ea typeface="Cairo"/>
              </a:rPr>
              <a:t>من السجل الورقي إلى نظام معلوماتي</a:t>
            </a:r>
          </a:p>
        </p:txBody>
      </p:sp>
      <p:sp>
        <p:nvSpPr>
          <p:cNvPr id="6" name="TextBox 5"/>
          <p:cNvSpPr txBox="1"/>
          <p:nvPr/>
        </p:nvSpPr>
        <p:spPr>
          <a:xfrm>
            <a:off x="3063240" y="731520"/>
            <a:ext cx="8229600" cy="310896"/>
          </a:xfrm>
          <a:prstGeom prst="rect">
            <a:avLst/>
          </a:prstGeom>
          <a:noFill/>
        </p:spPr>
        <p:txBody>
          <a:bodyPr wrap="square" lIns="9144" rIns="9144" tIns="9144" bIns="9144" anchor="ctr">
            <a:spAutoFit/>
          </a:bodyPr>
          <a:lstStyle/>
          <a:p>
            <a:pPr algn="r" rtl="1">
              <a:lnSpc>
                <a:spcPct val="100000"/>
              </a:lnSpc>
              <a:spcAft>
                <a:spcPts val="0"/>
              </a:spcAft>
            </a:pPr>
            <a:r>
              <a:rPr sz="1350" b="0" i="0" lang="ar-DZ" rtl="1">
                <a:solidFill>
                  <a:srgbClr val="617187"/>
                </a:solidFill>
                <a:latin typeface="Cairo"/>
                <a:cs typeface="Cairo"/>
                <a:ea typeface="Cairo"/>
              </a:rPr>
              <a:t>الغاية: تحويل بيانات المكتبة إلى عمليات منظمة وقابلة للمعالجة والاسترجاع.</a:t>
            </a:r>
          </a:p>
        </p:txBody>
      </p:sp>
      <p:cxnSp>
        <p:nvCxnSpPr>
          <p:cNvPr id="7" name="Connector 6"/>
          <p:cNvCxnSpPr/>
          <p:nvPr/>
        </p:nvCxnSpPr>
        <p:spPr>
          <a:xfrm>
            <a:off x="530352" y="1170432"/>
            <a:ext cx="11128248" cy="0"/>
          </a:xfrm>
          <a:prstGeom prst="line">
            <a:avLst/>
          </a:prstGeom>
          <a:ln w="10160">
            <a:solidFill>
              <a:srgbClr val="D5DFE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30352" y="6382512"/>
            <a:ext cx="11128248" cy="0"/>
          </a:xfrm>
          <a:prstGeom prst="line">
            <a:avLst/>
          </a:prstGeom>
          <a:ln w="8890">
            <a:solidFill>
              <a:srgbClr val="D5DFEA"/>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03504" y="6437376"/>
            <a:ext cx="8778240" cy="210312"/>
          </a:xfrm>
          <a:prstGeom prst="rect">
            <a:avLst/>
          </a:prstGeom>
          <a:noFill/>
        </p:spPr>
        <p:txBody>
          <a:bodyPr wrap="square" lIns="0" rIns="0" tIns="0" bIns="0" anchor="ctr">
            <a:spAutoFit/>
          </a:bodyPr>
          <a:lstStyle/>
          <a:p>
            <a:pPr algn="l" rtl="1">
              <a:lnSpc>
                <a:spcPct val="100000"/>
              </a:lnSpc>
              <a:spcAft>
                <a:spcPts val="0"/>
              </a:spcAft>
            </a:pPr>
            <a:r>
              <a:rPr sz="850" b="0" i="0" lang="ar-DZ" rtl="1">
                <a:solidFill>
                  <a:srgbClr val="617187"/>
                </a:solidFill>
                <a:latin typeface="Cairo"/>
                <a:cs typeface="Cairo"/>
                <a:ea typeface="Cairo"/>
              </a:rPr>
              <a:t>المصدر: المذكرة، المقدمة، ص 2–3</a:t>
            </a:r>
          </a:p>
        </p:txBody>
      </p:sp>
      <p:sp>
        <p:nvSpPr>
          <p:cNvPr id="10" name="TextBox 9"/>
          <p:cNvSpPr txBox="1"/>
          <p:nvPr/>
        </p:nvSpPr>
        <p:spPr>
          <a:xfrm>
            <a:off x="10725912" y="6409944"/>
            <a:ext cx="932688" cy="228600"/>
          </a:xfrm>
          <a:prstGeom prst="rect">
            <a:avLst/>
          </a:prstGeom>
          <a:noFill/>
        </p:spPr>
        <p:txBody>
          <a:bodyPr wrap="square" lIns="0" rIns="0" tIns="0" bIns="0" anchor="ctr">
            <a:spAutoFit/>
          </a:bodyPr>
          <a:lstStyle/>
          <a:p>
            <a:pPr algn="l" rtl="0">
              <a:lnSpc>
                <a:spcPct val="100000"/>
              </a:lnSpc>
              <a:spcAft>
                <a:spcPts val="0"/>
              </a:spcAft>
            </a:pPr>
            <a:r>
              <a:rPr sz="950" b="1" i="0" lang="en-US">
                <a:solidFill>
                  <a:srgbClr val="10233D"/>
                </a:solidFill>
                <a:latin typeface="Aptos"/>
                <a:cs typeface="Aptos"/>
                <a:ea typeface="Aptos"/>
              </a:rPr>
              <a:t>04 / 20</a:t>
            </a:r>
          </a:p>
        </p:txBody>
      </p:sp>
      <p:sp>
        <p:nvSpPr>
          <p:cNvPr id="11" name="Rectangle 10"/>
          <p:cNvSpPr/>
          <p:nvPr/>
        </p:nvSpPr>
        <p:spPr>
          <a:xfrm>
            <a:off x="9400032" y="6519672"/>
            <a:ext cx="228600" cy="32004"/>
          </a:xfrm>
          <a:prstGeom prst="rect">
            <a:avLst/>
          </a:prstGeom>
          <a:solidFill>
            <a:srgbClr val="316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19672" y="1572768"/>
            <a:ext cx="4983480" cy="2971800"/>
          </a:xfrm>
          <a:prstGeom prst="roundRect">
            <a:avLst/>
          </a:prstGeom>
          <a:solidFill>
            <a:srgbClr val="10233D"/>
          </a:solidFill>
          <a:ln w="1016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811512" y="1810512"/>
            <a:ext cx="1234440" cy="310896"/>
          </a:xfrm>
          <a:prstGeom prst="roundRect">
            <a:avLst/>
          </a:prstGeom>
          <a:solidFill>
            <a:srgbClr val="244A78"/>
          </a:solidFill>
          <a:ln w="8890">
            <a:solidFill>
              <a:srgbClr val="24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852660" y="1815084"/>
            <a:ext cx="1152144" cy="301752"/>
          </a:xfrm>
          <a:prstGeom prst="rect">
            <a:avLst/>
          </a:prstGeom>
          <a:noFill/>
        </p:spPr>
        <p:txBody>
          <a:bodyPr wrap="square" lIns="9144" rIns="9144" tIns="9144" bIns="9144" anchor="ctr">
            <a:spAutoFit/>
          </a:bodyPr>
          <a:lstStyle/>
          <a:p>
            <a:pPr algn="ctr" rtl="0">
              <a:lnSpc>
                <a:spcPct val="100000"/>
              </a:lnSpc>
              <a:spcAft>
                <a:spcPts val="0"/>
              </a:spcAft>
            </a:pPr>
            <a:r>
              <a:rPr sz="1050" b="1" i="0" lang="en-US">
                <a:solidFill>
                  <a:srgbClr val="D6E1EF"/>
                </a:solidFill>
                <a:latin typeface="Aptos"/>
                <a:cs typeface="Aptos"/>
                <a:ea typeface="Aptos"/>
              </a:rPr>
              <a:t>CURRENT</a:t>
            </a:r>
          </a:p>
        </p:txBody>
      </p:sp>
      <p:sp>
        <p:nvSpPr>
          <p:cNvPr id="15" name="TextBox 14"/>
          <p:cNvSpPr txBox="1"/>
          <p:nvPr/>
        </p:nvSpPr>
        <p:spPr>
          <a:xfrm>
            <a:off x="7479792" y="2267712"/>
            <a:ext cx="3584448" cy="365760"/>
          </a:xfrm>
          <a:prstGeom prst="rect">
            <a:avLst/>
          </a:prstGeom>
          <a:noFill/>
        </p:spPr>
        <p:txBody>
          <a:bodyPr wrap="square" lIns="18288" rIns="18288" tIns="18288" bIns="18288" anchor="ctr">
            <a:spAutoFit/>
          </a:bodyPr>
          <a:lstStyle/>
          <a:p>
            <a:pPr algn="r" rtl="1">
              <a:lnSpc>
                <a:spcPct val="100000"/>
              </a:lnSpc>
              <a:spcAft>
                <a:spcPts val="0"/>
              </a:spcAft>
            </a:pPr>
            <a:r>
              <a:rPr sz="2000" b="1" i="0" lang="ar-DZ" rtl="1">
                <a:solidFill>
                  <a:srgbClr val="FFFFFF"/>
                </a:solidFill>
                <a:latin typeface="Cairo"/>
                <a:cs typeface="Cairo"/>
                <a:ea typeface="Cairo"/>
              </a:rPr>
              <a:t>الطريقة الحالية</a:t>
            </a:r>
          </a:p>
        </p:txBody>
      </p:sp>
      <p:sp>
        <p:nvSpPr>
          <p:cNvPr id="16" name="Oval 15"/>
          <p:cNvSpPr/>
          <p:nvPr/>
        </p:nvSpPr>
        <p:spPr>
          <a:xfrm>
            <a:off x="10652760" y="2862072"/>
            <a:ext cx="73152" cy="73152"/>
          </a:xfrm>
          <a:prstGeom prst="ellipse">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22592" y="2761488"/>
            <a:ext cx="3401568" cy="274320"/>
          </a:xfrm>
          <a:prstGeom prst="rect">
            <a:avLst/>
          </a:prstGeom>
          <a:noFill/>
        </p:spPr>
        <p:txBody>
          <a:bodyPr wrap="square" lIns="18288" rIns="18288" tIns="18288" bIns="18288" anchor="ctr">
            <a:spAutoFit/>
          </a:bodyPr>
          <a:lstStyle/>
          <a:p>
            <a:pPr algn="r" rtl="1">
              <a:lnSpc>
                <a:spcPct val="100000"/>
              </a:lnSpc>
              <a:spcAft>
                <a:spcPts val="0"/>
              </a:spcAft>
            </a:pPr>
            <a:r>
              <a:rPr sz="1400" b="0" i="0" lang="ar-DZ" rtl="1">
                <a:solidFill>
                  <a:srgbClr val="D8E3F0"/>
                </a:solidFill>
                <a:latin typeface="Cairo"/>
                <a:cs typeface="Cairo"/>
                <a:ea typeface="Cairo"/>
              </a:rPr>
              <a:t>وثائق وسجلات منفصلة</a:t>
            </a:r>
          </a:p>
        </p:txBody>
      </p:sp>
      <p:sp>
        <p:nvSpPr>
          <p:cNvPr id="18" name="Oval 17"/>
          <p:cNvSpPr/>
          <p:nvPr/>
        </p:nvSpPr>
        <p:spPr>
          <a:xfrm>
            <a:off x="10652760" y="3273552"/>
            <a:ext cx="73152" cy="73152"/>
          </a:xfrm>
          <a:prstGeom prst="ellipse">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22592" y="3172968"/>
            <a:ext cx="3401568" cy="274320"/>
          </a:xfrm>
          <a:prstGeom prst="rect">
            <a:avLst/>
          </a:prstGeom>
          <a:noFill/>
        </p:spPr>
        <p:txBody>
          <a:bodyPr wrap="square" lIns="18288" rIns="18288" tIns="18288" bIns="18288" anchor="ctr">
            <a:spAutoFit/>
          </a:bodyPr>
          <a:lstStyle/>
          <a:p>
            <a:pPr algn="r" rtl="1">
              <a:lnSpc>
                <a:spcPct val="100000"/>
              </a:lnSpc>
              <a:spcAft>
                <a:spcPts val="0"/>
              </a:spcAft>
            </a:pPr>
            <a:r>
              <a:rPr sz="1400" b="0" i="0" lang="ar-DZ" rtl="1">
                <a:solidFill>
                  <a:srgbClr val="D8E3F0"/>
                </a:solidFill>
                <a:latin typeface="Cairo"/>
                <a:cs typeface="Cairo"/>
                <a:ea typeface="Cairo"/>
              </a:rPr>
              <a:t>إجراءات يدوية متكررة</a:t>
            </a:r>
          </a:p>
        </p:txBody>
      </p:sp>
      <p:sp>
        <p:nvSpPr>
          <p:cNvPr id="20" name="Oval 19"/>
          <p:cNvSpPr/>
          <p:nvPr/>
        </p:nvSpPr>
        <p:spPr>
          <a:xfrm>
            <a:off x="10652760" y="3685032"/>
            <a:ext cx="73152" cy="73152"/>
          </a:xfrm>
          <a:prstGeom prst="ellipse">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22592" y="3584448"/>
            <a:ext cx="3401568" cy="274320"/>
          </a:xfrm>
          <a:prstGeom prst="rect">
            <a:avLst/>
          </a:prstGeom>
          <a:noFill/>
        </p:spPr>
        <p:txBody>
          <a:bodyPr wrap="square" lIns="18288" rIns="18288" tIns="18288" bIns="18288" anchor="ctr">
            <a:spAutoFit/>
          </a:bodyPr>
          <a:lstStyle/>
          <a:p>
            <a:pPr algn="r" rtl="1">
              <a:lnSpc>
                <a:spcPct val="100000"/>
              </a:lnSpc>
              <a:spcAft>
                <a:spcPts val="0"/>
              </a:spcAft>
            </a:pPr>
            <a:r>
              <a:rPr sz="1400" b="0" i="0" lang="ar-DZ" rtl="1">
                <a:solidFill>
                  <a:srgbClr val="D8E3F0"/>
                </a:solidFill>
                <a:latin typeface="Cairo"/>
                <a:cs typeface="Cairo"/>
                <a:ea typeface="Cairo"/>
              </a:rPr>
              <a:t>استرجاع أبطأ للمعلومة</a:t>
            </a:r>
          </a:p>
        </p:txBody>
      </p:sp>
      <p:cxnSp>
        <p:nvCxnSpPr>
          <p:cNvPr id="22" name="Connector 21"/>
          <p:cNvCxnSpPr/>
          <p:nvPr/>
        </p:nvCxnSpPr>
        <p:spPr>
          <a:xfrm flipH="1">
            <a:off x="5440680" y="3035808"/>
            <a:ext cx="667512" cy="0"/>
          </a:xfrm>
          <a:prstGeom prst="line">
            <a:avLst/>
          </a:prstGeom>
          <a:ln w="40640">
            <a:solidFill>
              <a:srgbClr val="DCA74C"/>
            </a:solidFill>
          </a:ln>
        </p:spPr>
        <p:style>
          <a:lnRef idx="2">
            <a:schemeClr val="accent1"/>
          </a:lnRef>
          <a:fillRef idx="0">
            <a:schemeClr val="accent1"/>
          </a:fillRef>
          <a:effectRef idx="1">
            <a:schemeClr val="accent1"/>
          </a:effectRef>
          <a:fontRef idx="minor">
            <a:schemeClr val="tx1"/>
          </a:fontRef>
        </p:style>
      </p:cxnSp>
      <p:sp>
        <p:nvSpPr>
          <p:cNvPr id="23" name="Isosceles Triangle 22"/>
          <p:cNvSpPr/>
          <p:nvPr/>
        </p:nvSpPr>
        <p:spPr>
          <a:xfrm rot="16200000">
            <a:off x="5349240" y="2944368"/>
            <a:ext cx="182880" cy="182880"/>
          </a:xfrm>
          <a:prstGeom prst="triangle">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937760" y="3355848"/>
            <a:ext cx="1371600" cy="310896"/>
          </a:xfrm>
          <a:prstGeom prst="roundRect">
            <a:avLst/>
          </a:prstGeom>
          <a:solidFill>
            <a:srgbClr val="F8F0DF"/>
          </a:solidFill>
          <a:ln w="8890">
            <a:solidFill>
              <a:srgbClr val="F8F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978908" y="3360420"/>
            <a:ext cx="1289304" cy="301752"/>
          </a:xfrm>
          <a:prstGeom prst="rect">
            <a:avLst/>
          </a:prstGeom>
          <a:noFill/>
        </p:spPr>
        <p:txBody>
          <a:bodyPr wrap="square" lIns="9144" rIns="9144" tIns="9144" bIns="9144" anchor="ctr">
            <a:spAutoFit/>
          </a:bodyPr>
          <a:lstStyle/>
          <a:p>
            <a:pPr algn="ctr" rtl="1">
              <a:lnSpc>
                <a:spcPct val="100000"/>
              </a:lnSpc>
              <a:spcAft>
                <a:spcPts val="0"/>
              </a:spcAft>
            </a:pPr>
            <a:r>
              <a:rPr sz="1150" b="1" i="0" lang="ar-DZ" rtl="1">
                <a:solidFill>
                  <a:srgbClr val="10233D"/>
                </a:solidFill>
                <a:latin typeface="Cairo"/>
                <a:cs typeface="Cairo"/>
                <a:ea typeface="Cairo"/>
              </a:rPr>
              <a:t>تصميم + إنجاز</a:t>
            </a:r>
          </a:p>
        </p:txBody>
      </p:sp>
      <p:sp>
        <p:nvSpPr>
          <p:cNvPr id="26" name="Rounded Rectangle 25"/>
          <p:cNvSpPr/>
          <p:nvPr/>
        </p:nvSpPr>
        <p:spPr>
          <a:xfrm>
            <a:off x="726948" y="1623060"/>
            <a:ext cx="4087368" cy="2971800"/>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85800" y="1572768"/>
            <a:ext cx="4087368" cy="2971800"/>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69264" y="1810512"/>
            <a:ext cx="1719072" cy="310896"/>
          </a:xfrm>
          <a:prstGeom prst="roundRect">
            <a:avLst/>
          </a:prstGeom>
          <a:solidFill>
            <a:srgbClr val="E7EFFD"/>
          </a:solidFill>
          <a:ln w="8890">
            <a:solidFill>
              <a:srgbClr val="E7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10412" y="1815084"/>
            <a:ext cx="1636775" cy="301752"/>
          </a:xfrm>
          <a:prstGeom prst="rect">
            <a:avLst/>
          </a:prstGeom>
          <a:noFill/>
        </p:spPr>
        <p:txBody>
          <a:bodyPr wrap="square" lIns="9144" rIns="9144" tIns="9144" bIns="9144" anchor="ctr">
            <a:spAutoFit/>
          </a:bodyPr>
          <a:lstStyle/>
          <a:p>
            <a:pPr algn="ctr" rtl="0">
              <a:lnSpc>
                <a:spcPct val="100000"/>
              </a:lnSpc>
              <a:spcAft>
                <a:spcPts val="0"/>
              </a:spcAft>
            </a:pPr>
            <a:r>
              <a:rPr sz="1019" b="1" i="0" lang="en-US">
                <a:solidFill>
                  <a:srgbClr val="3167D5"/>
                </a:solidFill>
                <a:latin typeface="Aptos"/>
                <a:cs typeface="Aptos"/>
                <a:ea typeface="Aptos"/>
              </a:rPr>
              <a:t>PROPOSED SYSTEM</a:t>
            </a:r>
          </a:p>
        </p:txBody>
      </p:sp>
      <p:sp>
        <p:nvSpPr>
          <p:cNvPr id="30" name="Can 29"/>
          <p:cNvSpPr/>
          <p:nvPr/>
        </p:nvSpPr>
        <p:spPr>
          <a:xfrm>
            <a:off x="1078992" y="2423160"/>
            <a:ext cx="877824" cy="1097280"/>
          </a:xfrm>
          <a:prstGeom prst="can">
            <a:avLst/>
          </a:prstGeom>
          <a:solidFill>
            <a:srgbClr val="3167D5"/>
          </a:solidFill>
          <a:ln w="8890">
            <a:solidFill>
              <a:srgbClr val="3167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1133856" y="2761488"/>
            <a:ext cx="768096" cy="0"/>
          </a:xfrm>
          <a:prstGeom prst="line">
            <a:avLst/>
          </a:prstGeom>
          <a:ln w="13970">
            <a:solidFill>
              <a:srgbClr val="C5D7F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133856" y="3072384"/>
            <a:ext cx="768096" cy="0"/>
          </a:xfrm>
          <a:prstGeom prst="line">
            <a:avLst/>
          </a:prstGeom>
          <a:ln w="13970">
            <a:solidFill>
              <a:srgbClr val="C5D7F8"/>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157984" y="2414016"/>
            <a:ext cx="2331720" cy="859536"/>
          </a:xfrm>
          <a:prstGeom prst="rect">
            <a:avLst/>
          </a:prstGeom>
          <a:noFill/>
        </p:spPr>
        <p:txBody>
          <a:bodyPr wrap="square" lIns="18288" rIns="18288" tIns="18288" bIns="18288" anchor="ctr">
            <a:spAutoFit/>
          </a:bodyPr>
          <a:lstStyle/>
          <a:p>
            <a:pPr algn="r" rtl="1">
              <a:lnSpc>
                <a:spcPct val="108000"/>
              </a:lnSpc>
              <a:spcAft>
                <a:spcPts val="0"/>
              </a:spcAft>
            </a:pPr>
            <a:r>
              <a:rPr sz="1900" b="1" i="0" lang="ar-DZ" rtl="1">
                <a:solidFill>
                  <a:srgbClr val="10233D"/>
                </a:solidFill>
                <a:latin typeface="Cairo"/>
                <a:cs typeface="Cairo"/>
                <a:ea typeface="Cairo"/>
              </a:rPr>
              <a:t>نظام معلوماتي</a:t>
            </a:r>
            <a:br/>
            <a:r>
              <a:rPr sz="1900" b="1" i="0" lang="ar-DZ" rtl="1">
                <a:solidFill>
                  <a:srgbClr val="10233D"/>
                </a:solidFill>
                <a:latin typeface="Cairo"/>
                <a:cs typeface="Cairo"/>
                <a:ea typeface="Cairo"/>
              </a:rPr>
              <a:t>لتسيير المكتبة</a:t>
            </a:r>
          </a:p>
        </p:txBody>
      </p:sp>
      <p:sp>
        <p:nvSpPr>
          <p:cNvPr id="34" name="TextBox 33"/>
          <p:cNvSpPr txBox="1"/>
          <p:nvPr/>
        </p:nvSpPr>
        <p:spPr>
          <a:xfrm>
            <a:off x="969264" y="3703320"/>
            <a:ext cx="3520440" cy="320040"/>
          </a:xfrm>
          <a:prstGeom prst="rect">
            <a:avLst/>
          </a:prstGeom>
          <a:noFill/>
        </p:spPr>
        <p:txBody>
          <a:bodyPr wrap="square" lIns="18288" rIns="18288" tIns="18288" bIns="18288" anchor="ctr">
            <a:spAutoFit/>
          </a:bodyPr>
          <a:lstStyle/>
          <a:p>
            <a:pPr algn="r" rtl="1">
              <a:lnSpc>
                <a:spcPct val="100000"/>
              </a:lnSpc>
              <a:spcAft>
                <a:spcPts val="0"/>
              </a:spcAft>
            </a:pPr>
            <a:r>
              <a:rPr sz="1250" b="0" i="0" lang="ar-DZ" rtl="1">
                <a:solidFill>
                  <a:srgbClr val="617187"/>
                </a:solidFill>
                <a:latin typeface="Cairo"/>
                <a:cs typeface="Cairo"/>
                <a:ea typeface="Cairo"/>
              </a:rPr>
              <a:t>بيانات مترابطة + واجهة تشغيل</a:t>
            </a:r>
          </a:p>
        </p:txBody>
      </p:sp>
      <p:sp>
        <p:nvSpPr>
          <p:cNvPr id="35" name="Rounded Rectangle 34"/>
          <p:cNvSpPr/>
          <p:nvPr/>
        </p:nvSpPr>
        <p:spPr>
          <a:xfrm>
            <a:off x="8865108" y="4942331"/>
            <a:ext cx="2487168" cy="822960"/>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823960" y="4892040"/>
            <a:ext cx="2487168" cy="822960"/>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10607040" y="5010912"/>
            <a:ext cx="475488" cy="237744"/>
          </a:xfrm>
          <a:prstGeom prst="roundRect">
            <a:avLst/>
          </a:prstGeom>
          <a:solidFill>
            <a:srgbClr val="10233D"/>
          </a:solidFill>
          <a:ln w="889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648188" y="5015484"/>
            <a:ext cx="393192" cy="228600"/>
          </a:xfrm>
          <a:prstGeom prst="rect">
            <a:avLst/>
          </a:prstGeom>
          <a:noFill/>
        </p:spPr>
        <p:txBody>
          <a:bodyPr wrap="square" lIns="9144" rIns="9144" tIns="9144" bIns="9144" anchor="ctr">
            <a:spAutoFit/>
          </a:bodyPr>
          <a:lstStyle/>
          <a:p>
            <a:pPr algn="ctr" rtl="0">
              <a:lnSpc>
                <a:spcPct val="100000"/>
              </a:lnSpc>
              <a:spcAft>
                <a:spcPts val="0"/>
              </a:spcAft>
            </a:pPr>
            <a:r>
              <a:rPr sz="950" b="1" i="0" lang="en-US">
                <a:solidFill>
                  <a:srgbClr val="FFFFFF"/>
                </a:solidFill>
                <a:latin typeface="Aptos"/>
                <a:cs typeface="Aptos"/>
                <a:ea typeface="Aptos"/>
              </a:rPr>
              <a:t>01</a:t>
            </a:r>
          </a:p>
        </p:txBody>
      </p:sp>
      <p:sp>
        <p:nvSpPr>
          <p:cNvPr id="39" name="TextBox 38"/>
          <p:cNvSpPr txBox="1"/>
          <p:nvPr/>
        </p:nvSpPr>
        <p:spPr>
          <a:xfrm>
            <a:off x="8970264" y="5266944"/>
            <a:ext cx="2057400" cy="274320"/>
          </a:xfrm>
          <a:prstGeom prst="rect">
            <a:avLst/>
          </a:prstGeom>
          <a:noFill/>
        </p:spPr>
        <p:txBody>
          <a:bodyPr wrap="square" lIns="18288" rIns="18288" tIns="18288" bIns="18288" anchor="ctr">
            <a:spAutoFit/>
          </a:bodyPr>
          <a:lstStyle/>
          <a:p>
            <a:pPr algn="r" rtl="1">
              <a:lnSpc>
                <a:spcPct val="100000"/>
              </a:lnSpc>
              <a:spcAft>
                <a:spcPts val="0"/>
              </a:spcAft>
            </a:pPr>
            <a:r>
              <a:rPr sz="1300" b="1" i="0" lang="ar-DZ" rtl="1">
                <a:solidFill>
                  <a:srgbClr val="17263A"/>
                </a:solidFill>
                <a:latin typeface="Cairo"/>
                <a:cs typeface="Cairo"/>
                <a:ea typeface="Cairo"/>
              </a:rPr>
              <a:t>الدقة</a:t>
            </a:r>
          </a:p>
        </p:txBody>
      </p:sp>
      <p:sp>
        <p:nvSpPr>
          <p:cNvPr id="40" name="Rounded Rectangle 39"/>
          <p:cNvSpPr/>
          <p:nvPr/>
        </p:nvSpPr>
        <p:spPr>
          <a:xfrm>
            <a:off x="6103620" y="4942331"/>
            <a:ext cx="2487168" cy="822960"/>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6062472" y="4892040"/>
            <a:ext cx="2487168" cy="822960"/>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7845552" y="5010912"/>
            <a:ext cx="475488" cy="237744"/>
          </a:xfrm>
          <a:prstGeom prst="roundRect">
            <a:avLst/>
          </a:prstGeom>
          <a:solidFill>
            <a:srgbClr val="10233D"/>
          </a:solidFill>
          <a:ln w="889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886700" y="5015484"/>
            <a:ext cx="393192" cy="228600"/>
          </a:xfrm>
          <a:prstGeom prst="rect">
            <a:avLst/>
          </a:prstGeom>
          <a:noFill/>
        </p:spPr>
        <p:txBody>
          <a:bodyPr wrap="square" lIns="9144" rIns="9144" tIns="9144" bIns="9144" anchor="ctr">
            <a:spAutoFit/>
          </a:bodyPr>
          <a:lstStyle/>
          <a:p>
            <a:pPr algn="ctr" rtl="0">
              <a:lnSpc>
                <a:spcPct val="100000"/>
              </a:lnSpc>
              <a:spcAft>
                <a:spcPts val="0"/>
              </a:spcAft>
            </a:pPr>
            <a:r>
              <a:rPr sz="950" b="1" i="0" lang="en-US">
                <a:solidFill>
                  <a:srgbClr val="FFFFFF"/>
                </a:solidFill>
                <a:latin typeface="Aptos"/>
                <a:cs typeface="Aptos"/>
                <a:ea typeface="Aptos"/>
              </a:rPr>
              <a:t>02</a:t>
            </a:r>
          </a:p>
        </p:txBody>
      </p:sp>
      <p:sp>
        <p:nvSpPr>
          <p:cNvPr id="44" name="TextBox 43"/>
          <p:cNvSpPr txBox="1"/>
          <p:nvPr/>
        </p:nvSpPr>
        <p:spPr>
          <a:xfrm>
            <a:off x="6208776" y="5266944"/>
            <a:ext cx="2057400" cy="274320"/>
          </a:xfrm>
          <a:prstGeom prst="rect">
            <a:avLst/>
          </a:prstGeom>
          <a:noFill/>
        </p:spPr>
        <p:txBody>
          <a:bodyPr wrap="square" lIns="18288" rIns="18288" tIns="18288" bIns="18288" anchor="ctr">
            <a:spAutoFit/>
          </a:bodyPr>
          <a:lstStyle/>
          <a:p>
            <a:pPr algn="r" rtl="1">
              <a:lnSpc>
                <a:spcPct val="100000"/>
              </a:lnSpc>
              <a:spcAft>
                <a:spcPts val="0"/>
              </a:spcAft>
            </a:pPr>
            <a:r>
              <a:rPr sz="1300" b="1" i="0" lang="ar-DZ" rtl="1">
                <a:solidFill>
                  <a:srgbClr val="17263A"/>
                </a:solidFill>
                <a:latin typeface="Cairo"/>
                <a:cs typeface="Cairo"/>
                <a:ea typeface="Cairo"/>
              </a:rPr>
              <a:t>السرعة والتنظيم</a:t>
            </a:r>
          </a:p>
        </p:txBody>
      </p:sp>
      <p:sp>
        <p:nvSpPr>
          <p:cNvPr id="45" name="Rounded Rectangle 44"/>
          <p:cNvSpPr/>
          <p:nvPr/>
        </p:nvSpPr>
        <p:spPr>
          <a:xfrm>
            <a:off x="3342132" y="4942331"/>
            <a:ext cx="2487168" cy="822960"/>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3300984" y="4892040"/>
            <a:ext cx="2487168" cy="822960"/>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5084064" y="5010912"/>
            <a:ext cx="475488" cy="237744"/>
          </a:xfrm>
          <a:prstGeom prst="roundRect">
            <a:avLst/>
          </a:prstGeom>
          <a:solidFill>
            <a:srgbClr val="10233D"/>
          </a:solidFill>
          <a:ln w="889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125212" y="5015484"/>
            <a:ext cx="393192" cy="228600"/>
          </a:xfrm>
          <a:prstGeom prst="rect">
            <a:avLst/>
          </a:prstGeom>
          <a:noFill/>
        </p:spPr>
        <p:txBody>
          <a:bodyPr wrap="square" lIns="9144" rIns="9144" tIns="9144" bIns="9144" anchor="ctr">
            <a:spAutoFit/>
          </a:bodyPr>
          <a:lstStyle/>
          <a:p>
            <a:pPr algn="ctr" rtl="0">
              <a:lnSpc>
                <a:spcPct val="100000"/>
              </a:lnSpc>
              <a:spcAft>
                <a:spcPts val="0"/>
              </a:spcAft>
            </a:pPr>
            <a:r>
              <a:rPr sz="950" b="1" i="0" lang="en-US">
                <a:solidFill>
                  <a:srgbClr val="FFFFFF"/>
                </a:solidFill>
                <a:latin typeface="Aptos"/>
                <a:cs typeface="Aptos"/>
                <a:ea typeface="Aptos"/>
              </a:rPr>
              <a:t>03</a:t>
            </a:r>
          </a:p>
        </p:txBody>
      </p:sp>
      <p:sp>
        <p:nvSpPr>
          <p:cNvPr id="49" name="TextBox 48"/>
          <p:cNvSpPr txBox="1"/>
          <p:nvPr/>
        </p:nvSpPr>
        <p:spPr>
          <a:xfrm>
            <a:off x="3447288" y="5266944"/>
            <a:ext cx="2057400" cy="274320"/>
          </a:xfrm>
          <a:prstGeom prst="rect">
            <a:avLst/>
          </a:prstGeom>
          <a:noFill/>
        </p:spPr>
        <p:txBody>
          <a:bodyPr wrap="square" lIns="18288" rIns="18288" tIns="18288" bIns="18288" anchor="ctr">
            <a:spAutoFit/>
          </a:bodyPr>
          <a:lstStyle/>
          <a:p>
            <a:pPr algn="r" rtl="1">
              <a:lnSpc>
                <a:spcPct val="100000"/>
              </a:lnSpc>
              <a:spcAft>
                <a:spcPts val="0"/>
              </a:spcAft>
            </a:pPr>
            <a:r>
              <a:rPr sz="1300" b="1" i="0" lang="ar-DZ" rtl="1">
                <a:solidFill>
                  <a:srgbClr val="17263A"/>
                </a:solidFill>
                <a:latin typeface="Cairo"/>
                <a:cs typeface="Cairo"/>
                <a:ea typeface="Cairo"/>
              </a:rPr>
              <a:t>تخزين واسترجاع</a:t>
            </a:r>
          </a:p>
        </p:txBody>
      </p:sp>
      <p:sp>
        <p:nvSpPr>
          <p:cNvPr id="50" name="Rounded Rectangle 49"/>
          <p:cNvSpPr/>
          <p:nvPr/>
        </p:nvSpPr>
        <p:spPr>
          <a:xfrm>
            <a:off x="580643" y="4942331"/>
            <a:ext cx="2487168" cy="822960"/>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539495" y="4892040"/>
            <a:ext cx="2487168" cy="822960"/>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2322576" y="5010912"/>
            <a:ext cx="475488" cy="237744"/>
          </a:xfrm>
          <a:prstGeom prst="roundRect">
            <a:avLst/>
          </a:prstGeom>
          <a:solidFill>
            <a:srgbClr val="10233D"/>
          </a:solidFill>
          <a:ln w="889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363724" y="5015484"/>
            <a:ext cx="393192" cy="228600"/>
          </a:xfrm>
          <a:prstGeom prst="rect">
            <a:avLst/>
          </a:prstGeom>
          <a:noFill/>
        </p:spPr>
        <p:txBody>
          <a:bodyPr wrap="square" lIns="9144" rIns="9144" tIns="9144" bIns="9144" anchor="ctr">
            <a:spAutoFit/>
          </a:bodyPr>
          <a:lstStyle/>
          <a:p>
            <a:pPr algn="ctr" rtl="0">
              <a:lnSpc>
                <a:spcPct val="100000"/>
              </a:lnSpc>
              <a:spcAft>
                <a:spcPts val="0"/>
              </a:spcAft>
            </a:pPr>
            <a:r>
              <a:rPr sz="950" b="1" i="0" lang="en-US">
                <a:solidFill>
                  <a:srgbClr val="FFFFFF"/>
                </a:solidFill>
                <a:latin typeface="Aptos"/>
                <a:cs typeface="Aptos"/>
                <a:ea typeface="Aptos"/>
              </a:rPr>
              <a:t>04</a:t>
            </a:r>
          </a:p>
        </p:txBody>
      </p:sp>
      <p:sp>
        <p:nvSpPr>
          <p:cNvPr id="54" name="TextBox 53"/>
          <p:cNvSpPr txBox="1"/>
          <p:nvPr/>
        </p:nvSpPr>
        <p:spPr>
          <a:xfrm>
            <a:off x="685799" y="5266944"/>
            <a:ext cx="2057400" cy="274320"/>
          </a:xfrm>
          <a:prstGeom prst="rect">
            <a:avLst/>
          </a:prstGeom>
          <a:noFill/>
        </p:spPr>
        <p:txBody>
          <a:bodyPr wrap="square" lIns="18288" rIns="18288" tIns="18288" bIns="18288" anchor="ctr">
            <a:spAutoFit/>
          </a:bodyPr>
          <a:lstStyle/>
          <a:p>
            <a:pPr algn="r" rtl="1">
              <a:lnSpc>
                <a:spcPct val="100000"/>
              </a:lnSpc>
              <a:spcAft>
                <a:spcPts val="0"/>
              </a:spcAft>
            </a:pPr>
            <a:r>
              <a:rPr sz="1300" b="1" i="0" lang="ar-DZ" rtl="1">
                <a:solidFill>
                  <a:srgbClr val="17263A"/>
                </a:solidFill>
                <a:latin typeface="Cairo"/>
                <a:cs typeface="Cairo"/>
                <a:ea typeface="Cairo"/>
              </a:rPr>
              <a:t>أمن المعلومات</a:t>
            </a:r>
          </a:p>
        </p:txBody>
      </p:sp>
    </p:spTree>
  </p:cSld>
  <p:clrMapOvr>
    <a:masterClrMapping/>
  </p:clrMapOvr>
  <p:transition spd="med" advClick="1">
    <p:push dir="l"/>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ounded Rectangle 1"/>
          <p:cNvSpPr/>
          <p:nvPr/>
        </p:nvSpPr>
        <p:spPr>
          <a:xfrm>
            <a:off x="530352" y="292608"/>
            <a:ext cx="2423160" cy="310896"/>
          </a:xfrm>
          <a:prstGeom prst="roundRect">
            <a:avLst/>
          </a:prstGeom>
          <a:solidFill>
            <a:srgbClr val="10233D"/>
          </a:solidFill>
          <a:ln w="889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1500" y="297180"/>
            <a:ext cx="2340864" cy="301752"/>
          </a:xfrm>
          <a:prstGeom prst="rect">
            <a:avLst/>
          </a:prstGeom>
          <a:noFill/>
        </p:spPr>
        <p:txBody>
          <a:bodyPr wrap="square" lIns="9144" rIns="9144" tIns="9144" bIns="9144" anchor="ctr">
            <a:spAutoFit/>
          </a:bodyPr>
          <a:lstStyle/>
          <a:p>
            <a:pPr algn="ctr" rtl="0">
              <a:lnSpc>
                <a:spcPct val="100000"/>
              </a:lnSpc>
              <a:spcAft>
                <a:spcPts val="0"/>
              </a:spcAft>
            </a:pPr>
            <a:r>
              <a:rPr sz="1050" b="1" i="0" lang="en-US">
                <a:solidFill>
                  <a:srgbClr val="FFFFFF"/>
                </a:solidFill>
                <a:latin typeface="Aptos"/>
                <a:cs typeface="Aptos"/>
                <a:ea typeface="Aptos"/>
              </a:rPr>
              <a:t>01  /  الدراسة</a:t>
            </a:r>
          </a:p>
        </p:txBody>
      </p:sp>
      <p:sp>
        <p:nvSpPr>
          <p:cNvPr id="4" name="Rectangle 3"/>
          <p:cNvSpPr/>
          <p:nvPr/>
        </p:nvSpPr>
        <p:spPr>
          <a:xfrm>
            <a:off x="11594592" y="283464"/>
            <a:ext cx="64008" cy="502920"/>
          </a:xfrm>
          <a:prstGeom prst="rect">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063240" y="182880"/>
            <a:ext cx="8229600" cy="557784"/>
          </a:xfrm>
          <a:prstGeom prst="rect">
            <a:avLst/>
          </a:prstGeom>
          <a:noFill/>
        </p:spPr>
        <p:txBody>
          <a:bodyPr wrap="square" lIns="18288" rIns="18288" tIns="18288" bIns="18288" anchor="ctr">
            <a:spAutoFit/>
          </a:bodyPr>
          <a:lstStyle/>
          <a:p>
            <a:pPr algn="r" rtl="1">
              <a:lnSpc>
                <a:spcPct val="100000"/>
              </a:lnSpc>
              <a:spcAft>
                <a:spcPts val="0"/>
              </a:spcAft>
            </a:pPr>
            <a:r>
              <a:rPr sz="2600" b="1" i="0" lang="ar-DZ" rtl="1">
                <a:solidFill>
                  <a:srgbClr val="10233D"/>
                </a:solidFill>
                <a:latin typeface="Cairo"/>
                <a:cs typeface="Cairo"/>
                <a:ea typeface="Cairo"/>
              </a:rPr>
              <a:t>مخطط تدفق المعلومات</a:t>
            </a:r>
          </a:p>
        </p:txBody>
      </p:sp>
      <p:sp>
        <p:nvSpPr>
          <p:cNvPr id="6" name="TextBox 5"/>
          <p:cNvSpPr txBox="1"/>
          <p:nvPr/>
        </p:nvSpPr>
        <p:spPr>
          <a:xfrm>
            <a:off x="3063240" y="731520"/>
            <a:ext cx="8229600" cy="310896"/>
          </a:xfrm>
          <a:prstGeom prst="rect">
            <a:avLst/>
          </a:prstGeom>
          <a:noFill/>
        </p:spPr>
        <p:txBody>
          <a:bodyPr wrap="square" lIns="9144" rIns="9144" tIns="9144" bIns="9144" anchor="ctr">
            <a:spAutoFit/>
          </a:bodyPr>
          <a:lstStyle/>
          <a:p>
            <a:pPr algn="r" rtl="1">
              <a:lnSpc>
                <a:spcPct val="100000"/>
              </a:lnSpc>
              <a:spcAft>
                <a:spcPts val="0"/>
              </a:spcAft>
            </a:pPr>
            <a:r>
              <a:rPr sz="1350" b="0" i="0" lang="ar-DZ" rtl="1">
                <a:solidFill>
                  <a:srgbClr val="617187"/>
                </a:solidFill>
                <a:latin typeface="Cairo"/>
                <a:cs typeface="Cairo"/>
                <a:ea typeface="Cairo"/>
              </a:rPr>
              <a:t>أربعة أطراف وستة تدفقات تحدد ما يحتاجه النظام من بيانات ومخرجات.</a:t>
            </a:r>
          </a:p>
        </p:txBody>
      </p:sp>
      <p:cxnSp>
        <p:nvCxnSpPr>
          <p:cNvPr id="7" name="Connector 6"/>
          <p:cNvCxnSpPr/>
          <p:nvPr/>
        </p:nvCxnSpPr>
        <p:spPr>
          <a:xfrm>
            <a:off x="530352" y="1170432"/>
            <a:ext cx="11128248" cy="0"/>
          </a:xfrm>
          <a:prstGeom prst="line">
            <a:avLst/>
          </a:prstGeom>
          <a:ln w="10160">
            <a:solidFill>
              <a:srgbClr val="D5DFE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30352" y="6382512"/>
            <a:ext cx="11128248" cy="0"/>
          </a:xfrm>
          <a:prstGeom prst="line">
            <a:avLst/>
          </a:prstGeom>
          <a:ln w="8890">
            <a:solidFill>
              <a:srgbClr val="D5DFEA"/>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03504" y="6437376"/>
            <a:ext cx="8778240" cy="210312"/>
          </a:xfrm>
          <a:prstGeom prst="rect">
            <a:avLst/>
          </a:prstGeom>
          <a:noFill/>
        </p:spPr>
        <p:txBody>
          <a:bodyPr wrap="square" lIns="0" rIns="0" tIns="0" bIns="0" anchor="ctr">
            <a:spAutoFit/>
          </a:bodyPr>
          <a:lstStyle/>
          <a:p>
            <a:pPr algn="l" rtl="1">
              <a:lnSpc>
                <a:spcPct val="100000"/>
              </a:lnSpc>
              <a:spcAft>
                <a:spcPts val="0"/>
              </a:spcAft>
            </a:pPr>
            <a:r>
              <a:rPr sz="850" b="0" i="0" lang="ar-DZ" rtl="1">
                <a:solidFill>
                  <a:srgbClr val="617187"/>
                </a:solidFill>
                <a:latin typeface="Cairo"/>
                <a:cs typeface="Cairo"/>
                <a:ea typeface="Cairo"/>
              </a:rPr>
              <a:t>المصدر: المذكرة، الفصل الأول، ص 40</a:t>
            </a:r>
          </a:p>
        </p:txBody>
      </p:sp>
      <p:sp>
        <p:nvSpPr>
          <p:cNvPr id="10" name="TextBox 9"/>
          <p:cNvSpPr txBox="1"/>
          <p:nvPr/>
        </p:nvSpPr>
        <p:spPr>
          <a:xfrm>
            <a:off x="10725912" y="6409944"/>
            <a:ext cx="932688" cy="228600"/>
          </a:xfrm>
          <a:prstGeom prst="rect">
            <a:avLst/>
          </a:prstGeom>
          <a:noFill/>
        </p:spPr>
        <p:txBody>
          <a:bodyPr wrap="square" lIns="0" rIns="0" tIns="0" bIns="0" anchor="ctr">
            <a:spAutoFit/>
          </a:bodyPr>
          <a:lstStyle/>
          <a:p>
            <a:pPr algn="l" rtl="0">
              <a:lnSpc>
                <a:spcPct val="100000"/>
              </a:lnSpc>
              <a:spcAft>
                <a:spcPts val="0"/>
              </a:spcAft>
            </a:pPr>
            <a:r>
              <a:rPr sz="950" b="1" i="0" lang="en-US">
                <a:solidFill>
                  <a:srgbClr val="10233D"/>
                </a:solidFill>
                <a:latin typeface="Aptos"/>
                <a:cs typeface="Aptos"/>
                <a:ea typeface="Aptos"/>
              </a:rPr>
              <a:t>05 / 20</a:t>
            </a:r>
          </a:p>
        </p:txBody>
      </p:sp>
      <p:sp>
        <p:nvSpPr>
          <p:cNvPr id="11" name="Rectangle 10"/>
          <p:cNvSpPr/>
          <p:nvPr/>
        </p:nvSpPr>
        <p:spPr>
          <a:xfrm>
            <a:off x="9400032" y="6519672"/>
            <a:ext cx="285750" cy="32004"/>
          </a:xfrm>
          <a:prstGeom prst="rect">
            <a:avLst/>
          </a:prstGeom>
          <a:solidFill>
            <a:srgbClr val="316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813548" y="1467612"/>
            <a:ext cx="3749039" cy="4663440"/>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772400" y="1417320"/>
            <a:ext cx="3749039" cy="4663440"/>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74152" y="1627632"/>
            <a:ext cx="3063240" cy="329184"/>
          </a:xfrm>
          <a:prstGeom prst="rect">
            <a:avLst/>
          </a:prstGeom>
          <a:noFill/>
        </p:spPr>
        <p:txBody>
          <a:bodyPr wrap="square" lIns="18288" rIns="18288" tIns="18288" bIns="18288" anchor="ctr">
            <a:spAutoFit/>
          </a:bodyPr>
          <a:lstStyle/>
          <a:p>
            <a:pPr algn="r" rtl="1">
              <a:lnSpc>
                <a:spcPct val="100000"/>
              </a:lnSpc>
              <a:spcAft>
                <a:spcPts val="0"/>
              </a:spcAft>
            </a:pPr>
            <a:r>
              <a:rPr sz="1500" b="1" i="0" lang="ar-DZ" rtl="1">
                <a:solidFill>
                  <a:srgbClr val="10233D"/>
                </a:solidFill>
                <a:latin typeface="Cairo"/>
                <a:cs typeface="Cairo"/>
                <a:ea typeface="Cairo"/>
              </a:rPr>
              <a:t>التدفقات كما في المخطط</a:t>
            </a:r>
          </a:p>
        </p:txBody>
      </p:sp>
      <p:sp>
        <p:nvSpPr>
          <p:cNvPr id="15" name="Rounded Rectangle 14"/>
          <p:cNvSpPr/>
          <p:nvPr/>
        </p:nvSpPr>
        <p:spPr>
          <a:xfrm>
            <a:off x="10780776" y="2084831"/>
            <a:ext cx="384048" cy="310896"/>
          </a:xfrm>
          <a:prstGeom prst="roundRect">
            <a:avLst/>
          </a:prstGeom>
          <a:solidFill>
            <a:srgbClr val="3167D5"/>
          </a:solidFill>
          <a:ln w="8890">
            <a:solidFill>
              <a:srgbClr val="3167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821924" y="2089403"/>
            <a:ext cx="301751" cy="301752"/>
          </a:xfrm>
          <a:prstGeom prst="rect">
            <a:avLst/>
          </a:prstGeom>
          <a:noFill/>
        </p:spPr>
        <p:txBody>
          <a:bodyPr wrap="square" lIns="9144" rIns="9144" tIns="9144" bIns="9144" anchor="ctr">
            <a:spAutoFit/>
          </a:bodyPr>
          <a:lstStyle/>
          <a:p>
            <a:pPr algn="ctr" rtl="0">
              <a:lnSpc>
                <a:spcPct val="100000"/>
              </a:lnSpc>
              <a:spcAft>
                <a:spcPts val="0"/>
              </a:spcAft>
            </a:pPr>
            <a:r>
              <a:rPr sz="1000" b="1" i="0" lang="en-US">
                <a:solidFill>
                  <a:srgbClr val="FFFFFF"/>
                </a:solidFill>
                <a:latin typeface="Aptos"/>
                <a:cs typeface="Aptos"/>
                <a:ea typeface="Aptos"/>
              </a:rPr>
              <a:t>1</a:t>
            </a:r>
          </a:p>
        </p:txBody>
      </p:sp>
      <p:sp>
        <p:nvSpPr>
          <p:cNvPr id="17" name="TextBox 16"/>
          <p:cNvSpPr txBox="1"/>
          <p:nvPr/>
        </p:nvSpPr>
        <p:spPr>
          <a:xfrm>
            <a:off x="8924544" y="2066543"/>
            <a:ext cx="1664208" cy="237744"/>
          </a:xfrm>
          <a:prstGeom prst="rect">
            <a:avLst/>
          </a:prstGeom>
          <a:noFill/>
        </p:spPr>
        <p:txBody>
          <a:bodyPr wrap="square" lIns="18288" rIns="18288" tIns="18288" bIns="18288" anchor="ctr">
            <a:spAutoFit/>
          </a:bodyPr>
          <a:lstStyle/>
          <a:p>
            <a:pPr algn="r" rtl="1">
              <a:lnSpc>
                <a:spcPct val="100000"/>
              </a:lnSpc>
              <a:spcAft>
                <a:spcPts val="0"/>
              </a:spcAft>
            </a:pPr>
            <a:r>
              <a:rPr sz="1080" b="1" i="0" lang="ar-DZ" rtl="1">
                <a:solidFill>
                  <a:srgbClr val="3167D5"/>
                </a:solidFill>
                <a:latin typeface="Cairo"/>
                <a:cs typeface="Cairo"/>
                <a:ea typeface="Cairo"/>
              </a:rPr>
              <a:t>من المكتبة إلى الطالب</a:t>
            </a:r>
          </a:p>
        </p:txBody>
      </p:sp>
      <p:sp>
        <p:nvSpPr>
          <p:cNvPr id="18" name="TextBox 17"/>
          <p:cNvSpPr txBox="1"/>
          <p:nvPr/>
        </p:nvSpPr>
        <p:spPr>
          <a:xfrm>
            <a:off x="8046720" y="2313432"/>
            <a:ext cx="2587752" cy="301752"/>
          </a:xfrm>
          <a:prstGeom prst="rect">
            <a:avLst/>
          </a:prstGeom>
          <a:noFill/>
        </p:spPr>
        <p:txBody>
          <a:bodyPr wrap="square" lIns="18288" rIns="18288" tIns="18288" bIns="18288" anchor="ctr">
            <a:spAutoFit/>
          </a:bodyPr>
          <a:lstStyle/>
          <a:p>
            <a:pPr algn="r" rtl="1">
              <a:lnSpc>
                <a:spcPct val="100000"/>
              </a:lnSpc>
              <a:spcAft>
                <a:spcPts val="0"/>
              </a:spcAft>
            </a:pPr>
            <a:r>
              <a:rPr sz="1130" b="0" i="0" lang="ar-DZ" rtl="1">
                <a:solidFill>
                  <a:srgbClr val="17263A"/>
                </a:solidFill>
                <a:latin typeface="Cairo"/>
                <a:cs typeface="Cairo"/>
                <a:ea typeface="Cairo"/>
              </a:rPr>
              <a:t>تسليم الكتاب المعار</a:t>
            </a:r>
          </a:p>
        </p:txBody>
      </p:sp>
      <p:sp>
        <p:nvSpPr>
          <p:cNvPr id="19" name="Rounded Rectangle 18"/>
          <p:cNvSpPr/>
          <p:nvPr/>
        </p:nvSpPr>
        <p:spPr>
          <a:xfrm>
            <a:off x="10780776" y="2706624"/>
            <a:ext cx="384048" cy="310896"/>
          </a:xfrm>
          <a:prstGeom prst="roundRect">
            <a:avLst/>
          </a:prstGeom>
          <a:solidFill>
            <a:srgbClr val="3167D5"/>
          </a:solidFill>
          <a:ln w="8890">
            <a:solidFill>
              <a:srgbClr val="3167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821924" y="2711196"/>
            <a:ext cx="301751" cy="301752"/>
          </a:xfrm>
          <a:prstGeom prst="rect">
            <a:avLst/>
          </a:prstGeom>
          <a:noFill/>
        </p:spPr>
        <p:txBody>
          <a:bodyPr wrap="square" lIns="9144" rIns="9144" tIns="9144" bIns="9144" anchor="ctr">
            <a:spAutoFit/>
          </a:bodyPr>
          <a:lstStyle/>
          <a:p>
            <a:pPr algn="ctr" rtl="0">
              <a:lnSpc>
                <a:spcPct val="100000"/>
              </a:lnSpc>
              <a:spcAft>
                <a:spcPts val="0"/>
              </a:spcAft>
            </a:pPr>
            <a:r>
              <a:rPr sz="1000" b="1" i="0" lang="en-US">
                <a:solidFill>
                  <a:srgbClr val="FFFFFF"/>
                </a:solidFill>
                <a:latin typeface="Aptos"/>
                <a:cs typeface="Aptos"/>
                <a:ea typeface="Aptos"/>
              </a:rPr>
              <a:t>2</a:t>
            </a:r>
          </a:p>
        </p:txBody>
      </p:sp>
      <p:sp>
        <p:nvSpPr>
          <p:cNvPr id="21" name="TextBox 20"/>
          <p:cNvSpPr txBox="1"/>
          <p:nvPr/>
        </p:nvSpPr>
        <p:spPr>
          <a:xfrm>
            <a:off x="8924544" y="2688336"/>
            <a:ext cx="1664208" cy="237744"/>
          </a:xfrm>
          <a:prstGeom prst="rect">
            <a:avLst/>
          </a:prstGeom>
          <a:noFill/>
        </p:spPr>
        <p:txBody>
          <a:bodyPr wrap="square" lIns="18288" rIns="18288" tIns="18288" bIns="18288" anchor="ctr">
            <a:spAutoFit/>
          </a:bodyPr>
          <a:lstStyle/>
          <a:p>
            <a:pPr algn="r" rtl="1">
              <a:lnSpc>
                <a:spcPct val="100000"/>
              </a:lnSpc>
              <a:spcAft>
                <a:spcPts val="0"/>
              </a:spcAft>
            </a:pPr>
            <a:r>
              <a:rPr sz="1080" b="1" i="0" lang="ar-DZ" rtl="1">
                <a:solidFill>
                  <a:srgbClr val="3167D5"/>
                </a:solidFill>
                <a:latin typeface="Cairo"/>
                <a:cs typeface="Cairo"/>
                <a:ea typeface="Cairo"/>
              </a:rPr>
              <a:t>من الطالب إلى المكتبة</a:t>
            </a:r>
          </a:p>
        </p:txBody>
      </p:sp>
      <p:sp>
        <p:nvSpPr>
          <p:cNvPr id="22" name="TextBox 21"/>
          <p:cNvSpPr txBox="1"/>
          <p:nvPr/>
        </p:nvSpPr>
        <p:spPr>
          <a:xfrm>
            <a:off x="8046720" y="2935224"/>
            <a:ext cx="2587752" cy="301752"/>
          </a:xfrm>
          <a:prstGeom prst="rect">
            <a:avLst/>
          </a:prstGeom>
          <a:noFill/>
        </p:spPr>
        <p:txBody>
          <a:bodyPr wrap="square" lIns="18288" rIns="18288" tIns="18288" bIns="18288" anchor="ctr">
            <a:spAutoFit/>
          </a:bodyPr>
          <a:lstStyle/>
          <a:p>
            <a:pPr algn="r" rtl="1">
              <a:lnSpc>
                <a:spcPct val="100000"/>
              </a:lnSpc>
              <a:spcAft>
                <a:spcPts val="0"/>
              </a:spcAft>
            </a:pPr>
            <a:r>
              <a:rPr sz="1130" b="0" i="0" lang="ar-DZ" rtl="1">
                <a:solidFill>
                  <a:srgbClr val="17263A"/>
                </a:solidFill>
                <a:latin typeface="Cairo"/>
                <a:cs typeface="Cairo"/>
                <a:ea typeface="Cairo"/>
              </a:rPr>
              <a:t>طلب استعارة + بطاقة الطالب</a:t>
            </a:r>
          </a:p>
        </p:txBody>
      </p:sp>
      <p:sp>
        <p:nvSpPr>
          <p:cNvPr id="23" name="Rounded Rectangle 22"/>
          <p:cNvSpPr/>
          <p:nvPr/>
        </p:nvSpPr>
        <p:spPr>
          <a:xfrm>
            <a:off x="10780776" y="3328415"/>
            <a:ext cx="384048" cy="310896"/>
          </a:xfrm>
          <a:prstGeom prst="roundRect">
            <a:avLst/>
          </a:prstGeom>
          <a:solidFill>
            <a:srgbClr val="3167D5"/>
          </a:solidFill>
          <a:ln w="8890">
            <a:solidFill>
              <a:srgbClr val="3167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821924" y="3332987"/>
            <a:ext cx="301751" cy="301752"/>
          </a:xfrm>
          <a:prstGeom prst="rect">
            <a:avLst/>
          </a:prstGeom>
          <a:noFill/>
        </p:spPr>
        <p:txBody>
          <a:bodyPr wrap="square" lIns="9144" rIns="9144" tIns="9144" bIns="9144" anchor="ctr">
            <a:spAutoFit/>
          </a:bodyPr>
          <a:lstStyle/>
          <a:p>
            <a:pPr algn="ctr" rtl="0">
              <a:lnSpc>
                <a:spcPct val="100000"/>
              </a:lnSpc>
              <a:spcAft>
                <a:spcPts val="0"/>
              </a:spcAft>
            </a:pPr>
            <a:r>
              <a:rPr sz="1000" b="1" i="0" lang="en-US">
                <a:solidFill>
                  <a:srgbClr val="FFFFFF"/>
                </a:solidFill>
                <a:latin typeface="Aptos"/>
                <a:cs typeface="Aptos"/>
                <a:ea typeface="Aptos"/>
              </a:rPr>
              <a:t>3</a:t>
            </a:r>
          </a:p>
        </p:txBody>
      </p:sp>
      <p:sp>
        <p:nvSpPr>
          <p:cNvPr id="25" name="TextBox 24"/>
          <p:cNvSpPr txBox="1"/>
          <p:nvPr/>
        </p:nvSpPr>
        <p:spPr>
          <a:xfrm>
            <a:off x="8924544" y="3310127"/>
            <a:ext cx="1664208" cy="237744"/>
          </a:xfrm>
          <a:prstGeom prst="rect">
            <a:avLst/>
          </a:prstGeom>
          <a:noFill/>
        </p:spPr>
        <p:txBody>
          <a:bodyPr wrap="square" lIns="18288" rIns="18288" tIns="18288" bIns="18288" anchor="ctr">
            <a:spAutoFit/>
          </a:bodyPr>
          <a:lstStyle/>
          <a:p>
            <a:pPr algn="r" rtl="1">
              <a:lnSpc>
                <a:spcPct val="100000"/>
              </a:lnSpc>
              <a:spcAft>
                <a:spcPts val="0"/>
              </a:spcAft>
            </a:pPr>
            <a:r>
              <a:rPr sz="1080" b="1" i="0" lang="ar-DZ" rtl="1">
                <a:solidFill>
                  <a:srgbClr val="3167D5"/>
                </a:solidFill>
                <a:latin typeface="Cairo"/>
                <a:cs typeface="Cairo"/>
                <a:ea typeface="Cairo"/>
              </a:rPr>
              <a:t>من المكتبة إلى المديرة</a:t>
            </a:r>
          </a:p>
        </p:txBody>
      </p:sp>
      <p:sp>
        <p:nvSpPr>
          <p:cNvPr id="26" name="TextBox 25"/>
          <p:cNvSpPr txBox="1"/>
          <p:nvPr/>
        </p:nvSpPr>
        <p:spPr>
          <a:xfrm>
            <a:off x="8046720" y="3557015"/>
            <a:ext cx="2587752" cy="301752"/>
          </a:xfrm>
          <a:prstGeom prst="rect">
            <a:avLst/>
          </a:prstGeom>
          <a:noFill/>
        </p:spPr>
        <p:txBody>
          <a:bodyPr wrap="square" lIns="18288" rIns="18288" tIns="18288" bIns="18288" anchor="ctr">
            <a:spAutoFit/>
          </a:bodyPr>
          <a:lstStyle/>
          <a:p>
            <a:pPr algn="r" rtl="1">
              <a:lnSpc>
                <a:spcPct val="100000"/>
              </a:lnSpc>
              <a:spcAft>
                <a:spcPts val="0"/>
              </a:spcAft>
            </a:pPr>
            <a:r>
              <a:rPr sz="1130" b="0" i="0" lang="ar-DZ" rtl="1">
                <a:solidFill>
                  <a:srgbClr val="17263A"/>
                </a:solidFill>
                <a:latin typeface="Cairo"/>
                <a:cs typeface="Cairo"/>
                <a:ea typeface="Cairo"/>
              </a:rPr>
              <a:t>تقارير إحصائية: الكتب المستعارة والمستخدمون</a:t>
            </a:r>
          </a:p>
        </p:txBody>
      </p:sp>
      <p:sp>
        <p:nvSpPr>
          <p:cNvPr id="27" name="Rounded Rectangle 26"/>
          <p:cNvSpPr/>
          <p:nvPr/>
        </p:nvSpPr>
        <p:spPr>
          <a:xfrm>
            <a:off x="10780776" y="3950208"/>
            <a:ext cx="384048" cy="310896"/>
          </a:xfrm>
          <a:prstGeom prst="roundRect">
            <a:avLst/>
          </a:prstGeom>
          <a:solidFill>
            <a:srgbClr val="3167D5"/>
          </a:solidFill>
          <a:ln w="8890">
            <a:solidFill>
              <a:srgbClr val="3167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821924" y="3954780"/>
            <a:ext cx="301751" cy="301752"/>
          </a:xfrm>
          <a:prstGeom prst="rect">
            <a:avLst/>
          </a:prstGeom>
          <a:noFill/>
        </p:spPr>
        <p:txBody>
          <a:bodyPr wrap="square" lIns="9144" rIns="9144" tIns="9144" bIns="9144" anchor="ctr">
            <a:spAutoFit/>
          </a:bodyPr>
          <a:lstStyle/>
          <a:p>
            <a:pPr algn="ctr" rtl="0">
              <a:lnSpc>
                <a:spcPct val="100000"/>
              </a:lnSpc>
              <a:spcAft>
                <a:spcPts val="0"/>
              </a:spcAft>
            </a:pPr>
            <a:r>
              <a:rPr sz="1000" b="1" i="0" lang="en-US">
                <a:solidFill>
                  <a:srgbClr val="FFFFFF"/>
                </a:solidFill>
                <a:latin typeface="Aptos"/>
                <a:cs typeface="Aptos"/>
                <a:ea typeface="Aptos"/>
              </a:rPr>
              <a:t>4</a:t>
            </a:r>
          </a:p>
        </p:txBody>
      </p:sp>
      <p:sp>
        <p:nvSpPr>
          <p:cNvPr id="29" name="TextBox 28"/>
          <p:cNvSpPr txBox="1"/>
          <p:nvPr/>
        </p:nvSpPr>
        <p:spPr>
          <a:xfrm>
            <a:off x="8924544" y="3931920"/>
            <a:ext cx="1664208" cy="237744"/>
          </a:xfrm>
          <a:prstGeom prst="rect">
            <a:avLst/>
          </a:prstGeom>
          <a:noFill/>
        </p:spPr>
        <p:txBody>
          <a:bodyPr wrap="square" lIns="18288" rIns="18288" tIns="18288" bIns="18288" anchor="ctr">
            <a:spAutoFit/>
          </a:bodyPr>
          <a:lstStyle/>
          <a:p>
            <a:pPr algn="r" rtl="1">
              <a:lnSpc>
                <a:spcPct val="100000"/>
              </a:lnSpc>
              <a:spcAft>
                <a:spcPts val="0"/>
              </a:spcAft>
            </a:pPr>
            <a:r>
              <a:rPr sz="1080" b="1" i="0" lang="ar-DZ" rtl="1">
                <a:solidFill>
                  <a:srgbClr val="3167D5"/>
                </a:solidFill>
                <a:latin typeface="Cairo"/>
                <a:cs typeface="Cairo"/>
                <a:ea typeface="Cairo"/>
              </a:rPr>
              <a:t>من المديرة إلى المكتبة</a:t>
            </a:r>
          </a:p>
        </p:txBody>
      </p:sp>
      <p:sp>
        <p:nvSpPr>
          <p:cNvPr id="30" name="TextBox 29"/>
          <p:cNvSpPr txBox="1"/>
          <p:nvPr/>
        </p:nvSpPr>
        <p:spPr>
          <a:xfrm>
            <a:off x="8046720" y="4178808"/>
            <a:ext cx="2587752" cy="301752"/>
          </a:xfrm>
          <a:prstGeom prst="rect">
            <a:avLst/>
          </a:prstGeom>
          <a:noFill/>
        </p:spPr>
        <p:txBody>
          <a:bodyPr wrap="square" lIns="18288" rIns="18288" tIns="18288" bIns="18288" anchor="ctr">
            <a:spAutoFit/>
          </a:bodyPr>
          <a:lstStyle/>
          <a:p>
            <a:pPr algn="r" rtl="1">
              <a:lnSpc>
                <a:spcPct val="100000"/>
              </a:lnSpc>
              <a:spcAft>
                <a:spcPts val="0"/>
              </a:spcAft>
            </a:pPr>
            <a:r>
              <a:rPr sz="1130" b="0" i="0" lang="ar-DZ" rtl="1">
                <a:solidFill>
                  <a:srgbClr val="17263A"/>
                </a:solidFill>
                <a:latin typeface="Cairo"/>
                <a:cs typeface="Cairo"/>
                <a:ea typeface="Cairo"/>
              </a:rPr>
              <a:t>طلبات شراء كتب جديدة</a:t>
            </a:r>
          </a:p>
        </p:txBody>
      </p:sp>
      <p:sp>
        <p:nvSpPr>
          <p:cNvPr id="31" name="Rounded Rectangle 30"/>
          <p:cNvSpPr/>
          <p:nvPr/>
        </p:nvSpPr>
        <p:spPr>
          <a:xfrm>
            <a:off x="10780776" y="4572000"/>
            <a:ext cx="384048" cy="310896"/>
          </a:xfrm>
          <a:prstGeom prst="roundRect">
            <a:avLst/>
          </a:prstGeom>
          <a:solidFill>
            <a:srgbClr val="3167D5"/>
          </a:solidFill>
          <a:ln w="8890">
            <a:solidFill>
              <a:srgbClr val="3167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821924" y="4576572"/>
            <a:ext cx="301751" cy="301752"/>
          </a:xfrm>
          <a:prstGeom prst="rect">
            <a:avLst/>
          </a:prstGeom>
          <a:noFill/>
        </p:spPr>
        <p:txBody>
          <a:bodyPr wrap="square" lIns="9144" rIns="9144" tIns="9144" bIns="9144" anchor="ctr">
            <a:spAutoFit/>
          </a:bodyPr>
          <a:lstStyle/>
          <a:p>
            <a:pPr algn="ctr" rtl="0">
              <a:lnSpc>
                <a:spcPct val="100000"/>
              </a:lnSpc>
              <a:spcAft>
                <a:spcPts val="0"/>
              </a:spcAft>
            </a:pPr>
            <a:r>
              <a:rPr sz="1000" b="1" i="0" lang="en-US">
                <a:solidFill>
                  <a:srgbClr val="FFFFFF"/>
                </a:solidFill>
                <a:latin typeface="Aptos"/>
                <a:cs typeface="Aptos"/>
                <a:ea typeface="Aptos"/>
              </a:rPr>
              <a:t>5</a:t>
            </a:r>
          </a:p>
        </p:txBody>
      </p:sp>
      <p:sp>
        <p:nvSpPr>
          <p:cNvPr id="33" name="TextBox 32"/>
          <p:cNvSpPr txBox="1"/>
          <p:nvPr/>
        </p:nvSpPr>
        <p:spPr>
          <a:xfrm>
            <a:off x="8924544" y="4553712"/>
            <a:ext cx="1664208" cy="237744"/>
          </a:xfrm>
          <a:prstGeom prst="rect">
            <a:avLst/>
          </a:prstGeom>
          <a:noFill/>
        </p:spPr>
        <p:txBody>
          <a:bodyPr wrap="square" lIns="18288" rIns="18288" tIns="18288" bIns="18288" anchor="ctr">
            <a:spAutoFit/>
          </a:bodyPr>
          <a:lstStyle/>
          <a:p>
            <a:pPr algn="r" rtl="1">
              <a:lnSpc>
                <a:spcPct val="100000"/>
              </a:lnSpc>
              <a:spcAft>
                <a:spcPts val="0"/>
              </a:spcAft>
            </a:pPr>
            <a:r>
              <a:rPr sz="1080" b="1" i="0" lang="ar-DZ" rtl="1">
                <a:solidFill>
                  <a:srgbClr val="3167D5"/>
                </a:solidFill>
                <a:latin typeface="Cairo"/>
                <a:cs typeface="Cairo"/>
                <a:ea typeface="Cairo"/>
              </a:rPr>
              <a:t>من المكتبة إلى العون</a:t>
            </a:r>
          </a:p>
        </p:txBody>
      </p:sp>
      <p:sp>
        <p:nvSpPr>
          <p:cNvPr id="34" name="TextBox 33"/>
          <p:cNvSpPr txBox="1"/>
          <p:nvPr/>
        </p:nvSpPr>
        <p:spPr>
          <a:xfrm>
            <a:off x="8046720" y="4800600"/>
            <a:ext cx="2587752" cy="301752"/>
          </a:xfrm>
          <a:prstGeom prst="rect">
            <a:avLst/>
          </a:prstGeom>
          <a:noFill/>
        </p:spPr>
        <p:txBody>
          <a:bodyPr wrap="square" lIns="18288" rIns="18288" tIns="18288" bIns="18288" anchor="ctr">
            <a:spAutoFit/>
          </a:bodyPr>
          <a:lstStyle/>
          <a:p>
            <a:pPr algn="r" rtl="1">
              <a:lnSpc>
                <a:spcPct val="100000"/>
              </a:lnSpc>
              <a:spcAft>
                <a:spcPts val="0"/>
              </a:spcAft>
            </a:pPr>
            <a:r>
              <a:rPr sz="1130" b="0" i="0" lang="ar-DZ" rtl="1">
                <a:solidFill>
                  <a:srgbClr val="17263A"/>
                </a:solidFill>
                <a:latin typeface="Cairo"/>
                <a:cs typeface="Cairo"/>
                <a:ea typeface="Cairo"/>
              </a:rPr>
              <a:t>أوامر العمل اليومية؛ مثل ترتيب الرفوف</a:t>
            </a:r>
          </a:p>
        </p:txBody>
      </p:sp>
      <p:sp>
        <p:nvSpPr>
          <p:cNvPr id="35" name="Rounded Rectangle 34"/>
          <p:cNvSpPr/>
          <p:nvPr/>
        </p:nvSpPr>
        <p:spPr>
          <a:xfrm>
            <a:off x="10780776" y="5193792"/>
            <a:ext cx="384048" cy="310896"/>
          </a:xfrm>
          <a:prstGeom prst="roundRect">
            <a:avLst/>
          </a:prstGeom>
          <a:solidFill>
            <a:srgbClr val="3167D5"/>
          </a:solidFill>
          <a:ln w="8890">
            <a:solidFill>
              <a:srgbClr val="3167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821924" y="5198364"/>
            <a:ext cx="301751" cy="301752"/>
          </a:xfrm>
          <a:prstGeom prst="rect">
            <a:avLst/>
          </a:prstGeom>
          <a:noFill/>
        </p:spPr>
        <p:txBody>
          <a:bodyPr wrap="square" lIns="9144" rIns="9144" tIns="9144" bIns="9144" anchor="ctr">
            <a:spAutoFit/>
          </a:bodyPr>
          <a:lstStyle/>
          <a:p>
            <a:pPr algn="ctr" rtl="0">
              <a:lnSpc>
                <a:spcPct val="100000"/>
              </a:lnSpc>
              <a:spcAft>
                <a:spcPts val="0"/>
              </a:spcAft>
            </a:pPr>
            <a:r>
              <a:rPr sz="1000" b="1" i="0" lang="en-US">
                <a:solidFill>
                  <a:srgbClr val="FFFFFF"/>
                </a:solidFill>
                <a:latin typeface="Aptos"/>
                <a:cs typeface="Aptos"/>
                <a:ea typeface="Aptos"/>
              </a:rPr>
              <a:t>6</a:t>
            </a:r>
          </a:p>
        </p:txBody>
      </p:sp>
      <p:sp>
        <p:nvSpPr>
          <p:cNvPr id="37" name="TextBox 36"/>
          <p:cNvSpPr txBox="1"/>
          <p:nvPr/>
        </p:nvSpPr>
        <p:spPr>
          <a:xfrm>
            <a:off x="8924544" y="5175504"/>
            <a:ext cx="1664208" cy="237744"/>
          </a:xfrm>
          <a:prstGeom prst="rect">
            <a:avLst/>
          </a:prstGeom>
          <a:noFill/>
        </p:spPr>
        <p:txBody>
          <a:bodyPr wrap="square" lIns="18288" rIns="18288" tIns="18288" bIns="18288" anchor="ctr">
            <a:spAutoFit/>
          </a:bodyPr>
          <a:lstStyle/>
          <a:p>
            <a:pPr algn="r" rtl="1">
              <a:lnSpc>
                <a:spcPct val="100000"/>
              </a:lnSpc>
              <a:spcAft>
                <a:spcPts val="0"/>
              </a:spcAft>
            </a:pPr>
            <a:r>
              <a:rPr sz="1080" b="1" i="0" lang="ar-DZ" rtl="1">
                <a:solidFill>
                  <a:srgbClr val="3167D5"/>
                </a:solidFill>
                <a:latin typeface="Cairo"/>
                <a:cs typeface="Cairo"/>
                <a:ea typeface="Cairo"/>
              </a:rPr>
              <a:t>من العون إلى المكتبة</a:t>
            </a:r>
          </a:p>
        </p:txBody>
      </p:sp>
      <p:sp>
        <p:nvSpPr>
          <p:cNvPr id="38" name="TextBox 37"/>
          <p:cNvSpPr txBox="1"/>
          <p:nvPr/>
        </p:nvSpPr>
        <p:spPr>
          <a:xfrm>
            <a:off x="8046720" y="5422392"/>
            <a:ext cx="2587752" cy="301752"/>
          </a:xfrm>
          <a:prstGeom prst="rect">
            <a:avLst/>
          </a:prstGeom>
          <a:noFill/>
        </p:spPr>
        <p:txBody>
          <a:bodyPr wrap="square" lIns="18288" rIns="18288" tIns="18288" bIns="18288" anchor="ctr">
            <a:spAutoFit/>
          </a:bodyPr>
          <a:lstStyle/>
          <a:p>
            <a:pPr algn="r" rtl="1">
              <a:lnSpc>
                <a:spcPct val="100000"/>
              </a:lnSpc>
              <a:spcAft>
                <a:spcPts val="0"/>
              </a:spcAft>
            </a:pPr>
            <a:r>
              <a:rPr sz="1130" b="0" i="0" lang="ar-DZ" rtl="1">
                <a:solidFill>
                  <a:srgbClr val="17263A"/>
                </a:solidFill>
                <a:latin typeface="Cairo"/>
                <a:cs typeface="Cairo"/>
                <a:ea typeface="Cairo"/>
              </a:rPr>
              <a:t>تسجيل الكتب الجديدة</a:t>
            </a:r>
          </a:p>
        </p:txBody>
      </p:sp>
      <p:sp>
        <p:nvSpPr>
          <p:cNvPr id="39" name="Rounded Rectangle 38"/>
          <p:cNvSpPr/>
          <p:nvPr/>
        </p:nvSpPr>
        <p:spPr>
          <a:xfrm>
            <a:off x="621792" y="1417320"/>
            <a:ext cx="6812280" cy="4663440"/>
          </a:xfrm>
          <a:prstGeom prst="roundRect">
            <a:avLst/>
          </a:prstGeom>
          <a:solidFill>
            <a:srgbClr val="F8FAFD"/>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 name="Connector 39"/>
          <p:cNvCxnSpPr/>
          <p:nvPr/>
        </p:nvCxnSpPr>
        <p:spPr>
          <a:xfrm>
            <a:off x="3913632" y="2578608"/>
            <a:ext cx="0" cy="493776"/>
          </a:xfrm>
          <a:prstGeom prst="line">
            <a:avLst/>
          </a:prstGeom>
          <a:ln w="25400">
            <a:solidFill>
              <a:srgbClr val="3167D5"/>
            </a:solidFill>
          </a:ln>
        </p:spPr>
        <p:style>
          <a:lnRef idx="2">
            <a:schemeClr val="accent1"/>
          </a:lnRef>
          <a:fillRef idx="0">
            <a:schemeClr val="accent1"/>
          </a:fillRef>
          <a:effectRef idx="1">
            <a:schemeClr val="accent1"/>
          </a:effectRef>
          <a:fontRef idx="minor">
            <a:schemeClr val="tx1"/>
          </a:fontRef>
        </p:style>
      </p:cxnSp>
      <p:sp>
        <p:nvSpPr>
          <p:cNvPr id="41" name="Isosceles Triangle 40"/>
          <p:cNvSpPr/>
          <p:nvPr/>
        </p:nvSpPr>
        <p:spPr>
          <a:xfrm rot="10800000">
            <a:off x="3854196" y="3012948"/>
            <a:ext cx="118872" cy="118872"/>
          </a:xfrm>
          <a:prstGeom prst="triangle">
            <a:avLst/>
          </a:prstGeom>
          <a:solidFill>
            <a:srgbClr val="316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flipV="1">
            <a:off x="4297680" y="2578608"/>
            <a:ext cx="0" cy="493776"/>
          </a:xfrm>
          <a:prstGeom prst="line">
            <a:avLst/>
          </a:prstGeom>
          <a:ln w="25400">
            <a:solidFill>
              <a:srgbClr val="DCA74C"/>
            </a:solidFill>
          </a:ln>
        </p:spPr>
        <p:style>
          <a:lnRef idx="2">
            <a:schemeClr val="accent1"/>
          </a:lnRef>
          <a:fillRef idx="0">
            <a:schemeClr val="accent1"/>
          </a:fillRef>
          <a:effectRef idx="1">
            <a:schemeClr val="accent1"/>
          </a:effectRef>
          <a:fontRef idx="minor">
            <a:schemeClr val="tx1"/>
          </a:fontRef>
        </p:style>
      </p:cxnSp>
      <p:sp>
        <p:nvSpPr>
          <p:cNvPr id="43" name="Isosceles Triangle 42"/>
          <p:cNvSpPr/>
          <p:nvPr/>
        </p:nvSpPr>
        <p:spPr>
          <a:xfrm>
            <a:off x="4238244" y="2519172"/>
            <a:ext cx="118872" cy="118872"/>
          </a:xfrm>
          <a:prstGeom prst="triangle">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a:off x="2395728" y="4069080"/>
            <a:ext cx="530352" cy="0"/>
          </a:xfrm>
          <a:prstGeom prst="line">
            <a:avLst/>
          </a:prstGeom>
          <a:ln w="25400">
            <a:solidFill>
              <a:srgbClr val="DCA74C"/>
            </a:solidFill>
          </a:ln>
        </p:spPr>
        <p:style>
          <a:lnRef idx="2">
            <a:schemeClr val="accent1"/>
          </a:lnRef>
          <a:fillRef idx="0">
            <a:schemeClr val="accent1"/>
          </a:fillRef>
          <a:effectRef idx="1">
            <a:schemeClr val="accent1"/>
          </a:effectRef>
          <a:fontRef idx="minor">
            <a:schemeClr val="tx1"/>
          </a:fontRef>
        </p:style>
      </p:cxnSp>
      <p:sp>
        <p:nvSpPr>
          <p:cNvPr id="45" name="Isosceles Triangle 44"/>
          <p:cNvSpPr/>
          <p:nvPr/>
        </p:nvSpPr>
        <p:spPr>
          <a:xfrm rot="5400000">
            <a:off x="2866644" y="4009644"/>
            <a:ext cx="118872" cy="118872"/>
          </a:xfrm>
          <a:prstGeom prst="triangle">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6" name="Connector 45"/>
          <p:cNvCxnSpPr/>
          <p:nvPr/>
        </p:nvCxnSpPr>
        <p:spPr>
          <a:xfrm flipH="1">
            <a:off x="2395728" y="4434840"/>
            <a:ext cx="530352" cy="0"/>
          </a:xfrm>
          <a:prstGeom prst="line">
            <a:avLst/>
          </a:prstGeom>
          <a:ln w="25400">
            <a:solidFill>
              <a:srgbClr val="3167D5"/>
            </a:solidFill>
          </a:ln>
        </p:spPr>
        <p:style>
          <a:lnRef idx="2">
            <a:schemeClr val="accent1"/>
          </a:lnRef>
          <a:fillRef idx="0">
            <a:schemeClr val="accent1"/>
          </a:fillRef>
          <a:effectRef idx="1">
            <a:schemeClr val="accent1"/>
          </a:effectRef>
          <a:fontRef idx="minor">
            <a:schemeClr val="tx1"/>
          </a:fontRef>
        </p:style>
      </p:cxnSp>
      <p:sp>
        <p:nvSpPr>
          <p:cNvPr id="47" name="Isosceles Triangle 46"/>
          <p:cNvSpPr/>
          <p:nvPr/>
        </p:nvSpPr>
        <p:spPr>
          <a:xfrm rot="16200000">
            <a:off x="2336292" y="4375403"/>
            <a:ext cx="118872" cy="118872"/>
          </a:xfrm>
          <a:prstGeom prst="triangle">
            <a:avLst/>
          </a:prstGeom>
          <a:solidFill>
            <a:srgbClr val="316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a:off x="5230368" y="4069080"/>
            <a:ext cx="502920" cy="0"/>
          </a:xfrm>
          <a:prstGeom prst="line">
            <a:avLst/>
          </a:prstGeom>
          <a:ln w="25400">
            <a:solidFill>
              <a:srgbClr val="3167D5"/>
            </a:solidFill>
          </a:ln>
        </p:spPr>
        <p:style>
          <a:lnRef idx="2">
            <a:schemeClr val="accent1"/>
          </a:lnRef>
          <a:fillRef idx="0">
            <a:schemeClr val="accent1"/>
          </a:fillRef>
          <a:effectRef idx="1">
            <a:schemeClr val="accent1"/>
          </a:effectRef>
          <a:fontRef idx="minor">
            <a:schemeClr val="tx1"/>
          </a:fontRef>
        </p:style>
      </p:cxnSp>
      <p:sp>
        <p:nvSpPr>
          <p:cNvPr id="49" name="Isosceles Triangle 48"/>
          <p:cNvSpPr/>
          <p:nvPr/>
        </p:nvSpPr>
        <p:spPr>
          <a:xfrm rot="5400000">
            <a:off x="5673851" y="4009644"/>
            <a:ext cx="118872" cy="118872"/>
          </a:xfrm>
          <a:prstGeom prst="triangle">
            <a:avLst/>
          </a:prstGeom>
          <a:solidFill>
            <a:srgbClr val="316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0" name="Connector 49"/>
          <p:cNvCxnSpPr/>
          <p:nvPr/>
        </p:nvCxnSpPr>
        <p:spPr>
          <a:xfrm flipH="1">
            <a:off x="5230368" y="4434840"/>
            <a:ext cx="502920" cy="0"/>
          </a:xfrm>
          <a:prstGeom prst="line">
            <a:avLst/>
          </a:prstGeom>
          <a:ln w="25400">
            <a:solidFill>
              <a:srgbClr val="DCA74C"/>
            </a:solidFill>
          </a:ln>
        </p:spPr>
        <p:style>
          <a:lnRef idx="2">
            <a:schemeClr val="accent1"/>
          </a:lnRef>
          <a:fillRef idx="0">
            <a:schemeClr val="accent1"/>
          </a:fillRef>
          <a:effectRef idx="1">
            <a:schemeClr val="accent1"/>
          </a:effectRef>
          <a:fontRef idx="minor">
            <a:schemeClr val="tx1"/>
          </a:fontRef>
        </p:style>
      </p:cxnSp>
      <p:sp>
        <p:nvSpPr>
          <p:cNvPr id="51" name="Isosceles Triangle 50"/>
          <p:cNvSpPr/>
          <p:nvPr/>
        </p:nvSpPr>
        <p:spPr>
          <a:xfrm rot="16200000">
            <a:off x="5170931" y="4375403"/>
            <a:ext cx="118872" cy="118872"/>
          </a:xfrm>
          <a:prstGeom prst="triangle">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3182112" y="1645920"/>
            <a:ext cx="1874519" cy="877824"/>
          </a:xfrm>
          <a:prstGeom prst="roundRect">
            <a:avLst/>
          </a:prstGeom>
          <a:solidFill>
            <a:srgbClr val="FFFFFF"/>
          </a:solidFill>
          <a:ln w="10160">
            <a:solidFill>
              <a:srgbClr val="3167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310128" y="1874519"/>
            <a:ext cx="1618488" cy="365760"/>
          </a:xfrm>
          <a:prstGeom prst="rect">
            <a:avLst/>
          </a:prstGeom>
          <a:noFill/>
        </p:spPr>
        <p:txBody>
          <a:bodyPr wrap="square" lIns="18288" rIns="18288" tIns="18288" bIns="18288" anchor="ctr">
            <a:spAutoFit/>
          </a:bodyPr>
          <a:lstStyle/>
          <a:p>
            <a:pPr algn="ctr" rtl="1">
              <a:lnSpc>
                <a:spcPct val="100000"/>
              </a:lnSpc>
              <a:spcAft>
                <a:spcPts val="0"/>
              </a:spcAft>
            </a:pPr>
            <a:r>
              <a:rPr sz="1900" b="1" i="0" lang="ar-DZ" rtl="1">
                <a:solidFill>
                  <a:srgbClr val="10233D"/>
                </a:solidFill>
                <a:latin typeface="Cairo"/>
                <a:cs typeface="Cairo"/>
                <a:ea typeface="Cairo"/>
              </a:rPr>
              <a:t>الطالب</a:t>
            </a:r>
          </a:p>
        </p:txBody>
      </p:sp>
      <p:sp>
        <p:nvSpPr>
          <p:cNvPr id="54" name="Rounded Rectangle 53"/>
          <p:cNvSpPr/>
          <p:nvPr/>
        </p:nvSpPr>
        <p:spPr>
          <a:xfrm>
            <a:off x="3182112" y="3072384"/>
            <a:ext cx="1874519" cy="1444752"/>
          </a:xfrm>
          <a:prstGeom prst="roundRect">
            <a:avLst/>
          </a:prstGeom>
          <a:solidFill>
            <a:srgbClr val="10233D"/>
          </a:solidFill>
          <a:ln w="1016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328416" y="3401568"/>
            <a:ext cx="1581912" cy="411480"/>
          </a:xfrm>
          <a:prstGeom prst="rect">
            <a:avLst/>
          </a:prstGeom>
          <a:noFill/>
        </p:spPr>
        <p:txBody>
          <a:bodyPr wrap="square" lIns="18288" rIns="18288" tIns="18288" bIns="18288" anchor="ctr">
            <a:spAutoFit/>
          </a:bodyPr>
          <a:lstStyle/>
          <a:p>
            <a:pPr algn="ctr" rtl="1">
              <a:lnSpc>
                <a:spcPct val="100000"/>
              </a:lnSpc>
              <a:spcAft>
                <a:spcPts val="0"/>
              </a:spcAft>
            </a:pPr>
            <a:r>
              <a:rPr sz="2000" b="1" i="0" lang="ar-DZ" rtl="1">
                <a:solidFill>
                  <a:srgbClr val="FFFFFF"/>
                </a:solidFill>
                <a:latin typeface="Cairo"/>
                <a:cs typeface="Cairo"/>
                <a:ea typeface="Cairo"/>
              </a:rPr>
              <a:t>المكتبة</a:t>
            </a:r>
          </a:p>
        </p:txBody>
      </p:sp>
      <p:sp>
        <p:nvSpPr>
          <p:cNvPr id="56" name="TextBox 55"/>
          <p:cNvSpPr txBox="1"/>
          <p:nvPr/>
        </p:nvSpPr>
        <p:spPr>
          <a:xfrm>
            <a:off x="3355848" y="3886200"/>
            <a:ext cx="1527048" cy="246888"/>
          </a:xfrm>
          <a:prstGeom prst="rect">
            <a:avLst/>
          </a:prstGeom>
          <a:noFill/>
        </p:spPr>
        <p:txBody>
          <a:bodyPr wrap="square" lIns="18288" rIns="18288" tIns="18288" bIns="18288" anchor="ctr">
            <a:spAutoFit/>
          </a:bodyPr>
          <a:lstStyle/>
          <a:p>
            <a:pPr algn="ctr" rtl="1">
              <a:lnSpc>
                <a:spcPct val="100000"/>
              </a:lnSpc>
              <a:spcAft>
                <a:spcPts val="0"/>
              </a:spcAft>
            </a:pPr>
            <a:r>
              <a:rPr sz="1150" b="0" i="0" lang="ar-DZ" rtl="1">
                <a:solidFill>
                  <a:srgbClr val="C7D6E8"/>
                </a:solidFill>
                <a:latin typeface="Cairo"/>
                <a:cs typeface="Cairo"/>
                <a:ea typeface="Cairo"/>
              </a:rPr>
              <a:t>حقل الدراسة</a:t>
            </a:r>
          </a:p>
        </p:txBody>
      </p:sp>
      <p:sp>
        <p:nvSpPr>
          <p:cNvPr id="57" name="Rounded Rectangle 56"/>
          <p:cNvSpPr/>
          <p:nvPr/>
        </p:nvSpPr>
        <p:spPr>
          <a:xfrm>
            <a:off x="896112" y="3730752"/>
            <a:ext cx="1499616" cy="1042415"/>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05840" y="3904487"/>
            <a:ext cx="1280160" cy="603504"/>
          </a:xfrm>
          <a:prstGeom prst="rect">
            <a:avLst/>
          </a:prstGeom>
          <a:noFill/>
        </p:spPr>
        <p:txBody>
          <a:bodyPr wrap="square" lIns="18288" rIns="18288" tIns="18288" bIns="18288" anchor="ctr">
            <a:spAutoFit/>
          </a:bodyPr>
          <a:lstStyle/>
          <a:p>
            <a:pPr algn="ctr" rtl="1">
              <a:lnSpc>
                <a:spcPct val="100000"/>
              </a:lnSpc>
              <a:spcAft>
                <a:spcPts val="0"/>
              </a:spcAft>
            </a:pPr>
            <a:r>
              <a:rPr sz="1500" b="1" i="0" lang="ar-DZ" rtl="1">
                <a:solidFill>
                  <a:srgbClr val="10233D"/>
                </a:solidFill>
                <a:latin typeface="Cairo"/>
                <a:cs typeface="Cairo"/>
                <a:ea typeface="Cairo"/>
              </a:rPr>
              <a:t>مديرة</a:t>
            </a:r>
            <a:br/>
            <a:r>
              <a:rPr sz="1500" b="1" i="0" lang="ar-DZ" rtl="1">
                <a:solidFill>
                  <a:srgbClr val="10233D"/>
                </a:solidFill>
                <a:latin typeface="Cairo"/>
                <a:cs typeface="Cairo"/>
                <a:ea typeface="Cairo"/>
              </a:rPr>
              <a:t>المكتبة</a:t>
            </a:r>
          </a:p>
        </p:txBody>
      </p:sp>
      <p:sp>
        <p:nvSpPr>
          <p:cNvPr id="59" name="Rounded Rectangle 58"/>
          <p:cNvSpPr/>
          <p:nvPr/>
        </p:nvSpPr>
        <p:spPr>
          <a:xfrm>
            <a:off x="5733288" y="3730752"/>
            <a:ext cx="1444752" cy="1042415"/>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833872" y="3904487"/>
            <a:ext cx="1234440" cy="603504"/>
          </a:xfrm>
          <a:prstGeom prst="rect">
            <a:avLst/>
          </a:prstGeom>
          <a:noFill/>
        </p:spPr>
        <p:txBody>
          <a:bodyPr wrap="square" lIns="18288" rIns="18288" tIns="18288" bIns="18288" anchor="ctr">
            <a:spAutoFit/>
          </a:bodyPr>
          <a:lstStyle/>
          <a:p>
            <a:pPr algn="ctr" rtl="1">
              <a:lnSpc>
                <a:spcPct val="100000"/>
              </a:lnSpc>
              <a:spcAft>
                <a:spcPts val="0"/>
              </a:spcAft>
            </a:pPr>
            <a:r>
              <a:rPr sz="1500" b="1" i="0" lang="ar-DZ" rtl="1">
                <a:solidFill>
                  <a:srgbClr val="10233D"/>
                </a:solidFill>
                <a:latin typeface="Cairo"/>
                <a:cs typeface="Cairo"/>
                <a:ea typeface="Cairo"/>
              </a:rPr>
              <a:t>عون</a:t>
            </a:r>
            <a:br/>
            <a:r>
              <a:rPr sz="1500" b="1" i="0" lang="ar-DZ" rtl="1">
                <a:solidFill>
                  <a:srgbClr val="10233D"/>
                </a:solidFill>
                <a:latin typeface="Cairo"/>
                <a:cs typeface="Cairo"/>
                <a:ea typeface="Cairo"/>
              </a:rPr>
              <a:t>المكتبة</a:t>
            </a:r>
          </a:p>
        </p:txBody>
      </p:sp>
      <p:sp>
        <p:nvSpPr>
          <p:cNvPr id="61" name="Rounded Rectangle 60"/>
          <p:cNvSpPr/>
          <p:nvPr/>
        </p:nvSpPr>
        <p:spPr>
          <a:xfrm>
            <a:off x="4498848" y="2743200"/>
            <a:ext cx="256032" cy="219456"/>
          </a:xfrm>
          <a:prstGeom prst="roundRect">
            <a:avLst/>
          </a:prstGeom>
          <a:solidFill>
            <a:srgbClr val="DCA74C"/>
          </a:solidFill>
          <a:ln w="8890">
            <a:solidFill>
              <a:srgbClr val="DCA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539996" y="2747772"/>
            <a:ext cx="173736" cy="210311"/>
          </a:xfrm>
          <a:prstGeom prst="rect">
            <a:avLst/>
          </a:prstGeom>
          <a:noFill/>
        </p:spPr>
        <p:txBody>
          <a:bodyPr wrap="square" lIns="9144" rIns="9144" tIns="9144" bIns="9144" anchor="ctr">
            <a:spAutoFit/>
          </a:bodyPr>
          <a:lstStyle/>
          <a:p>
            <a:pPr algn="ctr" rtl="0">
              <a:lnSpc>
                <a:spcPct val="100000"/>
              </a:lnSpc>
              <a:spcAft>
                <a:spcPts val="0"/>
              </a:spcAft>
            </a:pPr>
            <a:r>
              <a:rPr sz="850" b="1" i="0" lang="en-US">
                <a:solidFill>
                  <a:srgbClr val="FFFFFF"/>
                </a:solidFill>
                <a:latin typeface="Aptos"/>
                <a:cs typeface="Aptos"/>
                <a:ea typeface="Aptos"/>
              </a:rPr>
              <a:t>1</a:t>
            </a:r>
          </a:p>
        </p:txBody>
      </p:sp>
      <p:sp>
        <p:nvSpPr>
          <p:cNvPr id="63" name="Rounded Rectangle 62"/>
          <p:cNvSpPr/>
          <p:nvPr/>
        </p:nvSpPr>
        <p:spPr>
          <a:xfrm>
            <a:off x="3438144" y="2743200"/>
            <a:ext cx="256032" cy="219456"/>
          </a:xfrm>
          <a:prstGeom prst="roundRect">
            <a:avLst/>
          </a:prstGeom>
          <a:solidFill>
            <a:srgbClr val="3167D5"/>
          </a:solidFill>
          <a:ln w="8890">
            <a:solidFill>
              <a:srgbClr val="3167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479291" y="2747772"/>
            <a:ext cx="173736" cy="210311"/>
          </a:xfrm>
          <a:prstGeom prst="rect">
            <a:avLst/>
          </a:prstGeom>
          <a:noFill/>
        </p:spPr>
        <p:txBody>
          <a:bodyPr wrap="square" lIns="9144" rIns="9144" tIns="9144" bIns="9144" anchor="ctr">
            <a:spAutoFit/>
          </a:bodyPr>
          <a:lstStyle/>
          <a:p>
            <a:pPr algn="ctr" rtl="0">
              <a:lnSpc>
                <a:spcPct val="100000"/>
              </a:lnSpc>
              <a:spcAft>
                <a:spcPts val="0"/>
              </a:spcAft>
            </a:pPr>
            <a:r>
              <a:rPr sz="850" b="1" i="0" lang="en-US">
                <a:solidFill>
                  <a:srgbClr val="FFFFFF"/>
                </a:solidFill>
                <a:latin typeface="Aptos"/>
                <a:cs typeface="Aptos"/>
                <a:ea typeface="Aptos"/>
              </a:rPr>
              <a:t>2</a:t>
            </a:r>
          </a:p>
        </p:txBody>
      </p:sp>
      <p:sp>
        <p:nvSpPr>
          <p:cNvPr id="65" name="Rounded Rectangle 64"/>
          <p:cNvSpPr/>
          <p:nvPr/>
        </p:nvSpPr>
        <p:spPr>
          <a:xfrm>
            <a:off x="2505456" y="3803904"/>
            <a:ext cx="256032" cy="219456"/>
          </a:xfrm>
          <a:prstGeom prst="roundRect">
            <a:avLst/>
          </a:prstGeom>
          <a:solidFill>
            <a:srgbClr val="3167D5"/>
          </a:solidFill>
          <a:ln w="8890">
            <a:solidFill>
              <a:srgbClr val="3167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546604" y="3808476"/>
            <a:ext cx="173736" cy="210311"/>
          </a:xfrm>
          <a:prstGeom prst="rect">
            <a:avLst/>
          </a:prstGeom>
          <a:noFill/>
        </p:spPr>
        <p:txBody>
          <a:bodyPr wrap="square" lIns="9144" rIns="9144" tIns="9144" bIns="9144" anchor="ctr">
            <a:spAutoFit/>
          </a:bodyPr>
          <a:lstStyle/>
          <a:p>
            <a:pPr algn="ctr" rtl="0">
              <a:lnSpc>
                <a:spcPct val="100000"/>
              </a:lnSpc>
              <a:spcAft>
                <a:spcPts val="0"/>
              </a:spcAft>
            </a:pPr>
            <a:r>
              <a:rPr sz="850" b="1" i="0" lang="en-US">
                <a:solidFill>
                  <a:srgbClr val="FFFFFF"/>
                </a:solidFill>
                <a:latin typeface="Aptos"/>
                <a:cs typeface="Aptos"/>
                <a:ea typeface="Aptos"/>
              </a:rPr>
              <a:t>3</a:t>
            </a:r>
          </a:p>
        </p:txBody>
      </p:sp>
      <p:sp>
        <p:nvSpPr>
          <p:cNvPr id="67" name="Rounded Rectangle 66"/>
          <p:cNvSpPr/>
          <p:nvPr/>
        </p:nvSpPr>
        <p:spPr>
          <a:xfrm>
            <a:off x="2505456" y="4443984"/>
            <a:ext cx="256032" cy="219456"/>
          </a:xfrm>
          <a:prstGeom prst="roundRect">
            <a:avLst/>
          </a:prstGeom>
          <a:solidFill>
            <a:srgbClr val="DCA74C"/>
          </a:solidFill>
          <a:ln w="8890">
            <a:solidFill>
              <a:srgbClr val="DCA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546604" y="4448556"/>
            <a:ext cx="173736" cy="210311"/>
          </a:xfrm>
          <a:prstGeom prst="rect">
            <a:avLst/>
          </a:prstGeom>
          <a:noFill/>
        </p:spPr>
        <p:txBody>
          <a:bodyPr wrap="square" lIns="9144" rIns="9144" tIns="9144" bIns="9144" anchor="ctr">
            <a:spAutoFit/>
          </a:bodyPr>
          <a:lstStyle/>
          <a:p>
            <a:pPr algn="ctr" rtl="0">
              <a:lnSpc>
                <a:spcPct val="100000"/>
              </a:lnSpc>
              <a:spcAft>
                <a:spcPts val="0"/>
              </a:spcAft>
            </a:pPr>
            <a:r>
              <a:rPr sz="850" b="1" i="0" lang="en-US">
                <a:solidFill>
                  <a:srgbClr val="FFFFFF"/>
                </a:solidFill>
                <a:latin typeface="Aptos"/>
                <a:cs typeface="Aptos"/>
                <a:ea typeface="Aptos"/>
              </a:rPr>
              <a:t>4</a:t>
            </a:r>
          </a:p>
        </p:txBody>
      </p:sp>
      <p:sp>
        <p:nvSpPr>
          <p:cNvPr id="69" name="Rounded Rectangle 68"/>
          <p:cNvSpPr/>
          <p:nvPr/>
        </p:nvSpPr>
        <p:spPr>
          <a:xfrm>
            <a:off x="5157216" y="3803904"/>
            <a:ext cx="256032" cy="219456"/>
          </a:xfrm>
          <a:prstGeom prst="roundRect">
            <a:avLst/>
          </a:prstGeom>
          <a:solidFill>
            <a:srgbClr val="3167D5"/>
          </a:solidFill>
          <a:ln w="8890">
            <a:solidFill>
              <a:srgbClr val="3167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198364" y="3808476"/>
            <a:ext cx="173736" cy="210311"/>
          </a:xfrm>
          <a:prstGeom prst="rect">
            <a:avLst/>
          </a:prstGeom>
          <a:noFill/>
        </p:spPr>
        <p:txBody>
          <a:bodyPr wrap="square" lIns="9144" rIns="9144" tIns="9144" bIns="9144" anchor="ctr">
            <a:spAutoFit/>
          </a:bodyPr>
          <a:lstStyle/>
          <a:p>
            <a:pPr algn="ctr" rtl="0">
              <a:lnSpc>
                <a:spcPct val="100000"/>
              </a:lnSpc>
              <a:spcAft>
                <a:spcPts val="0"/>
              </a:spcAft>
            </a:pPr>
            <a:r>
              <a:rPr sz="850" b="1" i="0" lang="en-US">
                <a:solidFill>
                  <a:srgbClr val="FFFFFF"/>
                </a:solidFill>
                <a:latin typeface="Aptos"/>
                <a:cs typeface="Aptos"/>
                <a:ea typeface="Aptos"/>
              </a:rPr>
              <a:t>5</a:t>
            </a:r>
          </a:p>
        </p:txBody>
      </p:sp>
      <p:sp>
        <p:nvSpPr>
          <p:cNvPr id="71" name="Rounded Rectangle 70"/>
          <p:cNvSpPr/>
          <p:nvPr/>
        </p:nvSpPr>
        <p:spPr>
          <a:xfrm>
            <a:off x="5157216" y="4443984"/>
            <a:ext cx="256032" cy="219456"/>
          </a:xfrm>
          <a:prstGeom prst="roundRect">
            <a:avLst/>
          </a:prstGeom>
          <a:solidFill>
            <a:srgbClr val="DCA74C"/>
          </a:solidFill>
          <a:ln w="8890">
            <a:solidFill>
              <a:srgbClr val="DCA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198364" y="4448556"/>
            <a:ext cx="173736" cy="210311"/>
          </a:xfrm>
          <a:prstGeom prst="rect">
            <a:avLst/>
          </a:prstGeom>
          <a:noFill/>
        </p:spPr>
        <p:txBody>
          <a:bodyPr wrap="square" lIns="9144" rIns="9144" tIns="9144" bIns="9144" anchor="ctr">
            <a:spAutoFit/>
          </a:bodyPr>
          <a:lstStyle/>
          <a:p>
            <a:pPr algn="ctr" rtl="0">
              <a:lnSpc>
                <a:spcPct val="100000"/>
              </a:lnSpc>
              <a:spcAft>
                <a:spcPts val="0"/>
              </a:spcAft>
            </a:pPr>
            <a:r>
              <a:rPr sz="850" b="1" i="0" lang="en-US">
                <a:solidFill>
                  <a:srgbClr val="FFFFFF"/>
                </a:solidFill>
                <a:latin typeface="Aptos"/>
                <a:cs typeface="Aptos"/>
                <a:ea typeface="Aptos"/>
              </a:rPr>
              <a:t>6</a:t>
            </a:r>
          </a:p>
        </p:txBody>
      </p:sp>
    </p:spTree>
  </p:cSld>
  <p:clrMapOvr>
    <a:masterClrMapping/>
  </p:clrMapOvr>
  <p:transition spd="med"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ounded Rectangle 1"/>
          <p:cNvSpPr/>
          <p:nvPr/>
        </p:nvSpPr>
        <p:spPr>
          <a:xfrm>
            <a:off x="530352" y="292608"/>
            <a:ext cx="2423160" cy="310896"/>
          </a:xfrm>
          <a:prstGeom prst="roundRect">
            <a:avLst/>
          </a:prstGeom>
          <a:solidFill>
            <a:srgbClr val="10233D"/>
          </a:solidFill>
          <a:ln w="889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1500" y="297180"/>
            <a:ext cx="2340864" cy="301752"/>
          </a:xfrm>
          <a:prstGeom prst="rect">
            <a:avLst/>
          </a:prstGeom>
          <a:noFill/>
        </p:spPr>
        <p:txBody>
          <a:bodyPr wrap="square" lIns="9144" rIns="9144" tIns="9144" bIns="9144" anchor="ctr">
            <a:spAutoFit/>
          </a:bodyPr>
          <a:lstStyle/>
          <a:p>
            <a:pPr algn="ctr" rtl="0">
              <a:lnSpc>
                <a:spcPct val="100000"/>
              </a:lnSpc>
              <a:spcAft>
                <a:spcPts val="0"/>
              </a:spcAft>
            </a:pPr>
            <a:r>
              <a:rPr sz="1050" b="1" i="0" lang="en-US">
                <a:solidFill>
                  <a:srgbClr val="FFFFFF"/>
                </a:solidFill>
                <a:latin typeface="Aptos"/>
                <a:cs typeface="Aptos"/>
                <a:ea typeface="Aptos"/>
              </a:rPr>
              <a:t>01  /  الدراسة</a:t>
            </a:r>
          </a:p>
        </p:txBody>
      </p:sp>
      <p:sp>
        <p:nvSpPr>
          <p:cNvPr id="4" name="Rectangle 3"/>
          <p:cNvSpPr/>
          <p:nvPr/>
        </p:nvSpPr>
        <p:spPr>
          <a:xfrm>
            <a:off x="11594592" y="283464"/>
            <a:ext cx="64008" cy="502920"/>
          </a:xfrm>
          <a:prstGeom prst="rect">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063240" y="182880"/>
            <a:ext cx="8229600" cy="557784"/>
          </a:xfrm>
          <a:prstGeom prst="rect">
            <a:avLst/>
          </a:prstGeom>
          <a:noFill/>
        </p:spPr>
        <p:txBody>
          <a:bodyPr wrap="square" lIns="18288" rIns="18288" tIns="18288" bIns="18288" anchor="ctr">
            <a:spAutoFit/>
          </a:bodyPr>
          <a:lstStyle/>
          <a:p>
            <a:pPr algn="r" rtl="1">
              <a:lnSpc>
                <a:spcPct val="100000"/>
              </a:lnSpc>
              <a:spcAft>
                <a:spcPts val="0"/>
              </a:spcAft>
            </a:pPr>
            <a:r>
              <a:rPr sz="2600" b="1" i="0" lang="ar-DZ" rtl="1">
                <a:solidFill>
                  <a:srgbClr val="10233D"/>
                </a:solidFill>
                <a:latin typeface="Cairo"/>
                <a:cs typeface="Cairo"/>
                <a:ea typeface="Cairo"/>
              </a:rPr>
              <a:t>ما كشفته الدراسة… وما أوصت به</a:t>
            </a:r>
          </a:p>
        </p:txBody>
      </p:sp>
      <p:sp>
        <p:nvSpPr>
          <p:cNvPr id="6" name="TextBox 5"/>
          <p:cNvSpPr txBox="1"/>
          <p:nvPr/>
        </p:nvSpPr>
        <p:spPr>
          <a:xfrm>
            <a:off x="3063240" y="731520"/>
            <a:ext cx="8229600" cy="310896"/>
          </a:xfrm>
          <a:prstGeom prst="rect">
            <a:avLst/>
          </a:prstGeom>
          <a:noFill/>
        </p:spPr>
        <p:txBody>
          <a:bodyPr wrap="square" lIns="9144" rIns="9144" tIns="9144" bIns="9144" anchor="ctr">
            <a:spAutoFit/>
          </a:bodyPr>
          <a:lstStyle/>
          <a:p>
            <a:pPr algn="r" rtl="1">
              <a:lnSpc>
                <a:spcPct val="100000"/>
              </a:lnSpc>
              <a:spcAft>
                <a:spcPts val="0"/>
              </a:spcAft>
            </a:pPr>
            <a:r>
              <a:rPr sz="1350" b="0" i="0" lang="ar-DZ" rtl="1">
                <a:solidFill>
                  <a:srgbClr val="617187"/>
                </a:solidFill>
                <a:latin typeface="Cairo"/>
                <a:cs typeface="Cairo"/>
                <a:ea typeface="Cairo"/>
              </a:rPr>
              <a:t>التوصيات المؤسسية منفصلة عن الوظائف المنفذة في التطبيق.</a:t>
            </a:r>
          </a:p>
        </p:txBody>
      </p:sp>
      <p:cxnSp>
        <p:nvCxnSpPr>
          <p:cNvPr id="7" name="Connector 6"/>
          <p:cNvCxnSpPr/>
          <p:nvPr/>
        </p:nvCxnSpPr>
        <p:spPr>
          <a:xfrm>
            <a:off x="530352" y="1170432"/>
            <a:ext cx="11128248" cy="0"/>
          </a:xfrm>
          <a:prstGeom prst="line">
            <a:avLst/>
          </a:prstGeom>
          <a:ln w="10160">
            <a:solidFill>
              <a:srgbClr val="D5DFE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30352" y="6382512"/>
            <a:ext cx="11128248" cy="0"/>
          </a:xfrm>
          <a:prstGeom prst="line">
            <a:avLst/>
          </a:prstGeom>
          <a:ln w="8890">
            <a:solidFill>
              <a:srgbClr val="D5DFEA"/>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03504" y="6437376"/>
            <a:ext cx="8778240" cy="210312"/>
          </a:xfrm>
          <a:prstGeom prst="rect">
            <a:avLst/>
          </a:prstGeom>
          <a:noFill/>
        </p:spPr>
        <p:txBody>
          <a:bodyPr wrap="square" lIns="0" rIns="0" tIns="0" bIns="0" anchor="ctr">
            <a:spAutoFit/>
          </a:bodyPr>
          <a:lstStyle/>
          <a:p>
            <a:pPr algn="l" rtl="1">
              <a:lnSpc>
                <a:spcPct val="100000"/>
              </a:lnSpc>
              <a:spcAft>
                <a:spcPts val="0"/>
              </a:spcAft>
            </a:pPr>
            <a:r>
              <a:rPr sz="850" b="0" i="0" lang="ar-DZ" rtl="1">
                <a:solidFill>
                  <a:srgbClr val="617187"/>
                </a:solidFill>
                <a:latin typeface="Cairo"/>
                <a:cs typeface="Cairo"/>
                <a:ea typeface="Cairo"/>
              </a:rPr>
              <a:t>المصدر: المذكرة، الفصل الأول، ص 41–42</a:t>
            </a:r>
          </a:p>
        </p:txBody>
      </p:sp>
      <p:sp>
        <p:nvSpPr>
          <p:cNvPr id="10" name="TextBox 9"/>
          <p:cNvSpPr txBox="1"/>
          <p:nvPr/>
        </p:nvSpPr>
        <p:spPr>
          <a:xfrm>
            <a:off x="10725912" y="6409944"/>
            <a:ext cx="932688" cy="228600"/>
          </a:xfrm>
          <a:prstGeom prst="rect">
            <a:avLst/>
          </a:prstGeom>
          <a:noFill/>
        </p:spPr>
        <p:txBody>
          <a:bodyPr wrap="square" lIns="0" rIns="0" tIns="0" bIns="0" anchor="ctr">
            <a:spAutoFit/>
          </a:bodyPr>
          <a:lstStyle/>
          <a:p>
            <a:pPr algn="l" rtl="0">
              <a:lnSpc>
                <a:spcPct val="100000"/>
              </a:lnSpc>
              <a:spcAft>
                <a:spcPts val="0"/>
              </a:spcAft>
            </a:pPr>
            <a:r>
              <a:rPr sz="950" b="1" i="0" lang="en-US">
                <a:solidFill>
                  <a:srgbClr val="10233D"/>
                </a:solidFill>
                <a:latin typeface="Aptos"/>
                <a:cs typeface="Aptos"/>
                <a:ea typeface="Aptos"/>
              </a:rPr>
              <a:t>06 / 20</a:t>
            </a:r>
          </a:p>
        </p:txBody>
      </p:sp>
      <p:sp>
        <p:nvSpPr>
          <p:cNvPr id="11" name="Rectangle 10"/>
          <p:cNvSpPr/>
          <p:nvPr/>
        </p:nvSpPr>
        <p:spPr>
          <a:xfrm>
            <a:off x="9400032" y="6519672"/>
            <a:ext cx="342900" cy="32004"/>
          </a:xfrm>
          <a:prstGeom prst="rect">
            <a:avLst/>
          </a:prstGeom>
          <a:solidFill>
            <a:srgbClr val="316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827264" y="1426464"/>
            <a:ext cx="3566160" cy="356616"/>
          </a:xfrm>
          <a:prstGeom prst="roundRect">
            <a:avLst/>
          </a:prstGeom>
          <a:solidFill>
            <a:srgbClr val="10233D"/>
          </a:solidFill>
          <a:ln w="889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8412" y="1431036"/>
            <a:ext cx="3483864" cy="347472"/>
          </a:xfrm>
          <a:prstGeom prst="rect">
            <a:avLst/>
          </a:prstGeom>
          <a:noFill/>
        </p:spPr>
        <p:txBody>
          <a:bodyPr wrap="square" lIns="9144" rIns="9144" tIns="9144" bIns="9144" anchor="ctr">
            <a:spAutoFit/>
          </a:bodyPr>
          <a:lstStyle/>
          <a:p>
            <a:pPr algn="ctr" rtl="1">
              <a:lnSpc>
                <a:spcPct val="100000"/>
              </a:lnSpc>
              <a:spcAft>
                <a:spcPts val="0"/>
              </a:spcAft>
            </a:pPr>
            <a:r>
              <a:rPr sz="1300" b="1" i="0" lang="ar-DZ" rtl="1">
                <a:solidFill>
                  <a:srgbClr val="FFFFFF"/>
                </a:solidFill>
                <a:latin typeface="Cairo"/>
                <a:cs typeface="Cairo"/>
                <a:ea typeface="Cairo"/>
              </a:rPr>
              <a:t>النقائص المرصودة</a:t>
            </a:r>
          </a:p>
        </p:txBody>
      </p:sp>
      <p:sp>
        <p:nvSpPr>
          <p:cNvPr id="14" name="Rounded Rectangle 13"/>
          <p:cNvSpPr/>
          <p:nvPr/>
        </p:nvSpPr>
        <p:spPr>
          <a:xfrm>
            <a:off x="795528" y="1426464"/>
            <a:ext cx="3566160" cy="356616"/>
          </a:xfrm>
          <a:prstGeom prst="roundRect">
            <a:avLst/>
          </a:prstGeom>
          <a:solidFill>
            <a:srgbClr val="3167D5"/>
          </a:solidFill>
          <a:ln w="8890">
            <a:solidFill>
              <a:srgbClr val="3167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6676" y="1431036"/>
            <a:ext cx="3483864" cy="347472"/>
          </a:xfrm>
          <a:prstGeom prst="rect">
            <a:avLst/>
          </a:prstGeom>
          <a:noFill/>
        </p:spPr>
        <p:txBody>
          <a:bodyPr wrap="square" lIns="9144" rIns="9144" tIns="9144" bIns="9144" anchor="ctr">
            <a:spAutoFit/>
          </a:bodyPr>
          <a:lstStyle/>
          <a:p>
            <a:pPr algn="ctr" rtl="1">
              <a:lnSpc>
                <a:spcPct val="100000"/>
              </a:lnSpc>
              <a:spcAft>
                <a:spcPts val="0"/>
              </a:spcAft>
            </a:pPr>
            <a:r>
              <a:rPr sz="1300" b="1" i="0" lang="ar-DZ" rtl="1">
                <a:solidFill>
                  <a:srgbClr val="FFFFFF"/>
                </a:solidFill>
                <a:latin typeface="Cairo"/>
                <a:cs typeface="Cairo"/>
                <a:ea typeface="Cairo"/>
              </a:rPr>
              <a:t>التوصيات الواردة</a:t>
            </a:r>
          </a:p>
        </p:txBody>
      </p:sp>
      <p:sp>
        <p:nvSpPr>
          <p:cNvPr id="16" name="Rounded Rectangle 15"/>
          <p:cNvSpPr/>
          <p:nvPr/>
        </p:nvSpPr>
        <p:spPr>
          <a:xfrm>
            <a:off x="7520940" y="1988820"/>
            <a:ext cx="4041648" cy="960120"/>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79792" y="1938528"/>
            <a:ext cx="4041648" cy="960120"/>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360152" y="2057400"/>
            <a:ext cx="868680" cy="246888"/>
          </a:xfrm>
          <a:prstGeom prst="roundRect">
            <a:avLst/>
          </a:prstGeom>
          <a:solidFill>
            <a:srgbClr val="F8F0DF"/>
          </a:solidFill>
          <a:ln w="8890">
            <a:solidFill>
              <a:srgbClr val="F8F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401300" y="2061972"/>
            <a:ext cx="786384" cy="237744"/>
          </a:xfrm>
          <a:prstGeom prst="rect">
            <a:avLst/>
          </a:prstGeom>
          <a:noFill/>
        </p:spPr>
        <p:txBody>
          <a:bodyPr wrap="square" lIns="9144" rIns="9144" tIns="9144" bIns="9144" anchor="ctr">
            <a:spAutoFit/>
          </a:bodyPr>
          <a:lstStyle/>
          <a:p>
            <a:pPr algn="ctr" rtl="1">
              <a:lnSpc>
                <a:spcPct val="100000"/>
              </a:lnSpc>
              <a:spcAft>
                <a:spcPts val="0"/>
              </a:spcAft>
            </a:pPr>
            <a:r>
              <a:rPr sz="1050" b="1" i="0" lang="ar-DZ" rtl="1">
                <a:solidFill>
                  <a:srgbClr val="10233D"/>
                </a:solidFill>
                <a:latin typeface="Cairo"/>
                <a:cs typeface="Cairo"/>
                <a:ea typeface="Cairo"/>
              </a:rPr>
              <a:t>تنظيمي</a:t>
            </a:r>
          </a:p>
        </p:txBody>
      </p:sp>
      <p:sp>
        <p:nvSpPr>
          <p:cNvPr id="20" name="TextBox 19"/>
          <p:cNvSpPr txBox="1"/>
          <p:nvPr/>
        </p:nvSpPr>
        <p:spPr>
          <a:xfrm>
            <a:off x="7726679" y="2331720"/>
            <a:ext cx="3502152" cy="466344"/>
          </a:xfrm>
          <a:prstGeom prst="rect">
            <a:avLst/>
          </a:prstGeom>
          <a:noFill/>
        </p:spPr>
        <p:txBody>
          <a:bodyPr wrap="square" lIns="18288" rIns="18288" tIns="18288" bIns="18288" anchor="ctr">
            <a:spAutoFit/>
          </a:bodyPr>
          <a:lstStyle/>
          <a:p>
            <a:pPr algn="r" rtl="1">
              <a:lnSpc>
                <a:spcPct val="100000"/>
              </a:lnSpc>
              <a:spcAft>
                <a:spcPts val="0"/>
              </a:spcAft>
            </a:pPr>
            <a:r>
              <a:rPr sz="1400" b="1" i="0" lang="ar-DZ" rtl="1">
                <a:solidFill>
                  <a:srgbClr val="17263A"/>
                </a:solidFill>
                <a:latin typeface="Cairo"/>
                <a:cs typeface="Cairo"/>
                <a:ea typeface="Cairo"/>
              </a:rPr>
              <a:t>نقص الكوادر التقنية وعبء العمل؛ وغياب تنظيم لسجل المذكرات</a:t>
            </a:r>
          </a:p>
        </p:txBody>
      </p:sp>
      <p:cxnSp>
        <p:nvCxnSpPr>
          <p:cNvPr id="21" name="Connector 20"/>
          <p:cNvCxnSpPr/>
          <p:nvPr/>
        </p:nvCxnSpPr>
        <p:spPr>
          <a:xfrm flipH="1">
            <a:off x="6355080" y="2423160"/>
            <a:ext cx="539496" cy="0"/>
          </a:xfrm>
          <a:prstGeom prst="line">
            <a:avLst/>
          </a:prstGeom>
          <a:ln w="25400">
            <a:solidFill>
              <a:srgbClr val="DCA74C"/>
            </a:solidFill>
          </a:ln>
        </p:spPr>
        <p:style>
          <a:lnRef idx="2">
            <a:schemeClr val="accent1"/>
          </a:lnRef>
          <a:fillRef idx="0">
            <a:schemeClr val="accent1"/>
          </a:fillRef>
          <a:effectRef idx="1">
            <a:schemeClr val="accent1"/>
          </a:effectRef>
          <a:fontRef idx="minor">
            <a:schemeClr val="tx1"/>
          </a:fontRef>
        </p:style>
      </p:cxnSp>
      <p:sp>
        <p:nvSpPr>
          <p:cNvPr id="22" name="Isosceles Triangle 21"/>
          <p:cNvSpPr/>
          <p:nvPr/>
        </p:nvSpPr>
        <p:spPr>
          <a:xfrm rot="16200000">
            <a:off x="6295644" y="2363724"/>
            <a:ext cx="118872" cy="118872"/>
          </a:xfrm>
          <a:prstGeom prst="triangle">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36676" y="1988820"/>
            <a:ext cx="5230368" cy="960120"/>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95528" y="1938528"/>
            <a:ext cx="5230368" cy="960120"/>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4128" y="2139696"/>
            <a:ext cx="4681728" cy="539496"/>
          </a:xfrm>
          <a:prstGeom prst="rect">
            <a:avLst/>
          </a:prstGeom>
          <a:noFill/>
        </p:spPr>
        <p:txBody>
          <a:bodyPr wrap="square" lIns="18288" rIns="18288" tIns="18288" bIns="18288" anchor="ctr">
            <a:spAutoFit/>
          </a:bodyPr>
          <a:lstStyle/>
          <a:p>
            <a:pPr algn="r" rtl="1">
              <a:lnSpc>
                <a:spcPct val="100000"/>
              </a:lnSpc>
              <a:spcAft>
                <a:spcPts val="0"/>
              </a:spcAft>
            </a:pPr>
            <a:r>
              <a:rPr sz="1500" b="1" i="0" lang="ar-DZ" rtl="1">
                <a:solidFill>
                  <a:srgbClr val="10233D"/>
                </a:solidFill>
                <a:latin typeface="Cairo"/>
                <a:cs typeface="Cairo"/>
                <a:ea typeface="Cairo"/>
              </a:rPr>
              <a:t>دعم الموارد البشرية والكفاءات؛ ونظام لترتيب سجل المذكرات</a:t>
            </a:r>
          </a:p>
        </p:txBody>
      </p:sp>
      <p:sp>
        <p:nvSpPr>
          <p:cNvPr id="26" name="Rounded Rectangle 25"/>
          <p:cNvSpPr/>
          <p:nvPr/>
        </p:nvSpPr>
        <p:spPr>
          <a:xfrm>
            <a:off x="7520940" y="3186684"/>
            <a:ext cx="4041648" cy="960120"/>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479792" y="3136392"/>
            <a:ext cx="4041648" cy="960120"/>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0360152" y="3255264"/>
            <a:ext cx="868680" cy="246888"/>
          </a:xfrm>
          <a:prstGeom prst="roundRect">
            <a:avLst/>
          </a:prstGeom>
          <a:solidFill>
            <a:srgbClr val="F8F0DF"/>
          </a:solidFill>
          <a:ln w="8890">
            <a:solidFill>
              <a:srgbClr val="F8F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401300" y="3259836"/>
            <a:ext cx="786384" cy="237744"/>
          </a:xfrm>
          <a:prstGeom prst="rect">
            <a:avLst/>
          </a:prstGeom>
          <a:noFill/>
        </p:spPr>
        <p:txBody>
          <a:bodyPr wrap="square" lIns="9144" rIns="9144" tIns="9144" bIns="9144" anchor="ctr">
            <a:spAutoFit/>
          </a:bodyPr>
          <a:lstStyle/>
          <a:p>
            <a:pPr algn="ctr" rtl="1">
              <a:lnSpc>
                <a:spcPct val="100000"/>
              </a:lnSpc>
              <a:spcAft>
                <a:spcPts val="0"/>
              </a:spcAft>
            </a:pPr>
            <a:r>
              <a:rPr sz="1050" b="1" i="0" lang="ar-DZ" rtl="1">
                <a:solidFill>
                  <a:srgbClr val="10233D"/>
                </a:solidFill>
                <a:latin typeface="Cairo"/>
                <a:cs typeface="Cairo"/>
                <a:ea typeface="Cairo"/>
              </a:rPr>
              <a:t>معلوماتي</a:t>
            </a:r>
          </a:p>
        </p:txBody>
      </p:sp>
      <p:sp>
        <p:nvSpPr>
          <p:cNvPr id="30" name="TextBox 29"/>
          <p:cNvSpPr txBox="1"/>
          <p:nvPr/>
        </p:nvSpPr>
        <p:spPr>
          <a:xfrm>
            <a:off x="7726679" y="3529584"/>
            <a:ext cx="3502152" cy="466344"/>
          </a:xfrm>
          <a:prstGeom prst="rect">
            <a:avLst/>
          </a:prstGeom>
          <a:noFill/>
        </p:spPr>
        <p:txBody>
          <a:bodyPr wrap="square" lIns="18288" rIns="18288" tIns="18288" bIns="18288" anchor="ctr">
            <a:spAutoFit/>
          </a:bodyPr>
          <a:lstStyle/>
          <a:p>
            <a:pPr algn="r" rtl="1">
              <a:lnSpc>
                <a:spcPct val="100000"/>
              </a:lnSpc>
              <a:spcAft>
                <a:spcPts val="0"/>
              </a:spcAft>
            </a:pPr>
            <a:r>
              <a:rPr sz="1400" b="1" i="0" lang="ar-DZ" rtl="1">
                <a:solidFill>
                  <a:srgbClr val="17263A"/>
                </a:solidFill>
                <a:latin typeface="Cairo"/>
                <a:cs typeface="Cairo"/>
                <a:ea typeface="Cairo"/>
              </a:rPr>
              <a:t>غياب سجل للعقوبات</a:t>
            </a:r>
            <a:br/>
            <a:r>
              <a:rPr sz="1400" b="1" i="0" lang="ar-DZ" rtl="1">
                <a:solidFill>
                  <a:srgbClr val="17263A"/>
                </a:solidFill>
                <a:latin typeface="Cairo"/>
                <a:cs typeface="Cairo"/>
                <a:ea typeface="Cairo"/>
              </a:rPr>
              <a:t>وضعف ضمانات حفظ الملفات</a:t>
            </a:r>
          </a:p>
        </p:txBody>
      </p:sp>
      <p:cxnSp>
        <p:nvCxnSpPr>
          <p:cNvPr id="31" name="Connector 30"/>
          <p:cNvCxnSpPr/>
          <p:nvPr/>
        </p:nvCxnSpPr>
        <p:spPr>
          <a:xfrm flipH="1">
            <a:off x="6355080" y="3621024"/>
            <a:ext cx="539496" cy="0"/>
          </a:xfrm>
          <a:prstGeom prst="line">
            <a:avLst/>
          </a:prstGeom>
          <a:ln w="25400">
            <a:solidFill>
              <a:srgbClr val="DCA74C"/>
            </a:solidFill>
          </a:ln>
        </p:spPr>
        <p:style>
          <a:lnRef idx="2">
            <a:schemeClr val="accent1"/>
          </a:lnRef>
          <a:fillRef idx="0">
            <a:schemeClr val="accent1"/>
          </a:fillRef>
          <a:effectRef idx="1">
            <a:schemeClr val="accent1"/>
          </a:effectRef>
          <a:fontRef idx="minor">
            <a:schemeClr val="tx1"/>
          </a:fontRef>
        </p:style>
      </p:cxnSp>
      <p:sp>
        <p:nvSpPr>
          <p:cNvPr id="32" name="Isosceles Triangle 31"/>
          <p:cNvSpPr/>
          <p:nvPr/>
        </p:nvSpPr>
        <p:spPr>
          <a:xfrm rot="16200000">
            <a:off x="6295644" y="3561588"/>
            <a:ext cx="118872" cy="118872"/>
          </a:xfrm>
          <a:prstGeom prst="triangle">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836676" y="3186684"/>
            <a:ext cx="5230368" cy="960120"/>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795528" y="3136392"/>
            <a:ext cx="5230368" cy="960120"/>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24128" y="3337560"/>
            <a:ext cx="4681728" cy="539496"/>
          </a:xfrm>
          <a:prstGeom prst="rect">
            <a:avLst/>
          </a:prstGeom>
          <a:noFill/>
        </p:spPr>
        <p:txBody>
          <a:bodyPr wrap="square" lIns="18288" rIns="18288" tIns="18288" bIns="18288" anchor="ctr">
            <a:spAutoFit/>
          </a:bodyPr>
          <a:lstStyle/>
          <a:p>
            <a:pPr algn="r" rtl="1">
              <a:lnSpc>
                <a:spcPct val="100000"/>
              </a:lnSpc>
              <a:spcAft>
                <a:spcPts val="0"/>
              </a:spcAft>
            </a:pPr>
            <a:r>
              <a:rPr sz="1500" b="1" i="0" lang="ar-DZ" rtl="1">
                <a:solidFill>
                  <a:srgbClr val="10233D"/>
                </a:solidFill>
                <a:latin typeface="Cairo"/>
                <a:cs typeface="Cairo"/>
                <a:ea typeface="Cairo"/>
              </a:rPr>
              <a:t>إنشاء سجل للعقوبات</a:t>
            </a:r>
            <a:br/>
            <a:r>
              <a:rPr sz="1500" b="1" i="0" lang="ar-DZ" rtl="1">
                <a:solidFill>
                  <a:srgbClr val="10233D"/>
                </a:solidFill>
                <a:latin typeface="Cairo"/>
                <a:cs typeface="Cairo"/>
                <a:ea typeface="Cairo"/>
              </a:rPr>
              <a:t>وتوفير نسخ احتياطية</a:t>
            </a:r>
          </a:p>
        </p:txBody>
      </p:sp>
      <p:sp>
        <p:nvSpPr>
          <p:cNvPr id="36" name="Rounded Rectangle 35"/>
          <p:cNvSpPr/>
          <p:nvPr/>
        </p:nvSpPr>
        <p:spPr>
          <a:xfrm>
            <a:off x="7520940" y="4384548"/>
            <a:ext cx="4041648" cy="960120"/>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7479792" y="4334256"/>
            <a:ext cx="4041648" cy="960120"/>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10360152" y="4453128"/>
            <a:ext cx="868680" cy="246888"/>
          </a:xfrm>
          <a:prstGeom prst="roundRect">
            <a:avLst/>
          </a:prstGeom>
          <a:solidFill>
            <a:srgbClr val="F8F0DF"/>
          </a:solidFill>
          <a:ln w="8890">
            <a:solidFill>
              <a:srgbClr val="F8F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401300" y="4457700"/>
            <a:ext cx="786384" cy="237744"/>
          </a:xfrm>
          <a:prstGeom prst="rect">
            <a:avLst/>
          </a:prstGeom>
          <a:noFill/>
        </p:spPr>
        <p:txBody>
          <a:bodyPr wrap="square" lIns="9144" rIns="9144" tIns="9144" bIns="9144" anchor="ctr">
            <a:spAutoFit/>
          </a:bodyPr>
          <a:lstStyle/>
          <a:p>
            <a:pPr algn="ctr" rtl="1">
              <a:lnSpc>
                <a:spcPct val="100000"/>
              </a:lnSpc>
              <a:spcAft>
                <a:spcPts val="0"/>
              </a:spcAft>
            </a:pPr>
            <a:r>
              <a:rPr sz="1050" b="1" i="0" lang="ar-DZ" rtl="1">
                <a:solidFill>
                  <a:srgbClr val="10233D"/>
                </a:solidFill>
                <a:latin typeface="Cairo"/>
                <a:cs typeface="Cairo"/>
                <a:ea typeface="Cairo"/>
              </a:rPr>
              <a:t>تقني</a:t>
            </a:r>
          </a:p>
        </p:txBody>
      </p:sp>
      <p:sp>
        <p:nvSpPr>
          <p:cNvPr id="40" name="TextBox 39"/>
          <p:cNvSpPr txBox="1"/>
          <p:nvPr/>
        </p:nvSpPr>
        <p:spPr>
          <a:xfrm>
            <a:off x="7726679" y="4727448"/>
            <a:ext cx="3502152" cy="466344"/>
          </a:xfrm>
          <a:prstGeom prst="rect">
            <a:avLst/>
          </a:prstGeom>
          <a:noFill/>
        </p:spPr>
        <p:txBody>
          <a:bodyPr wrap="square" lIns="18288" rIns="18288" tIns="18288" bIns="18288" anchor="ctr">
            <a:spAutoFit/>
          </a:bodyPr>
          <a:lstStyle/>
          <a:p>
            <a:pPr algn="r" rtl="1">
              <a:lnSpc>
                <a:spcPct val="100000"/>
              </a:lnSpc>
              <a:spcAft>
                <a:spcPts val="0"/>
              </a:spcAft>
            </a:pPr>
            <a:r>
              <a:rPr sz="1400" b="1" i="0" lang="ar-DZ" rtl="1">
                <a:solidFill>
                  <a:srgbClr val="17263A"/>
                </a:solidFill>
                <a:latin typeface="Cairo"/>
                <a:cs typeface="Cairo"/>
                <a:ea typeface="Cairo"/>
              </a:rPr>
              <a:t>قلة أجهزة الإعلام الآلي الحديثة</a:t>
            </a:r>
          </a:p>
        </p:txBody>
      </p:sp>
      <p:cxnSp>
        <p:nvCxnSpPr>
          <p:cNvPr id="41" name="Connector 40"/>
          <p:cNvCxnSpPr/>
          <p:nvPr/>
        </p:nvCxnSpPr>
        <p:spPr>
          <a:xfrm flipH="1">
            <a:off x="6355080" y="4818888"/>
            <a:ext cx="539496" cy="0"/>
          </a:xfrm>
          <a:prstGeom prst="line">
            <a:avLst/>
          </a:prstGeom>
          <a:ln w="25400">
            <a:solidFill>
              <a:srgbClr val="DCA74C"/>
            </a:solidFill>
          </a:ln>
        </p:spPr>
        <p:style>
          <a:lnRef idx="2">
            <a:schemeClr val="accent1"/>
          </a:lnRef>
          <a:fillRef idx="0">
            <a:schemeClr val="accent1"/>
          </a:fillRef>
          <a:effectRef idx="1">
            <a:schemeClr val="accent1"/>
          </a:effectRef>
          <a:fontRef idx="minor">
            <a:schemeClr val="tx1"/>
          </a:fontRef>
        </p:style>
      </p:cxnSp>
      <p:sp>
        <p:nvSpPr>
          <p:cNvPr id="42" name="Isosceles Triangle 41"/>
          <p:cNvSpPr/>
          <p:nvPr/>
        </p:nvSpPr>
        <p:spPr>
          <a:xfrm rot="16200000">
            <a:off x="6295644" y="4759452"/>
            <a:ext cx="118872" cy="118872"/>
          </a:xfrm>
          <a:prstGeom prst="triangle">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836676" y="4384548"/>
            <a:ext cx="5230368" cy="960120"/>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795528" y="4334256"/>
            <a:ext cx="5230368" cy="960120"/>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24128" y="4535424"/>
            <a:ext cx="4681728" cy="539496"/>
          </a:xfrm>
          <a:prstGeom prst="rect">
            <a:avLst/>
          </a:prstGeom>
          <a:noFill/>
        </p:spPr>
        <p:txBody>
          <a:bodyPr wrap="square" lIns="18288" rIns="18288" tIns="18288" bIns="18288" anchor="ctr">
            <a:spAutoFit/>
          </a:bodyPr>
          <a:lstStyle/>
          <a:p>
            <a:pPr algn="r" rtl="1">
              <a:lnSpc>
                <a:spcPct val="100000"/>
              </a:lnSpc>
              <a:spcAft>
                <a:spcPts val="0"/>
              </a:spcAft>
            </a:pPr>
            <a:r>
              <a:rPr sz="1500" b="1" i="0" lang="ar-DZ" rtl="1">
                <a:solidFill>
                  <a:srgbClr val="10233D"/>
                </a:solidFill>
                <a:latin typeface="Cairo"/>
                <a:cs typeface="Cairo"/>
                <a:ea typeface="Cairo"/>
              </a:rPr>
              <a:t>توفير عتاد حديث</a:t>
            </a:r>
            <a:br/>
            <a:r>
              <a:rPr sz="1500" b="1" i="0" lang="ar-DZ" rtl="1">
                <a:solidFill>
                  <a:srgbClr val="10233D"/>
                </a:solidFill>
                <a:latin typeface="Cairo"/>
                <a:cs typeface="Cairo"/>
                <a:ea typeface="Cairo"/>
              </a:rPr>
              <a:t>لتسهيل سير العمل</a:t>
            </a:r>
          </a:p>
        </p:txBody>
      </p:sp>
      <p:sp>
        <p:nvSpPr>
          <p:cNvPr id="46" name="Rounded Rectangle 45"/>
          <p:cNvSpPr/>
          <p:nvPr/>
        </p:nvSpPr>
        <p:spPr>
          <a:xfrm>
            <a:off x="9866376" y="5696712"/>
            <a:ext cx="1444752" cy="283464"/>
          </a:xfrm>
          <a:prstGeom prst="roundRect">
            <a:avLst/>
          </a:prstGeom>
          <a:solidFill>
            <a:srgbClr val="F8F0DF"/>
          </a:solidFill>
          <a:ln w="8890">
            <a:solidFill>
              <a:srgbClr val="F8F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907524" y="5701284"/>
            <a:ext cx="1362456" cy="274320"/>
          </a:xfrm>
          <a:prstGeom prst="rect">
            <a:avLst/>
          </a:prstGeom>
          <a:noFill/>
        </p:spPr>
        <p:txBody>
          <a:bodyPr wrap="square" lIns="9144" rIns="9144" tIns="9144" bIns="9144" anchor="ctr">
            <a:spAutoFit/>
          </a:bodyPr>
          <a:lstStyle/>
          <a:p>
            <a:pPr algn="ctr" rtl="1">
              <a:lnSpc>
                <a:spcPct val="100000"/>
              </a:lnSpc>
              <a:spcAft>
                <a:spcPts val="0"/>
              </a:spcAft>
            </a:pPr>
            <a:r>
              <a:rPr sz="1050" b="1" i="0" lang="ar-DZ" rtl="1">
                <a:solidFill>
                  <a:srgbClr val="10233D"/>
                </a:solidFill>
                <a:latin typeface="Cairo"/>
                <a:cs typeface="Cairo"/>
                <a:ea typeface="Cairo"/>
              </a:rPr>
              <a:t>تنبيه منهجي</a:t>
            </a:r>
          </a:p>
        </p:txBody>
      </p:sp>
      <p:sp>
        <p:nvSpPr>
          <p:cNvPr id="48" name="TextBox 47"/>
          <p:cNvSpPr txBox="1"/>
          <p:nvPr/>
        </p:nvSpPr>
        <p:spPr>
          <a:xfrm>
            <a:off x="914400" y="5678424"/>
            <a:ext cx="8650224" cy="310896"/>
          </a:xfrm>
          <a:prstGeom prst="rect">
            <a:avLst/>
          </a:prstGeom>
          <a:noFill/>
        </p:spPr>
        <p:txBody>
          <a:bodyPr wrap="square" lIns="18288" rIns="18288" tIns="18288" bIns="18288" anchor="ctr">
            <a:spAutoFit/>
          </a:bodyPr>
          <a:lstStyle/>
          <a:p>
            <a:pPr algn="r" rtl="1">
              <a:lnSpc>
                <a:spcPct val="100000"/>
              </a:lnSpc>
              <a:spcAft>
                <a:spcPts val="0"/>
              </a:spcAft>
            </a:pPr>
            <a:r>
              <a:rPr sz="1250" b="0" i="0" lang="ar-DZ" rtl="1">
                <a:solidFill>
                  <a:srgbClr val="617187"/>
                </a:solidFill>
                <a:latin typeface="Cairo"/>
                <a:cs typeface="Cairo"/>
                <a:ea typeface="Cairo"/>
              </a:rPr>
              <a:t>التوظيف وتحديث العتاد توصيات للمؤسسة، وليسا وظائف ينجزها البرنامج.</a:t>
            </a:r>
          </a:p>
        </p:txBody>
      </p:sp>
    </p:spTree>
  </p:cSld>
  <p:clrMapOvr>
    <a:masterClrMapping/>
  </p:clrMapOvr>
  <p:transition spd="med"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ounded Rectangle 1"/>
          <p:cNvSpPr/>
          <p:nvPr/>
        </p:nvSpPr>
        <p:spPr>
          <a:xfrm>
            <a:off x="530352" y="292608"/>
            <a:ext cx="2423160" cy="310896"/>
          </a:xfrm>
          <a:prstGeom prst="roundRect">
            <a:avLst/>
          </a:prstGeom>
          <a:solidFill>
            <a:srgbClr val="10233D"/>
          </a:solidFill>
          <a:ln w="889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1500" y="297180"/>
            <a:ext cx="2340864" cy="301752"/>
          </a:xfrm>
          <a:prstGeom prst="rect">
            <a:avLst/>
          </a:prstGeom>
          <a:noFill/>
        </p:spPr>
        <p:txBody>
          <a:bodyPr wrap="square" lIns="9144" rIns="9144" tIns="9144" bIns="9144" anchor="ctr">
            <a:spAutoFit/>
          </a:bodyPr>
          <a:lstStyle/>
          <a:p>
            <a:pPr algn="ctr" rtl="0">
              <a:lnSpc>
                <a:spcPct val="100000"/>
              </a:lnSpc>
              <a:spcAft>
                <a:spcPts val="0"/>
              </a:spcAft>
            </a:pPr>
            <a:r>
              <a:rPr sz="1050" b="1" i="0" lang="en-US">
                <a:solidFill>
                  <a:srgbClr val="FFFFFF"/>
                </a:solidFill>
                <a:latin typeface="Aptos"/>
                <a:cs typeface="Aptos"/>
                <a:ea typeface="Aptos"/>
              </a:rPr>
              <a:t>02  /  التحليل والتصميم</a:t>
            </a:r>
          </a:p>
        </p:txBody>
      </p:sp>
      <p:sp>
        <p:nvSpPr>
          <p:cNvPr id="4" name="Rectangle 3"/>
          <p:cNvSpPr/>
          <p:nvPr/>
        </p:nvSpPr>
        <p:spPr>
          <a:xfrm>
            <a:off x="11594592" y="283464"/>
            <a:ext cx="64008" cy="502920"/>
          </a:xfrm>
          <a:prstGeom prst="rect">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063240" y="182880"/>
            <a:ext cx="8229600" cy="557784"/>
          </a:xfrm>
          <a:prstGeom prst="rect">
            <a:avLst/>
          </a:prstGeom>
          <a:noFill/>
        </p:spPr>
        <p:txBody>
          <a:bodyPr wrap="square" lIns="18288" rIns="18288" tIns="18288" bIns="18288" anchor="ctr">
            <a:spAutoFit/>
          </a:bodyPr>
          <a:lstStyle/>
          <a:p>
            <a:pPr algn="r" rtl="1">
              <a:lnSpc>
                <a:spcPct val="100000"/>
              </a:lnSpc>
              <a:spcAft>
                <a:spcPts val="0"/>
              </a:spcAft>
            </a:pPr>
            <a:r>
              <a:rPr sz="2600" b="1" i="0" lang="ar-DZ" rtl="1">
                <a:solidFill>
                  <a:srgbClr val="10233D"/>
                </a:solidFill>
                <a:latin typeface="Cairo"/>
                <a:cs typeface="Cairo"/>
                <a:ea typeface="Cairo"/>
              </a:rPr>
              <a:t>MERISE: مسار من الواقع إلى التنفيذ</a:t>
            </a:r>
          </a:p>
        </p:txBody>
      </p:sp>
      <p:sp>
        <p:nvSpPr>
          <p:cNvPr id="6" name="TextBox 5"/>
          <p:cNvSpPr txBox="1"/>
          <p:nvPr/>
        </p:nvSpPr>
        <p:spPr>
          <a:xfrm>
            <a:off x="3063240" y="731520"/>
            <a:ext cx="8229600" cy="310896"/>
          </a:xfrm>
          <a:prstGeom prst="rect">
            <a:avLst/>
          </a:prstGeom>
          <a:noFill/>
        </p:spPr>
        <p:txBody>
          <a:bodyPr wrap="square" lIns="9144" rIns="9144" tIns="9144" bIns="9144" anchor="ctr">
            <a:spAutoFit/>
          </a:bodyPr>
          <a:lstStyle/>
          <a:p>
            <a:pPr algn="r" rtl="1">
              <a:lnSpc>
                <a:spcPct val="100000"/>
              </a:lnSpc>
              <a:spcAft>
                <a:spcPts val="0"/>
              </a:spcAft>
            </a:pPr>
            <a:r>
              <a:rPr sz="1350" b="0" i="0" lang="ar-DZ" rtl="1">
                <a:solidFill>
                  <a:srgbClr val="617187"/>
                </a:solidFill>
                <a:latin typeface="Cairo"/>
                <a:cs typeface="Cairo"/>
                <a:ea typeface="Cairo"/>
              </a:rPr>
              <a:t>تُفصل المنهجية بين مستوى البيانات ومستوى المعالجة، وتبني النماذج تدريجيًا.</a:t>
            </a:r>
          </a:p>
        </p:txBody>
      </p:sp>
      <p:cxnSp>
        <p:nvCxnSpPr>
          <p:cNvPr id="7" name="Connector 6"/>
          <p:cNvCxnSpPr/>
          <p:nvPr/>
        </p:nvCxnSpPr>
        <p:spPr>
          <a:xfrm>
            <a:off x="530352" y="1170432"/>
            <a:ext cx="11128248" cy="0"/>
          </a:xfrm>
          <a:prstGeom prst="line">
            <a:avLst/>
          </a:prstGeom>
          <a:ln w="10160">
            <a:solidFill>
              <a:srgbClr val="D5DFE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30352" y="6382512"/>
            <a:ext cx="11128248" cy="0"/>
          </a:xfrm>
          <a:prstGeom prst="line">
            <a:avLst/>
          </a:prstGeom>
          <a:ln w="8890">
            <a:solidFill>
              <a:srgbClr val="D5DFEA"/>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03504" y="6437376"/>
            <a:ext cx="8778240" cy="210312"/>
          </a:xfrm>
          <a:prstGeom prst="rect">
            <a:avLst/>
          </a:prstGeom>
          <a:noFill/>
        </p:spPr>
        <p:txBody>
          <a:bodyPr wrap="square" lIns="0" rIns="0" tIns="0" bIns="0" anchor="ctr">
            <a:spAutoFit/>
          </a:bodyPr>
          <a:lstStyle/>
          <a:p>
            <a:pPr algn="l" rtl="1">
              <a:lnSpc>
                <a:spcPct val="100000"/>
              </a:lnSpc>
              <a:spcAft>
                <a:spcPts val="0"/>
              </a:spcAft>
            </a:pPr>
            <a:r>
              <a:rPr sz="850" b="0" i="0" lang="ar-DZ" rtl="1">
                <a:solidFill>
                  <a:srgbClr val="617187"/>
                </a:solidFill>
                <a:latin typeface="Cairo"/>
                <a:cs typeface="Cairo"/>
                <a:ea typeface="Cairo"/>
              </a:rPr>
              <a:t>المصدر: المذكرة، المقدمة، ص 4–6؛ الفصلان الثاني والثالث</a:t>
            </a:r>
          </a:p>
        </p:txBody>
      </p:sp>
      <p:sp>
        <p:nvSpPr>
          <p:cNvPr id="10" name="TextBox 9"/>
          <p:cNvSpPr txBox="1"/>
          <p:nvPr/>
        </p:nvSpPr>
        <p:spPr>
          <a:xfrm>
            <a:off x="10725912" y="6409944"/>
            <a:ext cx="932688" cy="228600"/>
          </a:xfrm>
          <a:prstGeom prst="rect">
            <a:avLst/>
          </a:prstGeom>
          <a:noFill/>
        </p:spPr>
        <p:txBody>
          <a:bodyPr wrap="square" lIns="0" rIns="0" tIns="0" bIns="0" anchor="ctr">
            <a:spAutoFit/>
          </a:bodyPr>
          <a:lstStyle/>
          <a:p>
            <a:pPr algn="l" rtl="0">
              <a:lnSpc>
                <a:spcPct val="100000"/>
              </a:lnSpc>
              <a:spcAft>
                <a:spcPts val="0"/>
              </a:spcAft>
            </a:pPr>
            <a:r>
              <a:rPr sz="950" b="1" i="0" lang="en-US">
                <a:solidFill>
                  <a:srgbClr val="10233D"/>
                </a:solidFill>
                <a:latin typeface="Aptos"/>
                <a:cs typeface="Aptos"/>
                <a:ea typeface="Aptos"/>
              </a:rPr>
              <a:t>07 / 20</a:t>
            </a:r>
          </a:p>
        </p:txBody>
      </p:sp>
      <p:sp>
        <p:nvSpPr>
          <p:cNvPr id="11" name="Rectangle 10"/>
          <p:cNvSpPr/>
          <p:nvPr/>
        </p:nvSpPr>
        <p:spPr>
          <a:xfrm>
            <a:off x="9400032" y="6519672"/>
            <a:ext cx="400050" cy="32004"/>
          </a:xfrm>
          <a:prstGeom prst="rect">
            <a:avLst/>
          </a:prstGeom>
          <a:solidFill>
            <a:srgbClr val="316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008108" y="2098548"/>
            <a:ext cx="1627632" cy="2240280"/>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966960" y="2048256"/>
            <a:ext cx="1627632" cy="2240280"/>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1000232" y="2203704"/>
            <a:ext cx="438912" cy="256032"/>
          </a:xfrm>
          <a:prstGeom prst="roundRect">
            <a:avLst/>
          </a:prstGeom>
          <a:solidFill>
            <a:srgbClr val="10233D"/>
          </a:solidFill>
          <a:ln w="889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041380" y="2208276"/>
            <a:ext cx="356616" cy="246888"/>
          </a:xfrm>
          <a:prstGeom prst="rect">
            <a:avLst/>
          </a:prstGeom>
          <a:noFill/>
        </p:spPr>
        <p:txBody>
          <a:bodyPr wrap="square" lIns="9144" rIns="9144" tIns="9144" bIns="9144" anchor="ctr">
            <a:spAutoFit/>
          </a:bodyPr>
          <a:lstStyle/>
          <a:p>
            <a:pPr algn="ctr" rtl="0">
              <a:lnSpc>
                <a:spcPct val="100000"/>
              </a:lnSpc>
              <a:spcAft>
                <a:spcPts val="0"/>
              </a:spcAft>
            </a:pPr>
            <a:r>
              <a:rPr sz="950" b="1" i="0" lang="en-US">
                <a:solidFill>
                  <a:srgbClr val="FFFFFF"/>
                </a:solidFill>
                <a:latin typeface="Aptos"/>
                <a:cs typeface="Aptos"/>
                <a:ea typeface="Aptos"/>
              </a:rPr>
              <a:t>01</a:t>
            </a:r>
          </a:p>
        </p:txBody>
      </p:sp>
      <p:sp>
        <p:nvSpPr>
          <p:cNvPr id="16" name="TextBox 15"/>
          <p:cNvSpPr txBox="1"/>
          <p:nvPr/>
        </p:nvSpPr>
        <p:spPr>
          <a:xfrm>
            <a:off x="10085832" y="2624328"/>
            <a:ext cx="1399032" cy="566928"/>
          </a:xfrm>
          <a:prstGeom prst="rect">
            <a:avLst/>
          </a:prstGeom>
          <a:noFill/>
        </p:spPr>
        <p:txBody>
          <a:bodyPr wrap="square" lIns="18288" rIns="18288" tIns="18288" bIns="18288" anchor="ctr">
            <a:spAutoFit/>
          </a:bodyPr>
          <a:lstStyle/>
          <a:p>
            <a:pPr algn="ctr" rtl="1">
              <a:lnSpc>
                <a:spcPct val="102000"/>
              </a:lnSpc>
              <a:spcAft>
                <a:spcPts val="0"/>
              </a:spcAft>
            </a:pPr>
            <a:r>
              <a:rPr sz="1500" b="1" i="0" lang="ar-DZ" rtl="1">
                <a:solidFill>
                  <a:srgbClr val="10233D"/>
                </a:solidFill>
                <a:latin typeface="Cairo"/>
                <a:cs typeface="Cairo"/>
                <a:ea typeface="Cairo"/>
              </a:rPr>
              <a:t>الدراسة</a:t>
            </a:r>
            <a:br/>
            <a:r>
              <a:rPr sz="1500" b="1" i="0" lang="ar-DZ" rtl="1">
                <a:solidFill>
                  <a:srgbClr val="10233D"/>
                </a:solidFill>
                <a:latin typeface="Cairo"/>
                <a:cs typeface="Cairo"/>
                <a:ea typeface="Cairo"/>
              </a:rPr>
              <a:t>التمهيدية</a:t>
            </a:r>
          </a:p>
        </p:txBody>
      </p:sp>
      <p:cxnSp>
        <p:nvCxnSpPr>
          <p:cNvPr id="17" name="Connector 16"/>
          <p:cNvCxnSpPr/>
          <p:nvPr/>
        </p:nvCxnSpPr>
        <p:spPr>
          <a:xfrm>
            <a:off x="10168128" y="3300984"/>
            <a:ext cx="1225296" cy="0"/>
          </a:xfrm>
          <a:prstGeom prst="line">
            <a:avLst/>
          </a:prstGeom>
          <a:ln w="11430">
            <a:solidFill>
              <a:srgbClr val="D5DFE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0085832" y="3429000"/>
            <a:ext cx="1399032" cy="658368"/>
          </a:xfrm>
          <a:prstGeom prst="rect">
            <a:avLst/>
          </a:prstGeom>
          <a:noFill/>
        </p:spPr>
        <p:txBody>
          <a:bodyPr wrap="square" lIns="18288" rIns="18288" tIns="18288" bIns="18288" anchor="ctr">
            <a:spAutoFit/>
          </a:bodyPr>
          <a:lstStyle/>
          <a:p>
            <a:pPr algn="ctr" rtl="1">
              <a:lnSpc>
                <a:spcPct val="105000"/>
              </a:lnSpc>
              <a:spcAft>
                <a:spcPts val="0"/>
              </a:spcAft>
            </a:pPr>
            <a:r>
              <a:rPr sz="1050" b="0" i="0" lang="ar-DZ" rtl="1">
                <a:solidFill>
                  <a:srgbClr val="617187"/>
                </a:solidFill>
                <a:latin typeface="Cairo"/>
                <a:cs typeface="Cairo"/>
                <a:ea typeface="Cairo"/>
              </a:rPr>
              <a:t>الوثائق • المناصب</a:t>
            </a:r>
            <a:br/>
            <a:r>
              <a:rPr sz="1050" b="0" i="0" lang="ar-DZ" rtl="1">
                <a:solidFill>
                  <a:srgbClr val="617187"/>
                </a:solidFill>
                <a:latin typeface="Cairo"/>
                <a:cs typeface="Cairo"/>
                <a:ea typeface="Cairo"/>
              </a:rPr>
              <a:t>الإجراءات والتدفق</a:t>
            </a:r>
          </a:p>
        </p:txBody>
      </p:sp>
      <p:cxnSp>
        <p:nvCxnSpPr>
          <p:cNvPr id="19" name="Connector 18"/>
          <p:cNvCxnSpPr/>
          <p:nvPr/>
        </p:nvCxnSpPr>
        <p:spPr>
          <a:xfrm flipH="1">
            <a:off x="9793224" y="3145536"/>
            <a:ext cx="100584" cy="0"/>
          </a:xfrm>
          <a:prstGeom prst="line">
            <a:avLst/>
          </a:prstGeom>
          <a:ln w="22225">
            <a:solidFill>
              <a:srgbClr val="DCA74C"/>
            </a:solidFill>
          </a:ln>
        </p:spPr>
        <p:style>
          <a:lnRef idx="2">
            <a:schemeClr val="accent1"/>
          </a:lnRef>
          <a:fillRef idx="0">
            <a:schemeClr val="accent1"/>
          </a:fillRef>
          <a:effectRef idx="1">
            <a:schemeClr val="accent1"/>
          </a:effectRef>
          <a:fontRef idx="minor">
            <a:schemeClr val="tx1"/>
          </a:fontRef>
        </p:style>
      </p:cxnSp>
      <p:sp>
        <p:nvSpPr>
          <p:cNvPr id="20" name="Isosceles Triangle 19"/>
          <p:cNvSpPr/>
          <p:nvPr/>
        </p:nvSpPr>
        <p:spPr>
          <a:xfrm rot="16200000">
            <a:off x="9738359" y="3090672"/>
            <a:ext cx="109728" cy="109728"/>
          </a:xfrm>
          <a:prstGeom prst="triangle">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33588" y="2098548"/>
            <a:ext cx="1627632" cy="2240280"/>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092440" y="2048256"/>
            <a:ext cx="1627632" cy="2240280"/>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125712" y="2203704"/>
            <a:ext cx="438912" cy="256032"/>
          </a:xfrm>
          <a:prstGeom prst="roundRect">
            <a:avLst/>
          </a:prstGeom>
          <a:solidFill>
            <a:srgbClr val="10233D"/>
          </a:solidFill>
          <a:ln w="889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66860" y="2208276"/>
            <a:ext cx="356616" cy="246888"/>
          </a:xfrm>
          <a:prstGeom prst="rect">
            <a:avLst/>
          </a:prstGeom>
          <a:noFill/>
        </p:spPr>
        <p:txBody>
          <a:bodyPr wrap="square" lIns="9144" rIns="9144" tIns="9144" bIns="9144" anchor="ctr">
            <a:spAutoFit/>
          </a:bodyPr>
          <a:lstStyle/>
          <a:p>
            <a:pPr algn="ctr" rtl="0">
              <a:lnSpc>
                <a:spcPct val="100000"/>
              </a:lnSpc>
              <a:spcAft>
                <a:spcPts val="0"/>
              </a:spcAft>
            </a:pPr>
            <a:r>
              <a:rPr sz="950" b="1" i="0" lang="en-US">
                <a:solidFill>
                  <a:srgbClr val="FFFFFF"/>
                </a:solidFill>
                <a:latin typeface="Aptos"/>
                <a:cs typeface="Aptos"/>
                <a:ea typeface="Aptos"/>
              </a:rPr>
              <a:t>02</a:t>
            </a:r>
          </a:p>
        </p:txBody>
      </p:sp>
      <p:sp>
        <p:nvSpPr>
          <p:cNvPr id="25" name="TextBox 24"/>
          <p:cNvSpPr txBox="1"/>
          <p:nvPr/>
        </p:nvSpPr>
        <p:spPr>
          <a:xfrm>
            <a:off x="8211312" y="2624328"/>
            <a:ext cx="1399032" cy="566928"/>
          </a:xfrm>
          <a:prstGeom prst="rect">
            <a:avLst/>
          </a:prstGeom>
          <a:noFill/>
        </p:spPr>
        <p:txBody>
          <a:bodyPr wrap="square" lIns="18288" rIns="18288" tIns="18288" bIns="18288" anchor="ctr">
            <a:spAutoFit/>
          </a:bodyPr>
          <a:lstStyle/>
          <a:p>
            <a:pPr algn="ctr" rtl="1">
              <a:lnSpc>
                <a:spcPct val="102000"/>
              </a:lnSpc>
              <a:spcAft>
                <a:spcPts val="0"/>
              </a:spcAft>
            </a:pPr>
            <a:r>
              <a:rPr sz="1500" b="1" i="0" lang="ar-DZ" rtl="1">
                <a:solidFill>
                  <a:srgbClr val="10233D"/>
                </a:solidFill>
                <a:latin typeface="Cairo"/>
                <a:cs typeface="Cairo"/>
                <a:ea typeface="Cairo"/>
              </a:rPr>
              <a:t>قاموس البيانات</a:t>
            </a:r>
            <a:br/>
            <a:r>
              <a:rPr sz="1500" b="1" i="0" lang="ar-DZ" rtl="1">
                <a:solidFill>
                  <a:srgbClr val="10233D"/>
                </a:solidFill>
                <a:latin typeface="Cairo"/>
                <a:cs typeface="Cairo"/>
                <a:ea typeface="Cairo"/>
              </a:rPr>
              <a:t>+ SAT</a:t>
            </a:r>
          </a:p>
        </p:txBody>
      </p:sp>
      <p:cxnSp>
        <p:nvCxnSpPr>
          <p:cNvPr id="26" name="Connector 25"/>
          <p:cNvCxnSpPr/>
          <p:nvPr/>
        </p:nvCxnSpPr>
        <p:spPr>
          <a:xfrm>
            <a:off x="8293608" y="3300984"/>
            <a:ext cx="1225296" cy="0"/>
          </a:xfrm>
          <a:prstGeom prst="line">
            <a:avLst/>
          </a:prstGeom>
          <a:ln w="11430">
            <a:solidFill>
              <a:srgbClr val="D5DFEA"/>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211312" y="3429000"/>
            <a:ext cx="1399032" cy="658368"/>
          </a:xfrm>
          <a:prstGeom prst="rect">
            <a:avLst/>
          </a:prstGeom>
          <a:noFill/>
        </p:spPr>
        <p:txBody>
          <a:bodyPr wrap="square" lIns="18288" rIns="18288" tIns="18288" bIns="18288" anchor="ctr">
            <a:spAutoFit/>
          </a:bodyPr>
          <a:lstStyle/>
          <a:p>
            <a:pPr algn="ctr" rtl="1">
              <a:lnSpc>
                <a:spcPct val="105000"/>
              </a:lnSpc>
              <a:spcAft>
                <a:spcPts val="0"/>
              </a:spcAft>
            </a:pPr>
            <a:r>
              <a:rPr sz="1050" b="0" i="0" lang="ar-DZ" rtl="1">
                <a:solidFill>
                  <a:srgbClr val="617187"/>
                </a:solidFill>
                <a:latin typeface="Cairo"/>
                <a:cs typeface="Cairo"/>
                <a:ea typeface="Cairo"/>
              </a:rPr>
              <a:t>تنقية المعطيات</a:t>
            </a:r>
            <a:br/>
            <a:r>
              <a:rPr sz="1050" b="0" i="0" lang="ar-DZ" rtl="1">
                <a:solidFill>
                  <a:srgbClr val="617187"/>
                </a:solidFill>
                <a:latin typeface="Cairo"/>
                <a:cs typeface="Cairo"/>
                <a:ea typeface="Cairo"/>
              </a:rPr>
              <a:t>والروابط الوظيفية</a:t>
            </a:r>
          </a:p>
        </p:txBody>
      </p:sp>
      <p:cxnSp>
        <p:nvCxnSpPr>
          <p:cNvPr id="28" name="Connector 27"/>
          <p:cNvCxnSpPr/>
          <p:nvPr/>
        </p:nvCxnSpPr>
        <p:spPr>
          <a:xfrm flipH="1">
            <a:off x="7918704" y="3145536"/>
            <a:ext cx="100584" cy="0"/>
          </a:xfrm>
          <a:prstGeom prst="line">
            <a:avLst/>
          </a:prstGeom>
          <a:ln w="22225">
            <a:solidFill>
              <a:srgbClr val="DCA74C"/>
            </a:solidFill>
          </a:ln>
        </p:spPr>
        <p:style>
          <a:lnRef idx="2">
            <a:schemeClr val="accent1"/>
          </a:lnRef>
          <a:fillRef idx="0">
            <a:schemeClr val="accent1"/>
          </a:fillRef>
          <a:effectRef idx="1">
            <a:schemeClr val="accent1"/>
          </a:effectRef>
          <a:fontRef idx="minor">
            <a:schemeClr val="tx1"/>
          </a:fontRef>
        </p:style>
      </p:cxnSp>
      <p:sp>
        <p:nvSpPr>
          <p:cNvPr id="29" name="Isosceles Triangle 28"/>
          <p:cNvSpPr/>
          <p:nvPr/>
        </p:nvSpPr>
        <p:spPr>
          <a:xfrm rot="16200000">
            <a:off x="7863840" y="3090672"/>
            <a:ext cx="109728" cy="109728"/>
          </a:xfrm>
          <a:prstGeom prst="triangle">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259068" y="2098548"/>
            <a:ext cx="1627632" cy="2240280"/>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2048256"/>
            <a:ext cx="1627632" cy="2240280"/>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7251192" y="2203704"/>
            <a:ext cx="438912" cy="256032"/>
          </a:xfrm>
          <a:prstGeom prst="roundRect">
            <a:avLst/>
          </a:prstGeom>
          <a:solidFill>
            <a:srgbClr val="10233D"/>
          </a:solidFill>
          <a:ln w="889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292340" y="2208276"/>
            <a:ext cx="356616" cy="246888"/>
          </a:xfrm>
          <a:prstGeom prst="rect">
            <a:avLst/>
          </a:prstGeom>
          <a:noFill/>
        </p:spPr>
        <p:txBody>
          <a:bodyPr wrap="square" lIns="9144" rIns="9144" tIns="9144" bIns="9144" anchor="ctr">
            <a:spAutoFit/>
          </a:bodyPr>
          <a:lstStyle/>
          <a:p>
            <a:pPr algn="ctr" rtl="0">
              <a:lnSpc>
                <a:spcPct val="100000"/>
              </a:lnSpc>
              <a:spcAft>
                <a:spcPts val="0"/>
              </a:spcAft>
            </a:pPr>
            <a:r>
              <a:rPr sz="950" b="1" i="0" lang="en-US">
                <a:solidFill>
                  <a:srgbClr val="FFFFFF"/>
                </a:solidFill>
                <a:latin typeface="Aptos"/>
                <a:cs typeface="Aptos"/>
                <a:ea typeface="Aptos"/>
              </a:rPr>
              <a:t>03</a:t>
            </a:r>
          </a:p>
        </p:txBody>
      </p:sp>
      <p:sp>
        <p:nvSpPr>
          <p:cNvPr id="34" name="TextBox 33"/>
          <p:cNvSpPr txBox="1"/>
          <p:nvPr/>
        </p:nvSpPr>
        <p:spPr>
          <a:xfrm>
            <a:off x="6336792" y="2624328"/>
            <a:ext cx="1399032" cy="566928"/>
          </a:xfrm>
          <a:prstGeom prst="rect">
            <a:avLst/>
          </a:prstGeom>
          <a:noFill/>
        </p:spPr>
        <p:txBody>
          <a:bodyPr wrap="square" lIns="18288" rIns="18288" tIns="18288" bIns="18288" anchor="ctr">
            <a:spAutoFit/>
          </a:bodyPr>
          <a:lstStyle/>
          <a:p>
            <a:pPr algn="ctr" rtl="1">
              <a:lnSpc>
                <a:spcPct val="102000"/>
              </a:lnSpc>
              <a:spcAft>
                <a:spcPts val="0"/>
              </a:spcAft>
            </a:pPr>
            <a:r>
              <a:rPr sz="1500" b="1" i="0" lang="ar-DZ" rtl="1">
                <a:solidFill>
                  <a:srgbClr val="10233D"/>
                </a:solidFill>
                <a:latin typeface="Cairo"/>
                <a:cs typeface="Cairo"/>
                <a:ea typeface="Cairo"/>
              </a:rPr>
              <a:t>MCD</a:t>
            </a:r>
          </a:p>
        </p:txBody>
      </p:sp>
      <p:cxnSp>
        <p:nvCxnSpPr>
          <p:cNvPr id="35" name="Connector 34"/>
          <p:cNvCxnSpPr/>
          <p:nvPr/>
        </p:nvCxnSpPr>
        <p:spPr>
          <a:xfrm>
            <a:off x="6419088" y="3300984"/>
            <a:ext cx="1225295" cy="0"/>
          </a:xfrm>
          <a:prstGeom prst="line">
            <a:avLst/>
          </a:prstGeom>
          <a:ln w="11430">
            <a:solidFill>
              <a:srgbClr val="D5DFE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336792" y="3429000"/>
            <a:ext cx="1399032" cy="658368"/>
          </a:xfrm>
          <a:prstGeom prst="rect">
            <a:avLst/>
          </a:prstGeom>
          <a:noFill/>
        </p:spPr>
        <p:txBody>
          <a:bodyPr wrap="square" lIns="18288" rIns="18288" tIns="18288" bIns="18288" anchor="ctr">
            <a:spAutoFit/>
          </a:bodyPr>
          <a:lstStyle/>
          <a:p>
            <a:pPr algn="ctr" rtl="1">
              <a:lnSpc>
                <a:spcPct val="105000"/>
              </a:lnSpc>
              <a:spcAft>
                <a:spcPts val="0"/>
              </a:spcAft>
            </a:pPr>
            <a:r>
              <a:rPr sz="1050" b="0" i="0" lang="ar-DZ" rtl="1">
                <a:solidFill>
                  <a:srgbClr val="617187"/>
                </a:solidFill>
                <a:latin typeface="Cairo"/>
                <a:cs typeface="Cairo"/>
                <a:ea typeface="Cairo"/>
              </a:rPr>
              <a:t>الكيانات</a:t>
            </a:r>
            <a:br/>
            <a:r>
              <a:rPr sz="1050" b="0" i="0" lang="ar-DZ" rtl="1">
                <a:solidFill>
                  <a:srgbClr val="617187"/>
                </a:solidFill>
                <a:latin typeface="Cairo"/>
                <a:cs typeface="Cairo"/>
                <a:ea typeface="Cairo"/>
              </a:rPr>
              <a:t>العلاقات والتعدادات</a:t>
            </a:r>
          </a:p>
        </p:txBody>
      </p:sp>
      <p:cxnSp>
        <p:nvCxnSpPr>
          <p:cNvPr id="37" name="Connector 36"/>
          <p:cNvCxnSpPr/>
          <p:nvPr/>
        </p:nvCxnSpPr>
        <p:spPr>
          <a:xfrm flipH="1">
            <a:off x="6044184" y="3145536"/>
            <a:ext cx="100584" cy="0"/>
          </a:xfrm>
          <a:prstGeom prst="line">
            <a:avLst/>
          </a:prstGeom>
          <a:ln w="22225">
            <a:solidFill>
              <a:srgbClr val="DCA74C"/>
            </a:solidFill>
          </a:ln>
        </p:spPr>
        <p:style>
          <a:lnRef idx="2">
            <a:schemeClr val="accent1"/>
          </a:lnRef>
          <a:fillRef idx="0">
            <a:schemeClr val="accent1"/>
          </a:fillRef>
          <a:effectRef idx="1">
            <a:schemeClr val="accent1"/>
          </a:effectRef>
          <a:fontRef idx="minor">
            <a:schemeClr val="tx1"/>
          </a:fontRef>
        </p:style>
      </p:cxnSp>
      <p:sp>
        <p:nvSpPr>
          <p:cNvPr id="38" name="Isosceles Triangle 37"/>
          <p:cNvSpPr/>
          <p:nvPr/>
        </p:nvSpPr>
        <p:spPr>
          <a:xfrm rot="16200000">
            <a:off x="5989320" y="3090672"/>
            <a:ext cx="109728" cy="109728"/>
          </a:xfrm>
          <a:prstGeom prst="triangle">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4384548" y="2098548"/>
            <a:ext cx="1627632" cy="2240280"/>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4343400" y="2048256"/>
            <a:ext cx="1627632" cy="2240280"/>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5376672" y="2203704"/>
            <a:ext cx="438912" cy="256032"/>
          </a:xfrm>
          <a:prstGeom prst="roundRect">
            <a:avLst/>
          </a:prstGeom>
          <a:solidFill>
            <a:srgbClr val="10233D"/>
          </a:solidFill>
          <a:ln w="889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17820" y="2208276"/>
            <a:ext cx="356616" cy="246888"/>
          </a:xfrm>
          <a:prstGeom prst="rect">
            <a:avLst/>
          </a:prstGeom>
          <a:noFill/>
        </p:spPr>
        <p:txBody>
          <a:bodyPr wrap="square" lIns="9144" rIns="9144" tIns="9144" bIns="9144" anchor="ctr">
            <a:spAutoFit/>
          </a:bodyPr>
          <a:lstStyle/>
          <a:p>
            <a:pPr algn="ctr" rtl="0">
              <a:lnSpc>
                <a:spcPct val="100000"/>
              </a:lnSpc>
              <a:spcAft>
                <a:spcPts val="0"/>
              </a:spcAft>
            </a:pPr>
            <a:r>
              <a:rPr sz="950" b="1" i="0" lang="en-US">
                <a:solidFill>
                  <a:srgbClr val="FFFFFF"/>
                </a:solidFill>
                <a:latin typeface="Aptos"/>
                <a:cs typeface="Aptos"/>
                <a:ea typeface="Aptos"/>
              </a:rPr>
              <a:t>04</a:t>
            </a:r>
          </a:p>
        </p:txBody>
      </p:sp>
      <p:sp>
        <p:nvSpPr>
          <p:cNvPr id="43" name="TextBox 42"/>
          <p:cNvSpPr txBox="1"/>
          <p:nvPr/>
        </p:nvSpPr>
        <p:spPr>
          <a:xfrm>
            <a:off x="4462272" y="2624328"/>
            <a:ext cx="1399032" cy="566928"/>
          </a:xfrm>
          <a:prstGeom prst="rect">
            <a:avLst/>
          </a:prstGeom>
          <a:noFill/>
        </p:spPr>
        <p:txBody>
          <a:bodyPr wrap="square" lIns="18288" rIns="18288" tIns="18288" bIns="18288" anchor="ctr">
            <a:spAutoFit/>
          </a:bodyPr>
          <a:lstStyle/>
          <a:p>
            <a:pPr algn="ctr" rtl="1">
              <a:lnSpc>
                <a:spcPct val="102000"/>
              </a:lnSpc>
              <a:spcAft>
                <a:spcPts val="0"/>
              </a:spcAft>
            </a:pPr>
            <a:r>
              <a:rPr sz="1500" b="1" i="0" lang="ar-DZ" rtl="1">
                <a:solidFill>
                  <a:srgbClr val="10233D"/>
                </a:solidFill>
                <a:latin typeface="Cairo"/>
                <a:cs typeface="Cairo"/>
                <a:ea typeface="Cairo"/>
              </a:rPr>
              <a:t>MLD</a:t>
            </a:r>
          </a:p>
        </p:txBody>
      </p:sp>
      <p:cxnSp>
        <p:nvCxnSpPr>
          <p:cNvPr id="44" name="Connector 43"/>
          <p:cNvCxnSpPr/>
          <p:nvPr/>
        </p:nvCxnSpPr>
        <p:spPr>
          <a:xfrm>
            <a:off x="4544568" y="3300984"/>
            <a:ext cx="1225296" cy="0"/>
          </a:xfrm>
          <a:prstGeom prst="line">
            <a:avLst/>
          </a:prstGeom>
          <a:ln w="11430">
            <a:solidFill>
              <a:srgbClr val="D5DFEA"/>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4462272" y="3429000"/>
            <a:ext cx="1399032" cy="658368"/>
          </a:xfrm>
          <a:prstGeom prst="rect">
            <a:avLst/>
          </a:prstGeom>
          <a:noFill/>
        </p:spPr>
        <p:txBody>
          <a:bodyPr wrap="square" lIns="18288" rIns="18288" tIns="18288" bIns="18288" anchor="ctr">
            <a:spAutoFit/>
          </a:bodyPr>
          <a:lstStyle/>
          <a:p>
            <a:pPr algn="ctr" rtl="1">
              <a:lnSpc>
                <a:spcPct val="105000"/>
              </a:lnSpc>
              <a:spcAft>
                <a:spcPts val="0"/>
              </a:spcAft>
            </a:pPr>
            <a:r>
              <a:rPr sz="1050" b="0" i="0" lang="ar-DZ" rtl="1">
                <a:solidFill>
                  <a:srgbClr val="617187"/>
                </a:solidFill>
                <a:latin typeface="Cairo"/>
                <a:cs typeface="Cairo"/>
                <a:ea typeface="Cairo"/>
              </a:rPr>
              <a:t>العلاقات المنطقية</a:t>
            </a:r>
            <a:br/>
            <a:r>
              <a:rPr sz="1050" b="0" i="0" lang="ar-DZ" rtl="1">
                <a:solidFill>
                  <a:srgbClr val="617187"/>
                </a:solidFill>
                <a:latin typeface="Cairo"/>
                <a:cs typeface="Cairo"/>
                <a:ea typeface="Cairo"/>
              </a:rPr>
              <a:t>والمفاتيح</a:t>
            </a:r>
          </a:p>
        </p:txBody>
      </p:sp>
      <p:cxnSp>
        <p:nvCxnSpPr>
          <p:cNvPr id="46" name="Connector 45"/>
          <p:cNvCxnSpPr/>
          <p:nvPr/>
        </p:nvCxnSpPr>
        <p:spPr>
          <a:xfrm flipH="1">
            <a:off x="4169664" y="3145536"/>
            <a:ext cx="100584" cy="0"/>
          </a:xfrm>
          <a:prstGeom prst="line">
            <a:avLst/>
          </a:prstGeom>
          <a:ln w="22225">
            <a:solidFill>
              <a:srgbClr val="DCA74C"/>
            </a:solidFill>
          </a:ln>
        </p:spPr>
        <p:style>
          <a:lnRef idx="2">
            <a:schemeClr val="accent1"/>
          </a:lnRef>
          <a:fillRef idx="0">
            <a:schemeClr val="accent1"/>
          </a:fillRef>
          <a:effectRef idx="1">
            <a:schemeClr val="accent1"/>
          </a:effectRef>
          <a:fontRef idx="minor">
            <a:schemeClr val="tx1"/>
          </a:fontRef>
        </p:style>
      </p:cxnSp>
      <p:sp>
        <p:nvSpPr>
          <p:cNvPr id="47" name="Isosceles Triangle 46"/>
          <p:cNvSpPr/>
          <p:nvPr/>
        </p:nvSpPr>
        <p:spPr>
          <a:xfrm rot="16200000">
            <a:off x="4114800" y="3090672"/>
            <a:ext cx="109728" cy="109728"/>
          </a:xfrm>
          <a:prstGeom prst="triangle">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2510028" y="2098548"/>
            <a:ext cx="1627632" cy="2240280"/>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2468880" y="2048256"/>
            <a:ext cx="1627632" cy="2240280"/>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3502152" y="2203704"/>
            <a:ext cx="438912" cy="256032"/>
          </a:xfrm>
          <a:prstGeom prst="roundRect">
            <a:avLst/>
          </a:prstGeom>
          <a:solidFill>
            <a:srgbClr val="10233D"/>
          </a:solidFill>
          <a:ln w="889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543300" y="2208276"/>
            <a:ext cx="356616" cy="246888"/>
          </a:xfrm>
          <a:prstGeom prst="rect">
            <a:avLst/>
          </a:prstGeom>
          <a:noFill/>
        </p:spPr>
        <p:txBody>
          <a:bodyPr wrap="square" lIns="9144" rIns="9144" tIns="9144" bIns="9144" anchor="ctr">
            <a:spAutoFit/>
          </a:bodyPr>
          <a:lstStyle/>
          <a:p>
            <a:pPr algn="ctr" rtl="0">
              <a:lnSpc>
                <a:spcPct val="100000"/>
              </a:lnSpc>
              <a:spcAft>
                <a:spcPts val="0"/>
              </a:spcAft>
            </a:pPr>
            <a:r>
              <a:rPr sz="950" b="1" i="0" lang="en-US">
                <a:solidFill>
                  <a:srgbClr val="FFFFFF"/>
                </a:solidFill>
                <a:latin typeface="Aptos"/>
                <a:cs typeface="Aptos"/>
                <a:ea typeface="Aptos"/>
              </a:rPr>
              <a:t>05</a:t>
            </a:r>
          </a:p>
        </p:txBody>
      </p:sp>
      <p:sp>
        <p:nvSpPr>
          <p:cNvPr id="52" name="TextBox 51"/>
          <p:cNvSpPr txBox="1"/>
          <p:nvPr/>
        </p:nvSpPr>
        <p:spPr>
          <a:xfrm>
            <a:off x="2587752" y="2624328"/>
            <a:ext cx="1399032" cy="566928"/>
          </a:xfrm>
          <a:prstGeom prst="rect">
            <a:avLst/>
          </a:prstGeom>
          <a:noFill/>
        </p:spPr>
        <p:txBody>
          <a:bodyPr wrap="square" lIns="18288" rIns="18288" tIns="18288" bIns="18288" anchor="ctr">
            <a:spAutoFit/>
          </a:bodyPr>
          <a:lstStyle/>
          <a:p>
            <a:pPr algn="ctr" rtl="1">
              <a:lnSpc>
                <a:spcPct val="102000"/>
              </a:lnSpc>
              <a:spcAft>
                <a:spcPts val="0"/>
              </a:spcAft>
            </a:pPr>
            <a:r>
              <a:rPr sz="1500" b="1" i="0" lang="ar-DZ" rtl="1">
                <a:solidFill>
                  <a:srgbClr val="10233D"/>
                </a:solidFill>
                <a:latin typeface="Cairo"/>
                <a:cs typeface="Cairo"/>
                <a:ea typeface="Cairo"/>
              </a:rPr>
              <a:t>MPD</a:t>
            </a:r>
          </a:p>
        </p:txBody>
      </p:sp>
      <p:cxnSp>
        <p:nvCxnSpPr>
          <p:cNvPr id="53" name="Connector 52"/>
          <p:cNvCxnSpPr/>
          <p:nvPr/>
        </p:nvCxnSpPr>
        <p:spPr>
          <a:xfrm>
            <a:off x="2670048" y="3300984"/>
            <a:ext cx="1225296" cy="0"/>
          </a:xfrm>
          <a:prstGeom prst="line">
            <a:avLst/>
          </a:prstGeom>
          <a:ln w="11430">
            <a:solidFill>
              <a:srgbClr val="D5DFEA"/>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2587752" y="3429000"/>
            <a:ext cx="1399032" cy="658368"/>
          </a:xfrm>
          <a:prstGeom prst="rect">
            <a:avLst/>
          </a:prstGeom>
          <a:noFill/>
        </p:spPr>
        <p:txBody>
          <a:bodyPr wrap="square" lIns="18288" rIns="18288" tIns="18288" bIns="18288" anchor="ctr">
            <a:spAutoFit/>
          </a:bodyPr>
          <a:lstStyle/>
          <a:p>
            <a:pPr algn="ctr" rtl="1">
              <a:lnSpc>
                <a:spcPct val="105000"/>
              </a:lnSpc>
              <a:spcAft>
                <a:spcPts val="0"/>
              </a:spcAft>
            </a:pPr>
            <a:r>
              <a:rPr sz="1050" b="0" i="0" lang="ar-DZ" rtl="1">
                <a:solidFill>
                  <a:srgbClr val="617187"/>
                </a:solidFill>
                <a:latin typeface="Cairo"/>
                <a:cs typeface="Cairo"/>
                <a:ea typeface="Cairo"/>
              </a:rPr>
              <a:t>الجداول والحقول</a:t>
            </a:r>
            <a:br/>
            <a:r>
              <a:rPr sz="1050" b="0" i="0" lang="ar-DZ" rtl="1">
                <a:solidFill>
                  <a:srgbClr val="617187"/>
                </a:solidFill>
                <a:latin typeface="Cairo"/>
                <a:cs typeface="Cairo"/>
                <a:ea typeface="Cairo"/>
              </a:rPr>
              <a:t>والأنواع</a:t>
            </a:r>
          </a:p>
        </p:txBody>
      </p:sp>
      <p:cxnSp>
        <p:nvCxnSpPr>
          <p:cNvPr id="55" name="Connector 54"/>
          <p:cNvCxnSpPr/>
          <p:nvPr/>
        </p:nvCxnSpPr>
        <p:spPr>
          <a:xfrm flipH="1">
            <a:off x="2295144" y="3145536"/>
            <a:ext cx="100584" cy="0"/>
          </a:xfrm>
          <a:prstGeom prst="line">
            <a:avLst/>
          </a:prstGeom>
          <a:ln w="22225">
            <a:solidFill>
              <a:srgbClr val="DCA74C"/>
            </a:solidFill>
          </a:ln>
        </p:spPr>
        <p:style>
          <a:lnRef idx="2">
            <a:schemeClr val="accent1"/>
          </a:lnRef>
          <a:fillRef idx="0">
            <a:schemeClr val="accent1"/>
          </a:fillRef>
          <a:effectRef idx="1">
            <a:schemeClr val="accent1"/>
          </a:effectRef>
          <a:fontRef idx="minor">
            <a:schemeClr val="tx1"/>
          </a:fontRef>
        </p:style>
      </p:cxnSp>
      <p:sp>
        <p:nvSpPr>
          <p:cNvPr id="56" name="Isosceles Triangle 55"/>
          <p:cNvSpPr/>
          <p:nvPr/>
        </p:nvSpPr>
        <p:spPr>
          <a:xfrm rot="16200000">
            <a:off x="2240280" y="3090672"/>
            <a:ext cx="109728" cy="109728"/>
          </a:xfrm>
          <a:prstGeom prst="triangle">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635508" y="2098548"/>
            <a:ext cx="1627632" cy="2240280"/>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594360" y="2048256"/>
            <a:ext cx="1627632" cy="2240280"/>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1627631" y="2203704"/>
            <a:ext cx="438912" cy="256032"/>
          </a:xfrm>
          <a:prstGeom prst="roundRect">
            <a:avLst/>
          </a:prstGeom>
          <a:solidFill>
            <a:srgbClr val="10233D"/>
          </a:solidFill>
          <a:ln w="889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668779" y="2208276"/>
            <a:ext cx="356616" cy="246888"/>
          </a:xfrm>
          <a:prstGeom prst="rect">
            <a:avLst/>
          </a:prstGeom>
          <a:noFill/>
        </p:spPr>
        <p:txBody>
          <a:bodyPr wrap="square" lIns="9144" rIns="9144" tIns="9144" bIns="9144" anchor="ctr">
            <a:spAutoFit/>
          </a:bodyPr>
          <a:lstStyle/>
          <a:p>
            <a:pPr algn="ctr" rtl="0">
              <a:lnSpc>
                <a:spcPct val="100000"/>
              </a:lnSpc>
              <a:spcAft>
                <a:spcPts val="0"/>
              </a:spcAft>
            </a:pPr>
            <a:r>
              <a:rPr sz="950" b="1" i="0" lang="en-US">
                <a:solidFill>
                  <a:srgbClr val="FFFFFF"/>
                </a:solidFill>
                <a:latin typeface="Aptos"/>
                <a:cs typeface="Aptos"/>
                <a:ea typeface="Aptos"/>
              </a:rPr>
              <a:t>06</a:t>
            </a:r>
          </a:p>
        </p:txBody>
      </p:sp>
      <p:sp>
        <p:nvSpPr>
          <p:cNvPr id="61" name="TextBox 60"/>
          <p:cNvSpPr txBox="1"/>
          <p:nvPr/>
        </p:nvSpPr>
        <p:spPr>
          <a:xfrm>
            <a:off x="713232" y="2624328"/>
            <a:ext cx="1399032" cy="566928"/>
          </a:xfrm>
          <a:prstGeom prst="rect">
            <a:avLst/>
          </a:prstGeom>
          <a:noFill/>
        </p:spPr>
        <p:txBody>
          <a:bodyPr wrap="square" lIns="18288" rIns="18288" tIns="18288" bIns="18288" anchor="ctr">
            <a:spAutoFit/>
          </a:bodyPr>
          <a:lstStyle/>
          <a:p>
            <a:pPr algn="ctr" rtl="1">
              <a:lnSpc>
                <a:spcPct val="102000"/>
              </a:lnSpc>
              <a:spcAft>
                <a:spcPts val="0"/>
              </a:spcAft>
            </a:pPr>
            <a:r>
              <a:rPr sz="1500" b="1" i="0" lang="ar-DZ" rtl="1">
                <a:solidFill>
                  <a:srgbClr val="10233D"/>
                </a:solidFill>
                <a:latin typeface="Cairo"/>
                <a:cs typeface="Cairo"/>
                <a:ea typeface="Cairo"/>
              </a:rPr>
              <a:t>التنفيذ</a:t>
            </a:r>
          </a:p>
        </p:txBody>
      </p:sp>
      <p:cxnSp>
        <p:nvCxnSpPr>
          <p:cNvPr id="62" name="Connector 61"/>
          <p:cNvCxnSpPr/>
          <p:nvPr/>
        </p:nvCxnSpPr>
        <p:spPr>
          <a:xfrm>
            <a:off x="795528" y="3300984"/>
            <a:ext cx="1225296" cy="0"/>
          </a:xfrm>
          <a:prstGeom prst="line">
            <a:avLst/>
          </a:prstGeom>
          <a:ln w="11430">
            <a:solidFill>
              <a:srgbClr val="D5DFEA"/>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713232" y="3429000"/>
            <a:ext cx="1399032" cy="658368"/>
          </a:xfrm>
          <a:prstGeom prst="rect">
            <a:avLst/>
          </a:prstGeom>
          <a:noFill/>
        </p:spPr>
        <p:txBody>
          <a:bodyPr wrap="square" lIns="18288" rIns="18288" tIns="18288" bIns="18288" anchor="ctr">
            <a:spAutoFit/>
          </a:bodyPr>
          <a:lstStyle/>
          <a:p>
            <a:pPr algn="ctr" rtl="1">
              <a:lnSpc>
                <a:spcPct val="105000"/>
              </a:lnSpc>
              <a:spcAft>
                <a:spcPts val="0"/>
              </a:spcAft>
            </a:pPr>
            <a:r>
              <a:rPr sz="1050" b="0" i="0" lang="ar-DZ" rtl="1">
                <a:solidFill>
                  <a:srgbClr val="617187"/>
                </a:solidFill>
                <a:latin typeface="Cairo"/>
                <a:cs typeface="Cairo"/>
                <a:ea typeface="Cairo"/>
              </a:rPr>
              <a:t>SQL Server</a:t>
            </a:r>
            <a:br/>
            <a:r>
              <a:rPr sz="1050" b="0" i="0" lang="ar-DZ" rtl="1">
                <a:solidFill>
                  <a:srgbClr val="617187"/>
                </a:solidFill>
                <a:latin typeface="Cairo"/>
                <a:cs typeface="Cairo"/>
                <a:ea typeface="Cairo"/>
              </a:rPr>
              <a:t>+ Delphi</a:t>
            </a:r>
          </a:p>
        </p:txBody>
      </p:sp>
      <p:sp>
        <p:nvSpPr>
          <p:cNvPr id="64" name="Rounded Rectangle 63"/>
          <p:cNvSpPr/>
          <p:nvPr/>
        </p:nvSpPr>
        <p:spPr>
          <a:xfrm>
            <a:off x="749808" y="4818888"/>
            <a:ext cx="5230368" cy="841248"/>
          </a:xfrm>
          <a:prstGeom prst="roundRect">
            <a:avLst/>
          </a:prstGeom>
          <a:solidFill>
            <a:srgbClr val="10233D"/>
          </a:solidFill>
          <a:ln w="1016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05840" y="5020056"/>
            <a:ext cx="4709160" cy="347472"/>
          </a:xfrm>
          <a:prstGeom prst="rect">
            <a:avLst/>
          </a:prstGeom>
          <a:noFill/>
        </p:spPr>
        <p:txBody>
          <a:bodyPr wrap="square" lIns="18288" rIns="18288" tIns="18288" bIns="18288" anchor="ctr">
            <a:spAutoFit/>
          </a:bodyPr>
          <a:lstStyle/>
          <a:p>
            <a:pPr algn="ctr" rtl="1">
              <a:lnSpc>
                <a:spcPct val="100000"/>
              </a:lnSpc>
              <a:spcAft>
                <a:spcPts val="0"/>
              </a:spcAft>
            </a:pPr>
            <a:r>
              <a:rPr sz="1700" b="1" i="0" lang="ar-DZ" rtl="1">
                <a:solidFill>
                  <a:srgbClr val="FFFFFF"/>
                </a:solidFill>
                <a:latin typeface="Cairo"/>
                <a:cs typeface="Cairo"/>
                <a:ea typeface="Cairo"/>
              </a:rPr>
              <a:t>الفصل بين المعطيات والمعالجات</a:t>
            </a:r>
          </a:p>
        </p:txBody>
      </p:sp>
      <p:sp>
        <p:nvSpPr>
          <p:cNvPr id="66" name="Rounded Rectangle 65"/>
          <p:cNvSpPr/>
          <p:nvPr/>
        </p:nvSpPr>
        <p:spPr>
          <a:xfrm>
            <a:off x="6236208" y="4818888"/>
            <a:ext cx="5230368" cy="841248"/>
          </a:xfrm>
          <a:prstGeom prst="roundRect">
            <a:avLst/>
          </a:prstGeom>
          <a:solidFill>
            <a:srgbClr val="E7EFFD"/>
          </a:solidFill>
          <a:ln w="10160">
            <a:solidFill>
              <a:srgbClr val="E7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492240" y="5020056"/>
            <a:ext cx="4709160" cy="347472"/>
          </a:xfrm>
          <a:prstGeom prst="rect">
            <a:avLst/>
          </a:prstGeom>
          <a:noFill/>
        </p:spPr>
        <p:txBody>
          <a:bodyPr wrap="square" lIns="18288" rIns="18288" tIns="18288" bIns="18288" anchor="ctr">
            <a:spAutoFit/>
          </a:bodyPr>
          <a:lstStyle/>
          <a:p>
            <a:pPr algn="ctr" rtl="1">
              <a:lnSpc>
                <a:spcPct val="100000"/>
              </a:lnSpc>
              <a:spcAft>
                <a:spcPts val="0"/>
              </a:spcAft>
            </a:pPr>
            <a:r>
              <a:rPr sz="1600" b="1" i="0" lang="ar-DZ" rtl="1">
                <a:solidFill>
                  <a:srgbClr val="10233D"/>
                </a:solidFill>
                <a:latin typeface="Cairo"/>
                <a:cs typeface="Cairo"/>
                <a:ea typeface="Cairo"/>
              </a:rPr>
              <a:t>كل مرحلة تهيّئ مخرجات المرحلة التالية</a:t>
            </a:r>
          </a:p>
        </p:txBody>
      </p:sp>
    </p:spTree>
  </p:cSld>
  <p:clrMapOvr>
    <a:masterClrMapping/>
  </p:clrMapOvr>
  <p:transition spd="med" advClick="1">
    <p:wipe dir="l"/>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ounded Rectangle 1"/>
          <p:cNvSpPr/>
          <p:nvPr/>
        </p:nvSpPr>
        <p:spPr>
          <a:xfrm>
            <a:off x="530352" y="292608"/>
            <a:ext cx="2423160" cy="310896"/>
          </a:xfrm>
          <a:prstGeom prst="roundRect">
            <a:avLst/>
          </a:prstGeom>
          <a:solidFill>
            <a:srgbClr val="10233D"/>
          </a:solidFill>
          <a:ln w="889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1500" y="297180"/>
            <a:ext cx="2340864" cy="301752"/>
          </a:xfrm>
          <a:prstGeom prst="rect">
            <a:avLst/>
          </a:prstGeom>
          <a:noFill/>
        </p:spPr>
        <p:txBody>
          <a:bodyPr wrap="square" lIns="9144" rIns="9144" tIns="9144" bIns="9144" anchor="ctr">
            <a:spAutoFit/>
          </a:bodyPr>
          <a:lstStyle/>
          <a:p>
            <a:pPr algn="ctr" rtl="0">
              <a:lnSpc>
                <a:spcPct val="100000"/>
              </a:lnSpc>
              <a:spcAft>
                <a:spcPts val="0"/>
              </a:spcAft>
            </a:pPr>
            <a:r>
              <a:rPr sz="1050" b="1" i="0" lang="en-US">
                <a:solidFill>
                  <a:srgbClr val="FFFFFF"/>
                </a:solidFill>
                <a:latin typeface="Aptos"/>
                <a:cs typeface="Aptos"/>
                <a:ea typeface="Aptos"/>
              </a:rPr>
              <a:t>02  /  التحليل والتصميم</a:t>
            </a:r>
          </a:p>
        </p:txBody>
      </p:sp>
      <p:sp>
        <p:nvSpPr>
          <p:cNvPr id="4" name="Rectangle 3"/>
          <p:cNvSpPr/>
          <p:nvPr/>
        </p:nvSpPr>
        <p:spPr>
          <a:xfrm>
            <a:off x="11594592" y="283464"/>
            <a:ext cx="64008" cy="502920"/>
          </a:xfrm>
          <a:prstGeom prst="rect">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063240" y="182880"/>
            <a:ext cx="8229600" cy="557784"/>
          </a:xfrm>
          <a:prstGeom prst="rect">
            <a:avLst/>
          </a:prstGeom>
          <a:noFill/>
        </p:spPr>
        <p:txBody>
          <a:bodyPr wrap="square" lIns="18288" rIns="18288" tIns="18288" bIns="18288" anchor="ctr">
            <a:spAutoFit/>
          </a:bodyPr>
          <a:lstStyle/>
          <a:p>
            <a:pPr algn="r" rtl="1">
              <a:lnSpc>
                <a:spcPct val="100000"/>
              </a:lnSpc>
              <a:spcAft>
                <a:spcPts val="0"/>
              </a:spcAft>
            </a:pPr>
            <a:r>
              <a:rPr sz="2600" b="1" i="0" lang="ar-DZ" rtl="1">
                <a:solidFill>
                  <a:srgbClr val="10233D"/>
                </a:solidFill>
                <a:latin typeface="Cairo"/>
                <a:cs typeface="Cairo"/>
                <a:ea typeface="Cairo"/>
              </a:rPr>
              <a:t>SAT: المعرف يحدد خصائص الكائن</a:t>
            </a:r>
          </a:p>
        </p:txBody>
      </p:sp>
      <p:sp>
        <p:nvSpPr>
          <p:cNvPr id="6" name="TextBox 5"/>
          <p:cNvSpPr txBox="1"/>
          <p:nvPr/>
        </p:nvSpPr>
        <p:spPr>
          <a:xfrm>
            <a:off x="3063240" y="731520"/>
            <a:ext cx="8229600" cy="310896"/>
          </a:xfrm>
          <a:prstGeom prst="rect">
            <a:avLst/>
          </a:prstGeom>
          <a:noFill/>
        </p:spPr>
        <p:txBody>
          <a:bodyPr wrap="square" lIns="9144" rIns="9144" tIns="9144" bIns="9144" anchor="ctr">
            <a:spAutoFit/>
          </a:bodyPr>
          <a:lstStyle/>
          <a:p>
            <a:pPr algn="r" rtl="1">
              <a:lnSpc>
                <a:spcPct val="100000"/>
              </a:lnSpc>
              <a:spcAft>
                <a:spcPts val="0"/>
              </a:spcAft>
            </a:pPr>
            <a:r>
              <a:rPr sz="1350" b="0" i="0" lang="ar-DZ" rtl="1">
                <a:solidFill>
                  <a:srgbClr val="617187"/>
                </a:solidFill>
                <a:latin typeface="Cairo"/>
                <a:cs typeface="Cairo"/>
                <a:ea typeface="Cairo"/>
              </a:rPr>
              <a:t>تمثيل وظيفي قابل للتعديل للكيانات والخصائص التي جُمعت من الوثائق.</a:t>
            </a:r>
          </a:p>
        </p:txBody>
      </p:sp>
      <p:cxnSp>
        <p:nvCxnSpPr>
          <p:cNvPr id="7" name="Connector 6"/>
          <p:cNvCxnSpPr/>
          <p:nvPr/>
        </p:nvCxnSpPr>
        <p:spPr>
          <a:xfrm>
            <a:off x="530352" y="1170432"/>
            <a:ext cx="11128248" cy="0"/>
          </a:xfrm>
          <a:prstGeom prst="line">
            <a:avLst/>
          </a:prstGeom>
          <a:ln w="10160">
            <a:solidFill>
              <a:srgbClr val="D5DFE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30352" y="6382512"/>
            <a:ext cx="11128248" cy="0"/>
          </a:xfrm>
          <a:prstGeom prst="line">
            <a:avLst/>
          </a:prstGeom>
          <a:ln w="8890">
            <a:solidFill>
              <a:srgbClr val="D5DFEA"/>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03504" y="6437376"/>
            <a:ext cx="8778240" cy="210312"/>
          </a:xfrm>
          <a:prstGeom prst="rect">
            <a:avLst/>
          </a:prstGeom>
          <a:noFill/>
        </p:spPr>
        <p:txBody>
          <a:bodyPr wrap="square" lIns="0" rIns="0" tIns="0" bIns="0" anchor="ctr">
            <a:spAutoFit/>
          </a:bodyPr>
          <a:lstStyle/>
          <a:p>
            <a:pPr algn="l" rtl="1">
              <a:lnSpc>
                <a:spcPct val="100000"/>
              </a:lnSpc>
              <a:spcAft>
                <a:spcPts val="0"/>
              </a:spcAft>
            </a:pPr>
            <a:r>
              <a:rPr sz="850" b="0" i="0" lang="ar-DZ" rtl="1">
                <a:solidFill>
                  <a:srgbClr val="617187"/>
                </a:solidFill>
                <a:latin typeface="Cairo"/>
                <a:cs typeface="Cairo"/>
                <a:ea typeface="Cairo"/>
              </a:rPr>
              <a:t>المصدر: المذكرة، الفصل الثاني، ص 45–48</a:t>
            </a:r>
          </a:p>
        </p:txBody>
      </p:sp>
      <p:sp>
        <p:nvSpPr>
          <p:cNvPr id="10" name="TextBox 9"/>
          <p:cNvSpPr txBox="1"/>
          <p:nvPr/>
        </p:nvSpPr>
        <p:spPr>
          <a:xfrm>
            <a:off x="10725912" y="6409944"/>
            <a:ext cx="932688" cy="228600"/>
          </a:xfrm>
          <a:prstGeom prst="rect">
            <a:avLst/>
          </a:prstGeom>
          <a:noFill/>
        </p:spPr>
        <p:txBody>
          <a:bodyPr wrap="square" lIns="0" rIns="0" tIns="0" bIns="0" anchor="ctr">
            <a:spAutoFit/>
          </a:bodyPr>
          <a:lstStyle/>
          <a:p>
            <a:pPr algn="l" rtl="0">
              <a:lnSpc>
                <a:spcPct val="100000"/>
              </a:lnSpc>
              <a:spcAft>
                <a:spcPts val="0"/>
              </a:spcAft>
            </a:pPr>
            <a:r>
              <a:rPr sz="950" b="1" i="0" lang="en-US">
                <a:solidFill>
                  <a:srgbClr val="10233D"/>
                </a:solidFill>
                <a:latin typeface="Aptos"/>
                <a:cs typeface="Aptos"/>
                <a:ea typeface="Aptos"/>
              </a:rPr>
              <a:t>08 / 20</a:t>
            </a:r>
          </a:p>
        </p:txBody>
      </p:sp>
      <p:sp>
        <p:nvSpPr>
          <p:cNvPr id="11" name="Rectangle 10"/>
          <p:cNvSpPr/>
          <p:nvPr/>
        </p:nvSpPr>
        <p:spPr>
          <a:xfrm>
            <a:off x="9400032" y="6519672"/>
            <a:ext cx="457200" cy="32004"/>
          </a:xfrm>
          <a:prstGeom prst="rect">
            <a:avLst/>
          </a:prstGeom>
          <a:solidFill>
            <a:srgbClr val="316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978140" y="1495044"/>
            <a:ext cx="3310128" cy="1143000"/>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936992" y="1444752"/>
            <a:ext cx="3310128" cy="1143000"/>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0268712" y="1563624"/>
            <a:ext cx="804672" cy="265176"/>
          </a:xfrm>
          <a:prstGeom prst="roundRect">
            <a:avLst/>
          </a:prstGeom>
          <a:solidFill>
            <a:srgbClr val="10233D"/>
          </a:solidFill>
          <a:ln w="889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09860" y="1568195"/>
            <a:ext cx="722376" cy="256031"/>
          </a:xfrm>
          <a:prstGeom prst="rect">
            <a:avLst/>
          </a:prstGeom>
          <a:noFill/>
        </p:spPr>
        <p:txBody>
          <a:bodyPr wrap="square" lIns="9144" rIns="9144" tIns="9144" bIns="9144" anchor="ctr">
            <a:spAutoFit/>
          </a:bodyPr>
          <a:lstStyle/>
          <a:p>
            <a:pPr algn="ctr" rtl="1">
              <a:lnSpc>
                <a:spcPct val="100000"/>
              </a:lnSpc>
              <a:spcAft>
                <a:spcPts val="0"/>
              </a:spcAft>
            </a:pPr>
            <a:r>
              <a:rPr sz="1050" b="1" i="0" lang="ar-DZ" rtl="1">
                <a:solidFill>
                  <a:srgbClr val="FFFFFF"/>
                </a:solidFill>
                <a:latin typeface="Cairo"/>
                <a:cs typeface="Cairo"/>
                <a:ea typeface="Cairo"/>
              </a:rPr>
              <a:t>الكتاب</a:t>
            </a:r>
          </a:p>
        </p:txBody>
      </p:sp>
      <p:sp>
        <p:nvSpPr>
          <p:cNvPr id="16" name="TextBox 15"/>
          <p:cNvSpPr txBox="1"/>
          <p:nvPr/>
        </p:nvSpPr>
        <p:spPr>
          <a:xfrm>
            <a:off x="8101583" y="1911095"/>
            <a:ext cx="2944368" cy="502920"/>
          </a:xfrm>
          <a:prstGeom prst="rect">
            <a:avLst/>
          </a:prstGeom>
          <a:noFill/>
        </p:spPr>
        <p:txBody>
          <a:bodyPr wrap="square" lIns="18288" rIns="18288" tIns="18288" bIns="18288" anchor="ctr">
            <a:spAutoFit/>
          </a:bodyPr>
          <a:lstStyle/>
          <a:p>
            <a:pPr algn="r" rtl="1">
              <a:lnSpc>
                <a:spcPct val="100000"/>
              </a:lnSpc>
              <a:spcAft>
                <a:spcPts val="0"/>
              </a:spcAft>
            </a:pPr>
            <a:r>
              <a:rPr sz="1150" b="1" i="0" lang="ar-DZ" rtl="1">
                <a:solidFill>
                  <a:srgbClr val="17263A"/>
                </a:solidFill>
                <a:latin typeface="Cairo"/>
                <a:cs typeface="Cairo"/>
                <a:ea typeface="Cairo"/>
              </a:rPr>
              <a:t>رقم الكتاب  →  العنوان • سنة الإصدار • تاريخ الدخول • عدد النسخ</a:t>
            </a:r>
          </a:p>
        </p:txBody>
      </p:sp>
      <p:sp>
        <p:nvSpPr>
          <p:cNvPr id="17" name="Rounded Rectangle 16"/>
          <p:cNvSpPr/>
          <p:nvPr/>
        </p:nvSpPr>
        <p:spPr>
          <a:xfrm>
            <a:off x="4338828" y="1495044"/>
            <a:ext cx="3310128" cy="1143000"/>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297680" y="1444752"/>
            <a:ext cx="3310128" cy="1143000"/>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629400" y="1563624"/>
            <a:ext cx="804672" cy="265176"/>
          </a:xfrm>
          <a:prstGeom prst="roundRect">
            <a:avLst/>
          </a:prstGeom>
          <a:solidFill>
            <a:srgbClr val="10233D"/>
          </a:solidFill>
          <a:ln w="889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0548" y="1568195"/>
            <a:ext cx="722376" cy="256031"/>
          </a:xfrm>
          <a:prstGeom prst="rect">
            <a:avLst/>
          </a:prstGeom>
          <a:noFill/>
        </p:spPr>
        <p:txBody>
          <a:bodyPr wrap="square" lIns="9144" rIns="9144" tIns="9144" bIns="9144" anchor="ctr">
            <a:spAutoFit/>
          </a:bodyPr>
          <a:lstStyle/>
          <a:p>
            <a:pPr algn="ctr" rtl="1">
              <a:lnSpc>
                <a:spcPct val="100000"/>
              </a:lnSpc>
              <a:spcAft>
                <a:spcPts val="0"/>
              </a:spcAft>
            </a:pPr>
            <a:r>
              <a:rPr sz="1050" b="1" i="0" lang="ar-DZ" rtl="1">
                <a:solidFill>
                  <a:srgbClr val="FFFFFF"/>
                </a:solidFill>
                <a:latin typeface="Cairo"/>
                <a:cs typeface="Cairo"/>
                <a:ea typeface="Cairo"/>
              </a:rPr>
              <a:t>المنخرط</a:t>
            </a:r>
          </a:p>
        </p:txBody>
      </p:sp>
      <p:sp>
        <p:nvSpPr>
          <p:cNvPr id="21" name="TextBox 20"/>
          <p:cNvSpPr txBox="1"/>
          <p:nvPr/>
        </p:nvSpPr>
        <p:spPr>
          <a:xfrm>
            <a:off x="4462272" y="1911095"/>
            <a:ext cx="2944368" cy="502920"/>
          </a:xfrm>
          <a:prstGeom prst="rect">
            <a:avLst/>
          </a:prstGeom>
          <a:noFill/>
        </p:spPr>
        <p:txBody>
          <a:bodyPr wrap="square" lIns="18288" rIns="18288" tIns="18288" bIns="18288" anchor="ctr">
            <a:spAutoFit/>
          </a:bodyPr>
          <a:lstStyle/>
          <a:p>
            <a:pPr algn="r" rtl="1">
              <a:lnSpc>
                <a:spcPct val="100000"/>
              </a:lnSpc>
              <a:spcAft>
                <a:spcPts val="0"/>
              </a:spcAft>
            </a:pPr>
            <a:r>
              <a:rPr sz="1150" b="1" i="0" lang="ar-DZ" rtl="1">
                <a:solidFill>
                  <a:srgbClr val="17263A"/>
                </a:solidFill>
                <a:latin typeface="Cairo"/>
                <a:cs typeface="Cairo"/>
                <a:ea typeface="Cairo"/>
              </a:rPr>
              <a:t>رقم المنخرط  →  الاسم • اللقب • الميلاد • مكان الميلاد • العنوان</a:t>
            </a:r>
          </a:p>
        </p:txBody>
      </p:sp>
      <p:sp>
        <p:nvSpPr>
          <p:cNvPr id="22" name="Rounded Rectangle 21"/>
          <p:cNvSpPr/>
          <p:nvPr/>
        </p:nvSpPr>
        <p:spPr>
          <a:xfrm>
            <a:off x="699516" y="1495044"/>
            <a:ext cx="3310128" cy="1143000"/>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58368" y="1444752"/>
            <a:ext cx="3310128" cy="1143000"/>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990087" y="1563624"/>
            <a:ext cx="804672" cy="265176"/>
          </a:xfrm>
          <a:prstGeom prst="roundRect">
            <a:avLst/>
          </a:prstGeom>
          <a:solidFill>
            <a:srgbClr val="10233D"/>
          </a:solidFill>
          <a:ln w="889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031235" y="1568195"/>
            <a:ext cx="722376" cy="256031"/>
          </a:xfrm>
          <a:prstGeom prst="rect">
            <a:avLst/>
          </a:prstGeom>
          <a:noFill/>
        </p:spPr>
        <p:txBody>
          <a:bodyPr wrap="square" lIns="9144" rIns="9144" tIns="9144" bIns="9144" anchor="ctr">
            <a:spAutoFit/>
          </a:bodyPr>
          <a:lstStyle/>
          <a:p>
            <a:pPr algn="ctr" rtl="1">
              <a:lnSpc>
                <a:spcPct val="100000"/>
              </a:lnSpc>
              <a:spcAft>
                <a:spcPts val="0"/>
              </a:spcAft>
            </a:pPr>
            <a:r>
              <a:rPr sz="1050" b="1" i="0" lang="ar-DZ" rtl="1">
                <a:solidFill>
                  <a:srgbClr val="FFFFFF"/>
                </a:solidFill>
                <a:latin typeface="Cairo"/>
                <a:cs typeface="Cairo"/>
                <a:ea typeface="Cairo"/>
              </a:rPr>
              <a:t>المؤلف</a:t>
            </a:r>
          </a:p>
        </p:txBody>
      </p:sp>
      <p:sp>
        <p:nvSpPr>
          <p:cNvPr id="26" name="TextBox 25"/>
          <p:cNvSpPr txBox="1"/>
          <p:nvPr/>
        </p:nvSpPr>
        <p:spPr>
          <a:xfrm>
            <a:off x="822959" y="1911095"/>
            <a:ext cx="2944368" cy="502920"/>
          </a:xfrm>
          <a:prstGeom prst="rect">
            <a:avLst/>
          </a:prstGeom>
          <a:noFill/>
        </p:spPr>
        <p:txBody>
          <a:bodyPr wrap="square" lIns="18288" rIns="18288" tIns="18288" bIns="18288" anchor="ctr">
            <a:spAutoFit/>
          </a:bodyPr>
          <a:lstStyle/>
          <a:p>
            <a:pPr algn="r" rtl="1">
              <a:lnSpc>
                <a:spcPct val="100000"/>
              </a:lnSpc>
              <a:spcAft>
                <a:spcPts val="0"/>
              </a:spcAft>
            </a:pPr>
            <a:r>
              <a:rPr sz="1150" b="1" i="0" lang="ar-DZ" rtl="1">
                <a:solidFill>
                  <a:srgbClr val="17263A"/>
                </a:solidFill>
                <a:latin typeface="Cairo"/>
                <a:cs typeface="Cairo"/>
                <a:ea typeface="Cairo"/>
              </a:rPr>
              <a:t>رقم المؤلف  →  اسم المؤلف • لقب المؤلف</a:t>
            </a:r>
          </a:p>
        </p:txBody>
      </p:sp>
      <p:sp>
        <p:nvSpPr>
          <p:cNvPr id="27" name="Rounded Rectangle 26"/>
          <p:cNvSpPr/>
          <p:nvPr/>
        </p:nvSpPr>
        <p:spPr>
          <a:xfrm>
            <a:off x="7978140" y="2903220"/>
            <a:ext cx="3310128" cy="1143000"/>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936992" y="2852928"/>
            <a:ext cx="3310128" cy="1143000"/>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0268712" y="2971800"/>
            <a:ext cx="804672" cy="265176"/>
          </a:xfrm>
          <a:prstGeom prst="roundRect">
            <a:avLst/>
          </a:prstGeom>
          <a:solidFill>
            <a:srgbClr val="10233D"/>
          </a:solidFill>
          <a:ln w="889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09860" y="2976372"/>
            <a:ext cx="722376" cy="256031"/>
          </a:xfrm>
          <a:prstGeom prst="rect">
            <a:avLst/>
          </a:prstGeom>
          <a:noFill/>
        </p:spPr>
        <p:txBody>
          <a:bodyPr wrap="square" lIns="9144" rIns="9144" tIns="9144" bIns="9144" anchor="ctr">
            <a:spAutoFit/>
          </a:bodyPr>
          <a:lstStyle/>
          <a:p>
            <a:pPr algn="ctr" rtl="1">
              <a:lnSpc>
                <a:spcPct val="100000"/>
              </a:lnSpc>
              <a:spcAft>
                <a:spcPts val="0"/>
              </a:spcAft>
            </a:pPr>
            <a:r>
              <a:rPr sz="1050" b="1" i="0" lang="ar-DZ" rtl="1">
                <a:solidFill>
                  <a:srgbClr val="FFFFFF"/>
                </a:solidFill>
                <a:latin typeface="Cairo"/>
                <a:cs typeface="Cairo"/>
                <a:ea typeface="Cairo"/>
              </a:rPr>
              <a:t>دار النشر</a:t>
            </a:r>
          </a:p>
        </p:txBody>
      </p:sp>
      <p:sp>
        <p:nvSpPr>
          <p:cNvPr id="31" name="TextBox 30"/>
          <p:cNvSpPr txBox="1"/>
          <p:nvPr/>
        </p:nvSpPr>
        <p:spPr>
          <a:xfrm>
            <a:off x="8101583" y="3319272"/>
            <a:ext cx="2944368" cy="502920"/>
          </a:xfrm>
          <a:prstGeom prst="rect">
            <a:avLst/>
          </a:prstGeom>
          <a:noFill/>
        </p:spPr>
        <p:txBody>
          <a:bodyPr wrap="square" lIns="18288" rIns="18288" tIns="18288" bIns="18288" anchor="ctr">
            <a:spAutoFit/>
          </a:bodyPr>
          <a:lstStyle/>
          <a:p>
            <a:pPr algn="r" rtl="1">
              <a:lnSpc>
                <a:spcPct val="100000"/>
              </a:lnSpc>
              <a:spcAft>
                <a:spcPts val="0"/>
              </a:spcAft>
            </a:pPr>
            <a:r>
              <a:rPr sz="1150" b="1" i="0" lang="ar-DZ" rtl="1">
                <a:solidFill>
                  <a:srgbClr val="17263A"/>
                </a:solidFill>
                <a:latin typeface="Cairo"/>
                <a:cs typeface="Cairo"/>
                <a:ea typeface="Cairo"/>
              </a:rPr>
              <a:t>رقم دار النشر  →  التعيين • العنوان</a:t>
            </a:r>
          </a:p>
        </p:txBody>
      </p:sp>
      <p:sp>
        <p:nvSpPr>
          <p:cNvPr id="32" name="Rounded Rectangle 31"/>
          <p:cNvSpPr/>
          <p:nvPr/>
        </p:nvSpPr>
        <p:spPr>
          <a:xfrm>
            <a:off x="4338828" y="2903220"/>
            <a:ext cx="3310128" cy="1143000"/>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4297680" y="2852928"/>
            <a:ext cx="3310128" cy="1143000"/>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629400" y="2971800"/>
            <a:ext cx="804672" cy="265176"/>
          </a:xfrm>
          <a:prstGeom prst="roundRect">
            <a:avLst/>
          </a:prstGeom>
          <a:solidFill>
            <a:srgbClr val="10233D"/>
          </a:solidFill>
          <a:ln w="889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70548" y="2976372"/>
            <a:ext cx="722376" cy="256031"/>
          </a:xfrm>
          <a:prstGeom prst="rect">
            <a:avLst/>
          </a:prstGeom>
          <a:noFill/>
        </p:spPr>
        <p:txBody>
          <a:bodyPr wrap="square" lIns="9144" rIns="9144" tIns="9144" bIns="9144" anchor="ctr">
            <a:spAutoFit/>
          </a:bodyPr>
          <a:lstStyle/>
          <a:p>
            <a:pPr algn="ctr" rtl="1">
              <a:lnSpc>
                <a:spcPct val="100000"/>
              </a:lnSpc>
              <a:spcAft>
                <a:spcPts val="0"/>
              </a:spcAft>
            </a:pPr>
            <a:r>
              <a:rPr sz="1050" b="1" i="0" lang="ar-DZ" rtl="1">
                <a:solidFill>
                  <a:srgbClr val="FFFFFF"/>
                </a:solidFill>
                <a:latin typeface="Cairo"/>
                <a:cs typeface="Cairo"/>
                <a:ea typeface="Cairo"/>
              </a:rPr>
              <a:t>الصنف</a:t>
            </a:r>
          </a:p>
        </p:txBody>
      </p:sp>
      <p:sp>
        <p:nvSpPr>
          <p:cNvPr id="36" name="TextBox 35"/>
          <p:cNvSpPr txBox="1"/>
          <p:nvPr/>
        </p:nvSpPr>
        <p:spPr>
          <a:xfrm>
            <a:off x="4462272" y="3319272"/>
            <a:ext cx="2944368" cy="502920"/>
          </a:xfrm>
          <a:prstGeom prst="rect">
            <a:avLst/>
          </a:prstGeom>
          <a:noFill/>
        </p:spPr>
        <p:txBody>
          <a:bodyPr wrap="square" lIns="18288" rIns="18288" tIns="18288" bIns="18288" anchor="ctr">
            <a:spAutoFit/>
          </a:bodyPr>
          <a:lstStyle/>
          <a:p>
            <a:pPr algn="r" rtl="1">
              <a:lnSpc>
                <a:spcPct val="100000"/>
              </a:lnSpc>
              <a:spcAft>
                <a:spcPts val="0"/>
              </a:spcAft>
            </a:pPr>
            <a:r>
              <a:rPr sz="1150" b="1" i="0" lang="ar-DZ" rtl="1">
                <a:solidFill>
                  <a:srgbClr val="17263A"/>
                </a:solidFill>
                <a:latin typeface="Cairo"/>
                <a:cs typeface="Cairo"/>
                <a:ea typeface="Cairo"/>
              </a:rPr>
              <a:t>رقم الصنف  →  التعيين</a:t>
            </a:r>
          </a:p>
        </p:txBody>
      </p:sp>
      <p:sp>
        <p:nvSpPr>
          <p:cNvPr id="37" name="Rounded Rectangle 36"/>
          <p:cNvSpPr/>
          <p:nvPr/>
        </p:nvSpPr>
        <p:spPr>
          <a:xfrm>
            <a:off x="699516" y="2903220"/>
            <a:ext cx="3310128" cy="1143000"/>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58368" y="2852928"/>
            <a:ext cx="3310128" cy="1143000"/>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2990087" y="2971800"/>
            <a:ext cx="804672" cy="265176"/>
          </a:xfrm>
          <a:prstGeom prst="roundRect">
            <a:avLst/>
          </a:prstGeom>
          <a:solidFill>
            <a:srgbClr val="10233D"/>
          </a:solidFill>
          <a:ln w="889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031235" y="2976372"/>
            <a:ext cx="722376" cy="256031"/>
          </a:xfrm>
          <a:prstGeom prst="rect">
            <a:avLst/>
          </a:prstGeom>
          <a:noFill/>
        </p:spPr>
        <p:txBody>
          <a:bodyPr wrap="square" lIns="9144" rIns="9144" tIns="9144" bIns="9144" anchor="ctr">
            <a:spAutoFit/>
          </a:bodyPr>
          <a:lstStyle/>
          <a:p>
            <a:pPr algn="ctr" rtl="1">
              <a:lnSpc>
                <a:spcPct val="100000"/>
              </a:lnSpc>
              <a:spcAft>
                <a:spcPts val="0"/>
              </a:spcAft>
            </a:pPr>
            <a:r>
              <a:rPr sz="1050" b="1" i="0" lang="ar-DZ" rtl="1">
                <a:solidFill>
                  <a:srgbClr val="FFFFFF"/>
                </a:solidFill>
                <a:latin typeface="Cairo"/>
                <a:cs typeface="Cairo"/>
                <a:ea typeface="Cairo"/>
              </a:rPr>
              <a:t>السنة</a:t>
            </a:r>
          </a:p>
        </p:txBody>
      </p:sp>
      <p:sp>
        <p:nvSpPr>
          <p:cNvPr id="41" name="TextBox 40"/>
          <p:cNvSpPr txBox="1"/>
          <p:nvPr/>
        </p:nvSpPr>
        <p:spPr>
          <a:xfrm>
            <a:off x="822959" y="3319272"/>
            <a:ext cx="2944368" cy="502920"/>
          </a:xfrm>
          <a:prstGeom prst="rect">
            <a:avLst/>
          </a:prstGeom>
          <a:noFill/>
        </p:spPr>
        <p:txBody>
          <a:bodyPr wrap="square" lIns="18288" rIns="18288" tIns="18288" bIns="18288" anchor="ctr">
            <a:spAutoFit/>
          </a:bodyPr>
          <a:lstStyle/>
          <a:p>
            <a:pPr algn="r" rtl="1">
              <a:lnSpc>
                <a:spcPct val="100000"/>
              </a:lnSpc>
              <a:spcAft>
                <a:spcPts val="0"/>
              </a:spcAft>
            </a:pPr>
            <a:r>
              <a:rPr sz="1150" b="1" i="0" lang="ar-DZ" rtl="1">
                <a:solidFill>
                  <a:srgbClr val="17263A"/>
                </a:solidFill>
                <a:latin typeface="Cairo"/>
                <a:cs typeface="Cairo"/>
                <a:ea typeface="Cairo"/>
              </a:rPr>
              <a:t>رقم السنة  →  التعيين</a:t>
            </a:r>
          </a:p>
        </p:txBody>
      </p:sp>
      <p:sp>
        <p:nvSpPr>
          <p:cNvPr id="42" name="Rounded Rectangle 41"/>
          <p:cNvSpPr/>
          <p:nvPr/>
        </p:nvSpPr>
        <p:spPr>
          <a:xfrm>
            <a:off x="7978140" y="4311396"/>
            <a:ext cx="3310128" cy="1143000"/>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7936992" y="4261104"/>
            <a:ext cx="3310128" cy="1143000"/>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10268712" y="4379976"/>
            <a:ext cx="804672" cy="265176"/>
          </a:xfrm>
          <a:prstGeom prst="roundRect">
            <a:avLst/>
          </a:prstGeom>
          <a:solidFill>
            <a:srgbClr val="10233D"/>
          </a:solidFill>
          <a:ln w="889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309860" y="4384548"/>
            <a:ext cx="722376" cy="256031"/>
          </a:xfrm>
          <a:prstGeom prst="rect">
            <a:avLst/>
          </a:prstGeom>
          <a:noFill/>
        </p:spPr>
        <p:txBody>
          <a:bodyPr wrap="square" lIns="9144" rIns="9144" tIns="9144" bIns="9144" anchor="ctr">
            <a:spAutoFit/>
          </a:bodyPr>
          <a:lstStyle/>
          <a:p>
            <a:pPr algn="ctr" rtl="1">
              <a:lnSpc>
                <a:spcPct val="100000"/>
              </a:lnSpc>
              <a:spcAft>
                <a:spcPts val="0"/>
              </a:spcAft>
            </a:pPr>
            <a:r>
              <a:rPr sz="1050" b="1" i="0" lang="ar-DZ" rtl="1">
                <a:solidFill>
                  <a:srgbClr val="FFFFFF"/>
                </a:solidFill>
                <a:latin typeface="Cairo"/>
                <a:cs typeface="Cairo"/>
                <a:ea typeface="Cairo"/>
              </a:rPr>
              <a:t>العقوبة</a:t>
            </a:r>
          </a:p>
        </p:txBody>
      </p:sp>
      <p:sp>
        <p:nvSpPr>
          <p:cNvPr id="46" name="TextBox 45"/>
          <p:cNvSpPr txBox="1"/>
          <p:nvPr/>
        </p:nvSpPr>
        <p:spPr>
          <a:xfrm>
            <a:off x="8101583" y="4727448"/>
            <a:ext cx="2944368" cy="502920"/>
          </a:xfrm>
          <a:prstGeom prst="rect">
            <a:avLst/>
          </a:prstGeom>
          <a:noFill/>
        </p:spPr>
        <p:txBody>
          <a:bodyPr wrap="square" lIns="18288" rIns="18288" tIns="18288" bIns="18288" anchor="ctr">
            <a:spAutoFit/>
          </a:bodyPr>
          <a:lstStyle/>
          <a:p>
            <a:pPr algn="r" rtl="1">
              <a:lnSpc>
                <a:spcPct val="100000"/>
              </a:lnSpc>
              <a:spcAft>
                <a:spcPts val="0"/>
              </a:spcAft>
            </a:pPr>
            <a:r>
              <a:rPr sz="1150" b="1" i="0" lang="ar-DZ" rtl="1">
                <a:solidFill>
                  <a:srgbClr val="17263A"/>
                </a:solidFill>
                <a:latin typeface="Cairo"/>
                <a:cs typeface="Cairo"/>
                <a:ea typeface="Cairo"/>
              </a:rPr>
              <a:t>رقم العقوبة  →  تعيين العقوبة • تاريخ العقوبة</a:t>
            </a:r>
          </a:p>
        </p:txBody>
      </p:sp>
      <p:sp>
        <p:nvSpPr>
          <p:cNvPr id="47" name="Rounded Rectangle 46"/>
          <p:cNvSpPr/>
          <p:nvPr/>
        </p:nvSpPr>
        <p:spPr>
          <a:xfrm>
            <a:off x="658368" y="4261104"/>
            <a:ext cx="6912864" cy="1143000"/>
          </a:xfrm>
          <a:prstGeom prst="roundRect">
            <a:avLst/>
          </a:prstGeom>
          <a:solidFill>
            <a:srgbClr val="10233D"/>
          </a:solidFill>
          <a:ln w="1016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5605272" y="4398264"/>
            <a:ext cx="1600200" cy="265176"/>
          </a:xfrm>
          <a:prstGeom prst="roundRect">
            <a:avLst/>
          </a:prstGeom>
          <a:solidFill>
            <a:srgbClr val="244A78"/>
          </a:solidFill>
          <a:ln w="8890">
            <a:solidFill>
              <a:srgbClr val="24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646420" y="4402836"/>
            <a:ext cx="1517904" cy="256031"/>
          </a:xfrm>
          <a:prstGeom prst="rect">
            <a:avLst/>
          </a:prstGeom>
          <a:noFill/>
        </p:spPr>
        <p:txBody>
          <a:bodyPr wrap="square" lIns="9144" rIns="9144" tIns="9144" bIns="9144" anchor="ctr">
            <a:spAutoFit/>
          </a:bodyPr>
          <a:lstStyle/>
          <a:p>
            <a:pPr algn="ctr" rtl="1">
              <a:lnSpc>
                <a:spcPct val="100000"/>
              </a:lnSpc>
              <a:spcAft>
                <a:spcPts val="0"/>
              </a:spcAft>
            </a:pPr>
            <a:r>
              <a:rPr sz="1100" b="1" i="0" lang="ar-DZ" rtl="1">
                <a:solidFill>
                  <a:srgbClr val="FFFFFF"/>
                </a:solidFill>
                <a:latin typeface="Cairo"/>
                <a:cs typeface="Cairo"/>
                <a:ea typeface="Cairo"/>
              </a:rPr>
              <a:t>علاقة يستعير</a:t>
            </a:r>
          </a:p>
        </p:txBody>
      </p:sp>
      <p:sp>
        <p:nvSpPr>
          <p:cNvPr id="50" name="TextBox 49"/>
          <p:cNvSpPr txBox="1"/>
          <p:nvPr/>
        </p:nvSpPr>
        <p:spPr>
          <a:xfrm>
            <a:off x="960120" y="4809744"/>
            <a:ext cx="6062472" cy="384048"/>
          </a:xfrm>
          <a:prstGeom prst="rect">
            <a:avLst/>
          </a:prstGeom>
          <a:noFill/>
        </p:spPr>
        <p:txBody>
          <a:bodyPr wrap="square" lIns="18288" rIns="18288" tIns="18288" bIns="18288" anchor="ctr">
            <a:spAutoFit/>
          </a:bodyPr>
          <a:lstStyle/>
          <a:p>
            <a:pPr algn="r" rtl="1">
              <a:lnSpc>
                <a:spcPct val="100000"/>
              </a:lnSpc>
              <a:spcAft>
                <a:spcPts val="0"/>
              </a:spcAft>
            </a:pPr>
            <a:r>
              <a:rPr sz="1400" b="1" i="0" lang="ar-DZ" rtl="1">
                <a:solidFill>
                  <a:srgbClr val="FFFFFF"/>
                </a:solidFill>
                <a:latin typeface="Cairo"/>
                <a:cs typeface="Cairo"/>
                <a:ea typeface="Cairo"/>
              </a:rPr>
              <a:t>رقم المنخرط + رقم الكتاب  →  تاريخ الإعارة • تاريخ الإرجاع</a:t>
            </a:r>
          </a:p>
        </p:txBody>
      </p:sp>
      <p:sp>
        <p:nvSpPr>
          <p:cNvPr id="51" name="TextBox 50"/>
          <p:cNvSpPr txBox="1"/>
          <p:nvPr/>
        </p:nvSpPr>
        <p:spPr>
          <a:xfrm>
            <a:off x="2331720" y="5696712"/>
            <a:ext cx="9098280" cy="256032"/>
          </a:xfrm>
          <a:prstGeom prst="rect">
            <a:avLst/>
          </a:prstGeom>
          <a:noFill/>
        </p:spPr>
        <p:txBody>
          <a:bodyPr wrap="square" lIns="18288" rIns="18288" tIns="18288" bIns="18288" anchor="ctr">
            <a:spAutoFit/>
          </a:bodyPr>
          <a:lstStyle/>
          <a:p>
            <a:pPr algn="r" rtl="1">
              <a:lnSpc>
                <a:spcPct val="100000"/>
              </a:lnSpc>
              <a:spcAft>
                <a:spcPts val="0"/>
              </a:spcAft>
            </a:pPr>
            <a:r>
              <a:rPr sz="1150" b="0" i="0" lang="ar-DZ" rtl="1">
                <a:solidFill>
                  <a:srgbClr val="617187"/>
                </a:solidFill>
                <a:latin typeface="Cairo"/>
                <a:cs typeface="Cairo"/>
                <a:ea typeface="Cairo"/>
              </a:rPr>
              <a:t>السهم يقرأ: «المعرّف يحدد قيمة الخصائص»؛ لا يمثّل عددًا أو نتيجة إحصائية.</a:t>
            </a:r>
          </a:p>
        </p:txBody>
      </p:sp>
    </p:spTree>
  </p:cSld>
  <p:clrMapOvr>
    <a:masterClrMapping/>
  </p:clrMapOvr>
  <p:transition spd="med"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ounded Rectangle 1"/>
          <p:cNvSpPr/>
          <p:nvPr/>
        </p:nvSpPr>
        <p:spPr>
          <a:xfrm>
            <a:off x="530352" y="292608"/>
            <a:ext cx="2423160" cy="310896"/>
          </a:xfrm>
          <a:prstGeom prst="roundRect">
            <a:avLst/>
          </a:prstGeom>
          <a:solidFill>
            <a:srgbClr val="10233D"/>
          </a:solidFill>
          <a:ln w="889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1500" y="297180"/>
            <a:ext cx="2340864" cy="301752"/>
          </a:xfrm>
          <a:prstGeom prst="rect">
            <a:avLst/>
          </a:prstGeom>
          <a:noFill/>
        </p:spPr>
        <p:txBody>
          <a:bodyPr wrap="square" lIns="9144" rIns="9144" tIns="9144" bIns="9144" anchor="ctr">
            <a:spAutoFit/>
          </a:bodyPr>
          <a:lstStyle/>
          <a:p>
            <a:pPr algn="ctr" rtl="0">
              <a:lnSpc>
                <a:spcPct val="100000"/>
              </a:lnSpc>
              <a:spcAft>
                <a:spcPts val="0"/>
              </a:spcAft>
            </a:pPr>
            <a:r>
              <a:rPr sz="1050" b="1" i="0" lang="en-US">
                <a:solidFill>
                  <a:srgbClr val="FFFFFF"/>
                </a:solidFill>
                <a:latin typeface="Aptos"/>
                <a:cs typeface="Aptos"/>
                <a:ea typeface="Aptos"/>
              </a:rPr>
              <a:t>02  /  التحليل والتصميم</a:t>
            </a:r>
          </a:p>
        </p:txBody>
      </p:sp>
      <p:sp>
        <p:nvSpPr>
          <p:cNvPr id="4" name="Rectangle 3"/>
          <p:cNvSpPr/>
          <p:nvPr/>
        </p:nvSpPr>
        <p:spPr>
          <a:xfrm>
            <a:off x="11594592" y="283464"/>
            <a:ext cx="64008" cy="502920"/>
          </a:xfrm>
          <a:prstGeom prst="rect">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063240" y="182880"/>
            <a:ext cx="8229600" cy="557784"/>
          </a:xfrm>
          <a:prstGeom prst="rect">
            <a:avLst/>
          </a:prstGeom>
          <a:noFill/>
        </p:spPr>
        <p:txBody>
          <a:bodyPr wrap="square" lIns="18288" rIns="18288" tIns="18288" bIns="18288" anchor="ctr">
            <a:spAutoFit/>
          </a:bodyPr>
          <a:lstStyle/>
          <a:p>
            <a:pPr algn="r" rtl="1">
              <a:lnSpc>
                <a:spcPct val="100000"/>
              </a:lnSpc>
              <a:spcAft>
                <a:spcPts val="0"/>
              </a:spcAft>
            </a:pPr>
            <a:r>
              <a:rPr sz="2600" b="1" i="0" lang="ar-DZ" rtl="1">
                <a:solidFill>
                  <a:srgbClr val="10233D"/>
                </a:solidFill>
                <a:latin typeface="Cairo"/>
                <a:cs typeface="Cairo"/>
                <a:ea typeface="Cairo"/>
              </a:rPr>
              <a:t>قواعد التسيير تضبط شكل البيانات</a:t>
            </a:r>
          </a:p>
        </p:txBody>
      </p:sp>
      <p:sp>
        <p:nvSpPr>
          <p:cNvPr id="6" name="TextBox 5"/>
          <p:cNvSpPr txBox="1"/>
          <p:nvPr/>
        </p:nvSpPr>
        <p:spPr>
          <a:xfrm>
            <a:off x="3063240" y="731520"/>
            <a:ext cx="8229600" cy="310896"/>
          </a:xfrm>
          <a:prstGeom prst="rect">
            <a:avLst/>
          </a:prstGeom>
          <a:noFill/>
        </p:spPr>
        <p:txBody>
          <a:bodyPr wrap="square" lIns="9144" rIns="9144" tIns="9144" bIns="9144" anchor="ctr">
            <a:spAutoFit/>
          </a:bodyPr>
          <a:lstStyle/>
          <a:p>
            <a:pPr algn="r" rtl="1">
              <a:lnSpc>
                <a:spcPct val="100000"/>
              </a:lnSpc>
              <a:spcAft>
                <a:spcPts val="0"/>
              </a:spcAft>
            </a:pPr>
            <a:r>
              <a:rPr sz="1350" b="0" i="0" lang="ar-DZ" rtl="1">
                <a:solidFill>
                  <a:srgbClr val="617187"/>
                </a:solidFill>
                <a:latin typeface="Cairo"/>
                <a:cs typeface="Cairo"/>
                <a:ea typeface="Cairo"/>
              </a:rPr>
              <a:t>قواعد المؤسسة تتحول إلى علاقات وتعدادات وقيود في النماذج.</a:t>
            </a:r>
          </a:p>
        </p:txBody>
      </p:sp>
      <p:cxnSp>
        <p:nvCxnSpPr>
          <p:cNvPr id="7" name="Connector 6"/>
          <p:cNvCxnSpPr/>
          <p:nvPr/>
        </p:nvCxnSpPr>
        <p:spPr>
          <a:xfrm>
            <a:off x="530352" y="1170432"/>
            <a:ext cx="11128248" cy="0"/>
          </a:xfrm>
          <a:prstGeom prst="line">
            <a:avLst/>
          </a:prstGeom>
          <a:ln w="10160">
            <a:solidFill>
              <a:srgbClr val="D5DFE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30352" y="6382512"/>
            <a:ext cx="11128248" cy="0"/>
          </a:xfrm>
          <a:prstGeom prst="line">
            <a:avLst/>
          </a:prstGeom>
          <a:ln w="8890">
            <a:solidFill>
              <a:srgbClr val="D5DFEA"/>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03504" y="6437376"/>
            <a:ext cx="8778240" cy="210312"/>
          </a:xfrm>
          <a:prstGeom prst="rect">
            <a:avLst/>
          </a:prstGeom>
          <a:noFill/>
        </p:spPr>
        <p:txBody>
          <a:bodyPr wrap="square" lIns="0" rIns="0" tIns="0" bIns="0" anchor="ctr">
            <a:spAutoFit/>
          </a:bodyPr>
          <a:lstStyle/>
          <a:p>
            <a:pPr algn="l" rtl="1">
              <a:lnSpc>
                <a:spcPct val="100000"/>
              </a:lnSpc>
              <a:spcAft>
                <a:spcPts val="0"/>
              </a:spcAft>
            </a:pPr>
            <a:r>
              <a:rPr sz="850" b="0" i="0" lang="ar-DZ" rtl="1">
                <a:solidFill>
                  <a:srgbClr val="617187"/>
                </a:solidFill>
                <a:latin typeface="Cairo"/>
                <a:cs typeface="Cairo"/>
                <a:ea typeface="Cairo"/>
              </a:rPr>
              <a:t>المصدر: المذكرة، الفصل الثاني، ص 49–50</a:t>
            </a:r>
          </a:p>
        </p:txBody>
      </p:sp>
      <p:sp>
        <p:nvSpPr>
          <p:cNvPr id="10" name="TextBox 9"/>
          <p:cNvSpPr txBox="1"/>
          <p:nvPr/>
        </p:nvSpPr>
        <p:spPr>
          <a:xfrm>
            <a:off x="10725912" y="6409944"/>
            <a:ext cx="932688" cy="228600"/>
          </a:xfrm>
          <a:prstGeom prst="rect">
            <a:avLst/>
          </a:prstGeom>
          <a:noFill/>
        </p:spPr>
        <p:txBody>
          <a:bodyPr wrap="square" lIns="0" rIns="0" tIns="0" bIns="0" anchor="ctr">
            <a:spAutoFit/>
          </a:bodyPr>
          <a:lstStyle/>
          <a:p>
            <a:pPr algn="l" rtl="0">
              <a:lnSpc>
                <a:spcPct val="100000"/>
              </a:lnSpc>
              <a:spcAft>
                <a:spcPts val="0"/>
              </a:spcAft>
            </a:pPr>
            <a:r>
              <a:rPr sz="950" b="1" i="0" lang="en-US">
                <a:solidFill>
                  <a:srgbClr val="10233D"/>
                </a:solidFill>
                <a:latin typeface="Aptos"/>
                <a:cs typeface="Aptos"/>
                <a:ea typeface="Aptos"/>
              </a:rPr>
              <a:t>09 / 20</a:t>
            </a:r>
          </a:p>
        </p:txBody>
      </p:sp>
      <p:sp>
        <p:nvSpPr>
          <p:cNvPr id="11" name="Rectangle 10"/>
          <p:cNvSpPr/>
          <p:nvPr/>
        </p:nvSpPr>
        <p:spPr>
          <a:xfrm>
            <a:off x="9400032" y="6519672"/>
            <a:ext cx="514350" cy="32004"/>
          </a:xfrm>
          <a:prstGeom prst="rect">
            <a:avLst/>
          </a:prstGeom>
          <a:solidFill>
            <a:srgbClr val="316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7356" y="1577339"/>
            <a:ext cx="5266944" cy="1801368"/>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36208" y="1527048"/>
            <a:ext cx="5266944" cy="1801368"/>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0625328" y="1700784"/>
            <a:ext cx="530352" cy="283464"/>
          </a:xfrm>
          <a:prstGeom prst="roundRect">
            <a:avLst/>
          </a:prstGeom>
          <a:solidFill>
            <a:srgbClr val="3167D5"/>
          </a:solidFill>
          <a:ln w="8890">
            <a:solidFill>
              <a:srgbClr val="3167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66476" y="1705355"/>
            <a:ext cx="448056" cy="274320"/>
          </a:xfrm>
          <a:prstGeom prst="rect">
            <a:avLst/>
          </a:prstGeom>
          <a:noFill/>
        </p:spPr>
        <p:txBody>
          <a:bodyPr wrap="square" lIns="9144" rIns="9144" tIns="9144" bIns="9144" anchor="ctr">
            <a:spAutoFit/>
          </a:bodyPr>
          <a:lstStyle/>
          <a:p>
            <a:pPr algn="ctr" rtl="0">
              <a:lnSpc>
                <a:spcPct val="100000"/>
              </a:lnSpc>
              <a:spcAft>
                <a:spcPts val="0"/>
              </a:spcAft>
            </a:pPr>
            <a:r>
              <a:rPr sz="950" b="1" i="0" lang="en-US">
                <a:solidFill>
                  <a:srgbClr val="FFFFFF"/>
                </a:solidFill>
                <a:latin typeface="Aptos"/>
                <a:cs typeface="Aptos"/>
                <a:ea typeface="Aptos"/>
              </a:rPr>
              <a:t>01</a:t>
            </a:r>
          </a:p>
        </p:txBody>
      </p:sp>
      <p:sp>
        <p:nvSpPr>
          <p:cNvPr id="16" name="TextBox 15"/>
          <p:cNvSpPr txBox="1"/>
          <p:nvPr/>
        </p:nvSpPr>
        <p:spPr>
          <a:xfrm>
            <a:off x="6483096" y="1719072"/>
            <a:ext cx="3867912" cy="329184"/>
          </a:xfrm>
          <a:prstGeom prst="rect">
            <a:avLst/>
          </a:prstGeom>
          <a:noFill/>
        </p:spPr>
        <p:txBody>
          <a:bodyPr wrap="square" lIns="18288" rIns="18288" tIns="18288" bIns="18288" anchor="ctr">
            <a:spAutoFit/>
          </a:bodyPr>
          <a:lstStyle/>
          <a:p>
            <a:pPr algn="r" rtl="1">
              <a:lnSpc>
                <a:spcPct val="100000"/>
              </a:lnSpc>
              <a:spcAft>
                <a:spcPts val="0"/>
              </a:spcAft>
            </a:pPr>
            <a:r>
              <a:rPr sz="1700" b="1" i="0" lang="ar-DZ" rtl="1">
                <a:solidFill>
                  <a:srgbClr val="10233D"/>
                </a:solidFill>
                <a:latin typeface="Cairo"/>
                <a:cs typeface="Cairo"/>
                <a:ea typeface="Cairo"/>
              </a:rPr>
              <a:t>الفهرسة</a:t>
            </a:r>
          </a:p>
        </p:txBody>
      </p:sp>
      <p:cxnSp>
        <p:nvCxnSpPr>
          <p:cNvPr id="17" name="Connector 16"/>
          <p:cNvCxnSpPr/>
          <p:nvPr/>
        </p:nvCxnSpPr>
        <p:spPr>
          <a:xfrm>
            <a:off x="6455664" y="2167128"/>
            <a:ext cx="4791456" cy="0"/>
          </a:xfrm>
          <a:prstGeom prst="line">
            <a:avLst/>
          </a:prstGeom>
          <a:ln w="11430">
            <a:solidFill>
              <a:srgbClr val="D5DFE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510528" y="2331720"/>
            <a:ext cx="4681728" cy="758952"/>
          </a:xfrm>
          <a:prstGeom prst="rect">
            <a:avLst/>
          </a:prstGeom>
          <a:noFill/>
        </p:spPr>
        <p:txBody>
          <a:bodyPr wrap="square" lIns="18288" rIns="18288" tIns="18288" bIns="18288" anchor="ctr">
            <a:spAutoFit/>
          </a:bodyPr>
          <a:lstStyle/>
          <a:p>
            <a:pPr algn="r" rtl="1">
              <a:lnSpc>
                <a:spcPct val="107000"/>
              </a:lnSpc>
              <a:spcAft>
                <a:spcPts val="0"/>
              </a:spcAft>
            </a:pPr>
            <a:r>
              <a:rPr sz="1400" b="0" i="0" lang="ar-DZ" rtl="1">
                <a:solidFill>
                  <a:srgbClr val="17263A"/>
                </a:solidFill>
                <a:latin typeface="Cairo"/>
                <a:cs typeface="Cairo"/>
                <a:ea typeface="Cairo"/>
              </a:rPr>
              <a:t>لكل كتاب مؤلف واحد ودار نشر واحدة وصنف واحد؛ ولكل منها كتاب أو أكثر.</a:t>
            </a:r>
          </a:p>
        </p:txBody>
      </p:sp>
      <p:sp>
        <p:nvSpPr>
          <p:cNvPr id="19" name="Rounded Rectangle 18"/>
          <p:cNvSpPr/>
          <p:nvPr/>
        </p:nvSpPr>
        <p:spPr>
          <a:xfrm>
            <a:off x="699516" y="1577339"/>
            <a:ext cx="5266944" cy="1801368"/>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58368" y="1527048"/>
            <a:ext cx="5266944" cy="1801368"/>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047488" y="1700784"/>
            <a:ext cx="530352" cy="283464"/>
          </a:xfrm>
          <a:prstGeom prst="roundRect">
            <a:avLst/>
          </a:prstGeom>
          <a:solidFill>
            <a:srgbClr val="3167D5"/>
          </a:solidFill>
          <a:ln w="8890">
            <a:solidFill>
              <a:srgbClr val="3167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88636" y="1705355"/>
            <a:ext cx="448056" cy="274320"/>
          </a:xfrm>
          <a:prstGeom prst="rect">
            <a:avLst/>
          </a:prstGeom>
          <a:noFill/>
        </p:spPr>
        <p:txBody>
          <a:bodyPr wrap="square" lIns="9144" rIns="9144" tIns="9144" bIns="9144" anchor="ctr">
            <a:spAutoFit/>
          </a:bodyPr>
          <a:lstStyle/>
          <a:p>
            <a:pPr algn="ctr" rtl="0">
              <a:lnSpc>
                <a:spcPct val="100000"/>
              </a:lnSpc>
              <a:spcAft>
                <a:spcPts val="0"/>
              </a:spcAft>
            </a:pPr>
            <a:r>
              <a:rPr sz="950" b="1" i="0" lang="en-US">
                <a:solidFill>
                  <a:srgbClr val="FFFFFF"/>
                </a:solidFill>
                <a:latin typeface="Aptos"/>
                <a:cs typeface="Aptos"/>
                <a:ea typeface="Aptos"/>
              </a:rPr>
              <a:t>02</a:t>
            </a:r>
          </a:p>
        </p:txBody>
      </p:sp>
      <p:sp>
        <p:nvSpPr>
          <p:cNvPr id="23" name="TextBox 22"/>
          <p:cNvSpPr txBox="1"/>
          <p:nvPr/>
        </p:nvSpPr>
        <p:spPr>
          <a:xfrm>
            <a:off x="905256" y="1719072"/>
            <a:ext cx="3867912" cy="329184"/>
          </a:xfrm>
          <a:prstGeom prst="rect">
            <a:avLst/>
          </a:prstGeom>
          <a:noFill/>
        </p:spPr>
        <p:txBody>
          <a:bodyPr wrap="square" lIns="18288" rIns="18288" tIns="18288" bIns="18288" anchor="ctr">
            <a:spAutoFit/>
          </a:bodyPr>
          <a:lstStyle/>
          <a:p>
            <a:pPr algn="r" rtl="1">
              <a:lnSpc>
                <a:spcPct val="100000"/>
              </a:lnSpc>
              <a:spcAft>
                <a:spcPts val="0"/>
              </a:spcAft>
            </a:pPr>
            <a:r>
              <a:rPr sz="1700" b="1" i="0" lang="ar-DZ" rtl="1">
                <a:solidFill>
                  <a:srgbClr val="10233D"/>
                </a:solidFill>
                <a:latin typeface="Cairo"/>
                <a:cs typeface="Cairo"/>
                <a:ea typeface="Cairo"/>
              </a:rPr>
              <a:t>الانخراط</a:t>
            </a:r>
          </a:p>
        </p:txBody>
      </p:sp>
      <p:cxnSp>
        <p:nvCxnSpPr>
          <p:cNvPr id="24" name="Connector 23"/>
          <p:cNvCxnSpPr/>
          <p:nvPr/>
        </p:nvCxnSpPr>
        <p:spPr>
          <a:xfrm>
            <a:off x="877824" y="2167128"/>
            <a:ext cx="4791456" cy="0"/>
          </a:xfrm>
          <a:prstGeom prst="line">
            <a:avLst/>
          </a:prstGeom>
          <a:ln w="11430">
            <a:solidFill>
              <a:srgbClr val="D5DFEA"/>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932688" y="2331720"/>
            <a:ext cx="4681728" cy="758952"/>
          </a:xfrm>
          <a:prstGeom prst="rect">
            <a:avLst/>
          </a:prstGeom>
          <a:noFill/>
        </p:spPr>
        <p:txBody>
          <a:bodyPr wrap="square" lIns="18288" rIns="18288" tIns="18288" bIns="18288" anchor="ctr">
            <a:spAutoFit/>
          </a:bodyPr>
          <a:lstStyle/>
          <a:p>
            <a:pPr algn="r" rtl="1">
              <a:lnSpc>
                <a:spcPct val="107000"/>
              </a:lnSpc>
              <a:spcAft>
                <a:spcPts val="0"/>
              </a:spcAft>
            </a:pPr>
            <a:r>
              <a:rPr sz="1400" b="0" i="0" lang="ar-DZ" rtl="1">
                <a:solidFill>
                  <a:srgbClr val="17263A"/>
                </a:solidFill>
                <a:latin typeface="Cairo"/>
                <a:cs typeface="Cairo"/>
                <a:ea typeface="Cairo"/>
              </a:rPr>
              <a:t>ينخرط الطالب في سنة واحدة، والسنة تضم منخرطًا أو أكثر.</a:t>
            </a:r>
          </a:p>
        </p:txBody>
      </p:sp>
      <p:sp>
        <p:nvSpPr>
          <p:cNvPr id="26" name="Rounded Rectangle 25"/>
          <p:cNvSpPr/>
          <p:nvPr/>
        </p:nvSpPr>
        <p:spPr>
          <a:xfrm>
            <a:off x="6277356" y="3726179"/>
            <a:ext cx="5266944" cy="1801368"/>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36208" y="3675887"/>
            <a:ext cx="5266944" cy="1801368"/>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0625328" y="3849624"/>
            <a:ext cx="530352" cy="283464"/>
          </a:xfrm>
          <a:prstGeom prst="roundRect">
            <a:avLst/>
          </a:prstGeom>
          <a:solidFill>
            <a:srgbClr val="3167D5"/>
          </a:solidFill>
          <a:ln w="8890">
            <a:solidFill>
              <a:srgbClr val="3167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666476" y="3854196"/>
            <a:ext cx="448056" cy="274320"/>
          </a:xfrm>
          <a:prstGeom prst="rect">
            <a:avLst/>
          </a:prstGeom>
          <a:noFill/>
        </p:spPr>
        <p:txBody>
          <a:bodyPr wrap="square" lIns="9144" rIns="9144" tIns="9144" bIns="9144" anchor="ctr">
            <a:spAutoFit/>
          </a:bodyPr>
          <a:lstStyle/>
          <a:p>
            <a:pPr algn="ctr" rtl="0">
              <a:lnSpc>
                <a:spcPct val="100000"/>
              </a:lnSpc>
              <a:spcAft>
                <a:spcPts val="0"/>
              </a:spcAft>
            </a:pPr>
            <a:r>
              <a:rPr sz="950" b="1" i="0" lang="en-US">
                <a:solidFill>
                  <a:srgbClr val="FFFFFF"/>
                </a:solidFill>
                <a:latin typeface="Aptos"/>
                <a:cs typeface="Aptos"/>
                <a:ea typeface="Aptos"/>
              </a:rPr>
              <a:t>03</a:t>
            </a:r>
          </a:p>
        </p:txBody>
      </p:sp>
      <p:sp>
        <p:nvSpPr>
          <p:cNvPr id="30" name="TextBox 29"/>
          <p:cNvSpPr txBox="1"/>
          <p:nvPr/>
        </p:nvSpPr>
        <p:spPr>
          <a:xfrm>
            <a:off x="6483096" y="3867911"/>
            <a:ext cx="3867912" cy="329184"/>
          </a:xfrm>
          <a:prstGeom prst="rect">
            <a:avLst/>
          </a:prstGeom>
          <a:noFill/>
        </p:spPr>
        <p:txBody>
          <a:bodyPr wrap="square" lIns="18288" rIns="18288" tIns="18288" bIns="18288" anchor="ctr">
            <a:spAutoFit/>
          </a:bodyPr>
          <a:lstStyle/>
          <a:p>
            <a:pPr algn="r" rtl="1">
              <a:lnSpc>
                <a:spcPct val="100000"/>
              </a:lnSpc>
              <a:spcAft>
                <a:spcPts val="0"/>
              </a:spcAft>
            </a:pPr>
            <a:r>
              <a:rPr sz="1700" b="1" i="0" lang="ar-DZ" rtl="1">
                <a:solidFill>
                  <a:srgbClr val="10233D"/>
                </a:solidFill>
                <a:latin typeface="Cairo"/>
                <a:cs typeface="Cairo"/>
                <a:ea typeface="Cairo"/>
              </a:rPr>
              <a:t>الإعارة</a:t>
            </a:r>
          </a:p>
        </p:txBody>
      </p:sp>
      <p:cxnSp>
        <p:nvCxnSpPr>
          <p:cNvPr id="31" name="Connector 30"/>
          <p:cNvCxnSpPr/>
          <p:nvPr/>
        </p:nvCxnSpPr>
        <p:spPr>
          <a:xfrm>
            <a:off x="6455664" y="4315968"/>
            <a:ext cx="4791456" cy="0"/>
          </a:xfrm>
          <a:prstGeom prst="line">
            <a:avLst/>
          </a:prstGeom>
          <a:ln w="11430">
            <a:solidFill>
              <a:srgbClr val="D5DFE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510528" y="4480559"/>
            <a:ext cx="4681728" cy="758952"/>
          </a:xfrm>
          <a:prstGeom prst="rect">
            <a:avLst/>
          </a:prstGeom>
          <a:noFill/>
        </p:spPr>
        <p:txBody>
          <a:bodyPr wrap="square" lIns="18288" rIns="18288" tIns="18288" bIns="18288" anchor="ctr">
            <a:spAutoFit/>
          </a:bodyPr>
          <a:lstStyle/>
          <a:p>
            <a:pPr algn="r" rtl="1">
              <a:lnSpc>
                <a:spcPct val="107000"/>
              </a:lnSpc>
              <a:spcAft>
                <a:spcPts val="0"/>
              </a:spcAft>
            </a:pPr>
            <a:r>
              <a:rPr sz="1400" b="0" i="0" lang="ar-DZ" rtl="1">
                <a:solidFill>
                  <a:srgbClr val="17263A"/>
                </a:solidFill>
                <a:latin typeface="Cairo"/>
                <a:cs typeface="Cairo"/>
                <a:ea typeface="Cairo"/>
              </a:rPr>
              <a:t>الإعارة لحامل بطاقة الطالب؛ لا تتجاوز 7 أيام ويمكن الإرجاع قبل الموعد.</a:t>
            </a:r>
          </a:p>
        </p:txBody>
      </p:sp>
      <p:sp>
        <p:nvSpPr>
          <p:cNvPr id="33" name="Rounded Rectangle 32"/>
          <p:cNvSpPr/>
          <p:nvPr/>
        </p:nvSpPr>
        <p:spPr>
          <a:xfrm>
            <a:off x="699516" y="3726179"/>
            <a:ext cx="5266944" cy="1801368"/>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58368" y="3675887"/>
            <a:ext cx="5266944" cy="1801368"/>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047488" y="3849624"/>
            <a:ext cx="530352" cy="283464"/>
          </a:xfrm>
          <a:prstGeom prst="roundRect">
            <a:avLst/>
          </a:prstGeom>
          <a:solidFill>
            <a:srgbClr val="3167D5"/>
          </a:solidFill>
          <a:ln w="8890">
            <a:solidFill>
              <a:srgbClr val="3167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88636" y="3854196"/>
            <a:ext cx="448056" cy="274320"/>
          </a:xfrm>
          <a:prstGeom prst="rect">
            <a:avLst/>
          </a:prstGeom>
          <a:noFill/>
        </p:spPr>
        <p:txBody>
          <a:bodyPr wrap="square" lIns="9144" rIns="9144" tIns="9144" bIns="9144" anchor="ctr">
            <a:spAutoFit/>
          </a:bodyPr>
          <a:lstStyle/>
          <a:p>
            <a:pPr algn="ctr" rtl="0">
              <a:lnSpc>
                <a:spcPct val="100000"/>
              </a:lnSpc>
              <a:spcAft>
                <a:spcPts val="0"/>
              </a:spcAft>
            </a:pPr>
            <a:r>
              <a:rPr sz="950" b="1" i="0" lang="en-US">
                <a:solidFill>
                  <a:srgbClr val="FFFFFF"/>
                </a:solidFill>
                <a:latin typeface="Aptos"/>
                <a:cs typeface="Aptos"/>
                <a:ea typeface="Aptos"/>
              </a:rPr>
              <a:t>04</a:t>
            </a:r>
          </a:p>
        </p:txBody>
      </p:sp>
      <p:sp>
        <p:nvSpPr>
          <p:cNvPr id="37" name="TextBox 36"/>
          <p:cNvSpPr txBox="1"/>
          <p:nvPr/>
        </p:nvSpPr>
        <p:spPr>
          <a:xfrm>
            <a:off x="905256" y="3867911"/>
            <a:ext cx="3867912" cy="329184"/>
          </a:xfrm>
          <a:prstGeom prst="rect">
            <a:avLst/>
          </a:prstGeom>
          <a:noFill/>
        </p:spPr>
        <p:txBody>
          <a:bodyPr wrap="square" lIns="18288" rIns="18288" tIns="18288" bIns="18288" anchor="ctr">
            <a:spAutoFit/>
          </a:bodyPr>
          <a:lstStyle/>
          <a:p>
            <a:pPr algn="r" rtl="1">
              <a:lnSpc>
                <a:spcPct val="100000"/>
              </a:lnSpc>
              <a:spcAft>
                <a:spcPts val="0"/>
              </a:spcAft>
            </a:pPr>
            <a:r>
              <a:rPr sz="1700" b="1" i="0" lang="ar-DZ" rtl="1">
                <a:solidFill>
                  <a:srgbClr val="10233D"/>
                </a:solidFill>
                <a:latin typeface="Cairo"/>
                <a:cs typeface="Cairo"/>
                <a:ea typeface="Cairo"/>
              </a:rPr>
              <a:t>العقوبة</a:t>
            </a:r>
          </a:p>
        </p:txBody>
      </p:sp>
      <p:cxnSp>
        <p:nvCxnSpPr>
          <p:cNvPr id="38" name="Connector 37"/>
          <p:cNvCxnSpPr/>
          <p:nvPr/>
        </p:nvCxnSpPr>
        <p:spPr>
          <a:xfrm>
            <a:off x="877824" y="4315968"/>
            <a:ext cx="4791456" cy="0"/>
          </a:xfrm>
          <a:prstGeom prst="line">
            <a:avLst/>
          </a:prstGeom>
          <a:ln w="11430">
            <a:solidFill>
              <a:srgbClr val="D5DFEA"/>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932688" y="4480559"/>
            <a:ext cx="4681728" cy="758952"/>
          </a:xfrm>
          <a:prstGeom prst="rect">
            <a:avLst/>
          </a:prstGeom>
          <a:noFill/>
        </p:spPr>
        <p:txBody>
          <a:bodyPr wrap="square" lIns="18288" rIns="18288" tIns="18288" bIns="18288" anchor="ctr">
            <a:spAutoFit/>
          </a:bodyPr>
          <a:lstStyle/>
          <a:p>
            <a:pPr algn="r" rtl="1">
              <a:lnSpc>
                <a:spcPct val="107000"/>
              </a:lnSpc>
              <a:spcAft>
                <a:spcPts val="0"/>
              </a:spcAft>
            </a:pPr>
            <a:r>
              <a:rPr sz="1400" b="0" i="0" lang="ar-DZ" rtl="1">
                <a:solidFill>
                  <a:srgbClr val="17263A"/>
                </a:solidFill>
                <a:latin typeface="Cairo"/>
                <a:cs typeface="Cairo"/>
                <a:ea typeface="Cairo"/>
              </a:rPr>
              <a:t>العقوبة ترتبط بمنخرط واحد؛ وتعدد العقوبات للمنخرط ممكن.</a:t>
            </a:r>
          </a:p>
        </p:txBody>
      </p:sp>
      <p:sp>
        <p:nvSpPr>
          <p:cNvPr id="40" name="Rounded Rectangle 39"/>
          <p:cNvSpPr/>
          <p:nvPr/>
        </p:nvSpPr>
        <p:spPr>
          <a:xfrm>
            <a:off x="9747504" y="5788152"/>
            <a:ext cx="1508760" cy="265176"/>
          </a:xfrm>
          <a:prstGeom prst="roundRect">
            <a:avLst/>
          </a:prstGeom>
          <a:solidFill>
            <a:srgbClr val="F8F0DF"/>
          </a:solidFill>
          <a:ln w="8890">
            <a:solidFill>
              <a:srgbClr val="F8F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788652" y="5792724"/>
            <a:ext cx="1426463" cy="256031"/>
          </a:xfrm>
          <a:prstGeom prst="rect">
            <a:avLst/>
          </a:prstGeom>
          <a:noFill/>
        </p:spPr>
        <p:txBody>
          <a:bodyPr wrap="square" lIns="9144" rIns="9144" tIns="9144" bIns="9144" anchor="ctr">
            <a:spAutoFit/>
          </a:bodyPr>
          <a:lstStyle/>
          <a:p>
            <a:pPr algn="ctr" rtl="1">
              <a:lnSpc>
                <a:spcPct val="100000"/>
              </a:lnSpc>
              <a:spcAft>
                <a:spcPts val="0"/>
              </a:spcAft>
            </a:pPr>
            <a:r>
              <a:rPr sz="1000" b="1" i="0" lang="ar-DZ" rtl="1">
                <a:solidFill>
                  <a:srgbClr val="10233D"/>
                </a:solidFill>
                <a:latin typeface="Cairo"/>
                <a:cs typeface="Cairo"/>
                <a:ea typeface="Cairo"/>
              </a:rPr>
              <a:t>قاعدة إضافية</a:t>
            </a:r>
          </a:p>
        </p:txBody>
      </p:sp>
      <p:sp>
        <p:nvSpPr>
          <p:cNvPr id="42" name="TextBox 41"/>
          <p:cNvSpPr txBox="1"/>
          <p:nvPr/>
        </p:nvSpPr>
        <p:spPr>
          <a:xfrm>
            <a:off x="960120" y="5769864"/>
            <a:ext cx="8458200" cy="292608"/>
          </a:xfrm>
          <a:prstGeom prst="rect">
            <a:avLst/>
          </a:prstGeom>
          <a:noFill/>
        </p:spPr>
        <p:txBody>
          <a:bodyPr wrap="square" lIns="18288" rIns="18288" tIns="18288" bIns="18288" anchor="ctr">
            <a:spAutoFit/>
          </a:bodyPr>
          <a:lstStyle/>
          <a:p>
            <a:pPr algn="r" rtl="1">
              <a:lnSpc>
                <a:spcPct val="100000"/>
              </a:lnSpc>
              <a:spcAft>
                <a:spcPts val="0"/>
              </a:spcAft>
            </a:pPr>
            <a:r>
              <a:rPr sz="1250" b="0" i="0" lang="ar-DZ" rtl="1">
                <a:solidFill>
                  <a:srgbClr val="617187"/>
                </a:solidFill>
                <a:latin typeface="Cairo"/>
                <a:cs typeface="Cairo"/>
                <a:ea typeface="Cairo"/>
              </a:rPr>
              <a:t>ضياع الكتاب أو إتلافه: تعويض بقيمته خمسة أضعاف، وفق قاعدة الدراسة.</a:t>
            </a:r>
          </a:p>
        </p:txBody>
      </p:sp>
    </p:spTree>
  </p:cSld>
  <p:clrMapOvr>
    <a:masterClrMapping/>
  </p:clrMapOvr>
  <p:transition spd="med"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ounded Rectangle 1"/>
          <p:cNvSpPr/>
          <p:nvPr/>
        </p:nvSpPr>
        <p:spPr>
          <a:xfrm>
            <a:off x="530352" y="292608"/>
            <a:ext cx="2423160" cy="310896"/>
          </a:xfrm>
          <a:prstGeom prst="roundRect">
            <a:avLst/>
          </a:prstGeom>
          <a:solidFill>
            <a:srgbClr val="10233D"/>
          </a:solidFill>
          <a:ln w="889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1500" y="297180"/>
            <a:ext cx="2340864" cy="301752"/>
          </a:xfrm>
          <a:prstGeom prst="rect">
            <a:avLst/>
          </a:prstGeom>
          <a:noFill/>
        </p:spPr>
        <p:txBody>
          <a:bodyPr wrap="square" lIns="9144" rIns="9144" tIns="9144" bIns="9144" anchor="ctr">
            <a:spAutoFit/>
          </a:bodyPr>
          <a:lstStyle/>
          <a:p>
            <a:pPr algn="ctr" rtl="0">
              <a:lnSpc>
                <a:spcPct val="100000"/>
              </a:lnSpc>
              <a:spcAft>
                <a:spcPts val="0"/>
              </a:spcAft>
            </a:pPr>
            <a:r>
              <a:rPr sz="1050" b="1" i="0" lang="en-US">
                <a:solidFill>
                  <a:srgbClr val="FFFFFF"/>
                </a:solidFill>
                <a:latin typeface="Aptos"/>
                <a:cs typeface="Aptos"/>
                <a:ea typeface="Aptos"/>
              </a:rPr>
              <a:t>02  /  التحليل والتصميم</a:t>
            </a:r>
          </a:p>
        </p:txBody>
      </p:sp>
      <p:sp>
        <p:nvSpPr>
          <p:cNvPr id="4" name="Rectangle 3"/>
          <p:cNvSpPr/>
          <p:nvPr/>
        </p:nvSpPr>
        <p:spPr>
          <a:xfrm>
            <a:off x="11594592" y="283464"/>
            <a:ext cx="64008" cy="502920"/>
          </a:xfrm>
          <a:prstGeom prst="rect">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063240" y="182880"/>
            <a:ext cx="8229600" cy="557784"/>
          </a:xfrm>
          <a:prstGeom prst="rect">
            <a:avLst/>
          </a:prstGeom>
          <a:noFill/>
        </p:spPr>
        <p:txBody>
          <a:bodyPr wrap="square" lIns="18288" rIns="18288" tIns="18288" bIns="18288" anchor="ctr">
            <a:spAutoFit/>
          </a:bodyPr>
          <a:lstStyle/>
          <a:p>
            <a:pPr algn="r" rtl="1">
              <a:lnSpc>
                <a:spcPct val="100000"/>
              </a:lnSpc>
              <a:spcAft>
                <a:spcPts val="0"/>
              </a:spcAft>
            </a:pPr>
            <a:r>
              <a:rPr sz="2600" b="1" i="0" lang="ar-DZ" rtl="1">
                <a:solidFill>
                  <a:srgbClr val="10233D"/>
                </a:solidFill>
                <a:latin typeface="Cairo"/>
                <a:cs typeface="Cairo"/>
                <a:ea typeface="Cairo"/>
              </a:rPr>
              <a:t>MCD: الصورة الكاملة للكيانات والعلاقات</a:t>
            </a:r>
          </a:p>
        </p:txBody>
      </p:sp>
      <p:sp>
        <p:nvSpPr>
          <p:cNvPr id="6" name="TextBox 5"/>
          <p:cNvSpPr txBox="1"/>
          <p:nvPr/>
        </p:nvSpPr>
        <p:spPr>
          <a:xfrm>
            <a:off x="3063240" y="731520"/>
            <a:ext cx="8229600" cy="310896"/>
          </a:xfrm>
          <a:prstGeom prst="rect">
            <a:avLst/>
          </a:prstGeom>
          <a:noFill/>
        </p:spPr>
        <p:txBody>
          <a:bodyPr wrap="square" lIns="9144" rIns="9144" tIns="9144" bIns="9144" anchor="ctr">
            <a:spAutoFit/>
          </a:bodyPr>
          <a:lstStyle/>
          <a:p>
            <a:pPr algn="r" rtl="1">
              <a:lnSpc>
                <a:spcPct val="100000"/>
              </a:lnSpc>
              <a:spcAft>
                <a:spcPts val="0"/>
              </a:spcAft>
            </a:pPr>
            <a:r>
              <a:rPr sz="1350" b="0" i="0" lang="ar-DZ" rtl="1">
                <a:solidFill>
                  <a:srgbClr val="617187"/>
                </a:solidFill>
                <a:latin typeface="Cairo"/>
                <a:cs typeface="Cairo"/>
                <a:ea typeface="Cairo"/>
              </a:rPr>
              <a:t>إعادة بناء قابلة للتعديل — العناصر والتعدادات مأخوذة من الشكل الأصلي وقائمة العلاقات.</a:t>
            </a:r>
          </a:p>
        </p:txBody>
      </p:sp>
      <p:cxnSp>
        <p:nvCxnSpPr>
          <p:cNvPr id="7" name="Connector 6"/>
          <p:cNvCxnSpPr/>
          <p:nvPr/>
        </p:nvCxnSpPr>
        <p:spPr>
          <a:xfrm>
            <a:off x="530352" y="1170432"/>
            <a:ext cx="11128248" cy="0"/>
          </a:xfrm>
          <a:prstGeom prst="line">
            <a:avLst/>
          </a:prstGeom>
          <a:ln w="10160">
            <a:solidFill>
              <a:srgbClr val="D5DFE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30352" y="6382512"/>
            <a:ext cx="11128248" cy="0"/>
          </a:xfrm>
          <a:prstGeom prst="line">
            <a:avLst/>
          </a:prstGeom>
          <a:ln w="8890">
            <a:solidFill>
              <a:srgbClr val="D5DFEA"/>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03504" y="6437376"/>
            <a:ext cx="8778240" cy="210312"/>
          </a:xfrm>
          <a:prstGeom prst="rect">
            <a:avLst/>
          </a:prstGeom>
          <a:noFill/>
        </p:spPr>
        <p:txBody>
          <a:bodyPr wrap="square" lIns="0" rIns="0" tIns="0" bIns="0" anchor="ctr">
            <a:spAutoFit/>
          </a:bodyPr>
          <a:lstStyle/>
          <a:p>
            <a:pPr algn="l" rtl="1">
              <a:lnSpc>
                <a:spcPct val="100000"/>
              </a:lnSpc>
              <a:spcAft>
                <a:spcPts val="0"/>
              </a:spcAft>
            </a:pPr>
            <a:r>
              <a:rPr sz="850" b="0" i="0" lang="ar-DZ" rtl="1">
                <a:solidFill>
                  <a:srgbClr val="617187"/>
                </a:solidFill>
                <a:latin typeface="Cairo"/>
                <a:cs typeface="Cairo"/>
                <a:ea typeface="Cairo"/>
              </a:rPr>
              <a:t>المصدر: المذكرة، الفصل الثاني، ص 52–53</a:t>
            </a:r>
          </a:p>
        </p:txBody>
      </p:sp>
      <p:sp>
        <p:nvSpPr>
          <p:cNvPr id="10" name="TextBox 9"/>
          <p:cNvSpPr txBox="1"/>
          <p:nvPr/>
        </p:nvSpPr>
        <p:spPr>
          <a:xfrm>
            <a:off x="10725912" y="6409944"/>
            <a:ext cx="932688" cy="228600"/>
          </a:xfrm>
          <a:prstGeom prst="rect">
            <a:avLst/>
          </a:prstGeom>
          <a:noFill/>
        </p:spPr>
        <p:txBody>
          <a:bodyPr wrap="square" lIns="0" rIns="0" tIns="0" bIns="0" anchor="ctr">
            <a:spAutoFit/>
          </a:bodyPr>
          <a:lstStyle/>
          <a:p>
            <a:pPr algn="l" rtl="0">
              <a:lnSpc>
                <a:spcPct val="100000"/>
              </a:lnSpc>
              <a:spcAft>
                <a:spcPts val="0"/>
              </a:spcAft>
            </a:pPr>
            <a:r>
              <a:rPr sz="950" b="1" i="0" lang="en-US">
                <a:solidFill>
                  <a:srgbClr val="10233D"/>
                </a:solidFill>
                <a:latin typeface="Aptos"/>
                <a:cs typeface="Aptos"/>
                <a:ea typeface="Aptos"/>
              </a:rPr>
              <a:t>10 / 20</a:t>
            </a:r>
          </a:p>
        </p:txBody>
      </p:sp>
      <p:sp>
        <p:nvSpPr>
          <p:cNvPr id="11" name="Rectangle 10"/>
          <p:cNvSpPr/>
          <p:nvPr/>
        </p:nvSpPr>
        <p:spPr>
          <a:xfrm>
            <a:off x="9400032" y="6519672"/>
            <a:ext cx="571500" cy="32004"/>
          </a:xfrm>
          <a:prstGeom prst="rect">
            <a:avLst/>
          </a:prstGeom>
          <a:solidFill>
            <a:srgbClr val="316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2743200" y="2304288"/>
            <a:ext cx="640080" cy="329184"/>
          </a:xfrm>
          <a:prstGeom prst="line">
            <a:avLst/>
          </a:prstGeom>
          <a:ln w="20320">
            <a:solidFill>
              <a:srgbClr val="3167D5"/>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2743200" y="3931920"/>
            <a:ext cx="640080" cy="667512"/>
          </a:xfrm>
          <a:prstGeom prst="line">
            <a:avLst/>
          </a:prstGeom>
          <a:ln w="20320">
            <a:solidFill>
              <a:srgbClr val="3167D5"/>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870448" y="4261104"/>
            <a:ext cx="1316736" cy="420624"/>
          </a:xfrm>
          <a:prstGeom prst="line">
            <a:avLst/>
          </a:prstGeom>
          <a:ln w="20320">
            <a:solidFill>
              <a:srgbClr val="3167D5"/>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263640" y="3246120"/>
            <a:ext cx="246888" cy="0"/>
          </a:xfrm>
          <a:prstGeom prst="line">
            <a:avLst/>
          </a:prstGeom>
          <a:ln w="20320">
            <a:solidFill>
              <a:srgbClr val="3167D5"/>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065008" y="3246120"/>
            <a:ext cx="484632" cy="0"/>
          </a:xfrm>
          <a:prstGeom prst="line">
            <a:avLst/>
          </a:prstGeom>
          <a:ln w="20320">
            <a:solidFill>
              <a:srgbClr val="3167D5"/>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030968" y="1920240"/>
            <a:ext cx="0" cy="420624"/>
          </a:xfrm>
          <a:prstGeom prst="line">
            <a:avLst/>
          </a:prstGeom>
          <a:ln w="20320">
            <a:solidFill>
              <a:srgbClr val="3167D5"/>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030968" y="4133087"/>
            <a:ext cx="0" cy="557785"/>
          </a:xfrm>
          <a:prstGeom prst="line">
            <a:avLst/>
          </a:prstGeom>
          <a:ln w="20320">
            <a:solidFill>
              <a:srgbClr val="3167D5"/>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08076" y="1677924"/>
            <a:ext cx="2176272" cy="1298448"/>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66928" y="1627632"/>
            <a:ext cx="2176272" cy="1298448"/>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66928" y="1627632"/>
            <a:ext cx="2176272" cy="310896"/>
          </a:xfrm>
          <a:prstGeom prst="roundRect">
            <a:avLst/>
          </a:prstGeom>
          <a:solidFill>
            <a:srgbClr val="18365C"/>
          </a:solidFill>
          <a:ln w="5080">
            <a:solidFill>
              <a:srgbClr val="1836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1807951"/>
            <a:ext cx="2176272" cy="130576"/>
          </a:xfrm>
          <a:prstGeom prst="rect">
            <a:avLst/>
          </a:prstGeom>
          <a:solidFill>
            <a:srgbClr val="18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1659636"/>
            <a:ext cx="2029967" cy="246888"/>
          </a:xfrm>
          <a:prstGeom prst="rect">
            <a:avLst/>
          </a:prstGeom>
          <a:noFill/>
        </p:spPr>
        <p:txBody>
          <a:bodyPr wrap="square" lIns="9144" rIns="9144" tIns="9144" bIns="9144" anchor="ctr">
            <a:spAutoFit/>
          </a:bodyPr>
          <a:lstStyle/>
          <a:p>
            <a:pPr algn="r" rtl="1">
              <a:lnSpc>
                <a:spcPct val="100000"/>
              </a:lnSpc>
              <a:spcAft>
                <a:spcPts val="0"/>
              </a:spcAft>
            </a:pPr>
            <a:r>
              <a:rPr sz="1200" b="1" i="0" lang="ar-DZ" rtl="1">
                <a:solidFill>
                  <a:srgbClr val="FFFFFF"/>
                </a:solidFill>
                <a:latin typeface="Cairo"/>
                <a:cs typeface="Cairo"/>
                <a:ea typeface="Cairo"/>
              </a:rPr>
              <a:t>المؤلف</a:t>
            </a:r>
          </a:p>
        </p:txBody>
      </p:sp>
      <p:sp>
        <p:nvSpPr>
          <p:cNvPr id="24" name="TextBox 23"/>
          <p:cNvSpPr txBox="1"/>
          <p:nvPr/>
        </p:nvSpPr>
        <p:spPr>
          <a:xfrm>
            <a:off x="676656" y="1984248"/>
            <a:ext cx="1956815" cy="896111"/>
          </a:xfrm>
          <a:prstGeom prst="rect">
            <a:avLst/>
          </a:prstGeom>
          <a:noFill/>
        </p:spPr>
        <p:txBody>
          <a:bodyPr wrap="square" lIns="9144" rIns="9144" tIns="9144" bIns="9144" anchor="t">
            <a:spAutoFit/>
          </a:bodyPr>
          <a:lstStyle/>
          <a:p>
            <a:pPr algn="r" rtl="1">
              <a:lnSpc>
                <a:spcPct val="98000"/>
              </a:lnSpc>
              <a:spcAft>
                <a:spcPts val="0"/>
              </a:spcAft>
            </a:pPr>
            <a:r>
              <a:rPr sz="940" b="0" i="0" lang="ar-DZ" rtl="1">
                <a:solidFill>
                  <a:srgbClr val="17263A"/>
                </a:solidFill>
                <a:latin typeface="Cairo"/>
                <a:cs typeface="Cairo"/>
                <a:ea typeface="Cairo"/>
              </a:rPr>
              <a:t>PK رقم المؤلف</a:t>
            </a:r>
            <a:br/>
            <a:r>
              <a:rPr sz="940" b="0" i="0" lang="ar-DZ" rtl="1">
                <a:solidFill>
                  <a:srgbClr val="17263A"/>
                </a:solidFill>
                <a:latin typeface="Cairo"/>
                <a:cs typeface="Cairo"/>
                <a:ea typeface="Cairo"/>
              </a:rPr>
              <a:t>اسم المؤلف • لقب المؤلف</a:t>
            </a:r>
          </a:p>
        </p:txBody>
      </p:sp>
      <p:sp>
        <p:nvSpPr>
          <p:cNvPr id="25" name="Rounded Rectangle 24"/>
          <p:cNvSpPr/>
          <p:nvPr/>
        </p:nvSpPr>
        <p:spPr>
          <a:xfrm>
            <a:off x="608076" y="4219955"/>
            <a:ext cx="2176272" cy="1298448"/>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66928" y="4169663"/>
            <a:ext cx="2176272" cy="1298448"/>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66928" y="4169663"/>
            <a:ext cx="2176272" cy="310896"/>
          </a:xfrm>
          <a:prstGeom prst="roundRect">
            <a:avLst/>
          </a:prstGeom>
          <a:solidFill>
            <a:srgbClr val="18365C"/>
          </a:solidFill>
          <a:ln w="5080">
            <a:solidFill>
              <a:srgbClr val="1836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66928" y="4349983"/>
            <a:ext cx="2176272" cy="130576"/>
          </a:xfrm>
          <a:prstGeom prst="rect">
            <a:avLst/>
          </a:prstGeom>
          <a:solidFill>
            <a:srgbClr val="18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4201668"/>
            <a:ext cx="2029967" cy="246888"/>
          </a:xfrm>
          <a:prstGeom prst="rect">
            <a:avLst/>
          </a:prstGeom>
          <a:noFill/>
        </p:spPr>
        <p:txBody>
          <a:bodyPr wrap="square" lIns="9144" rIns="9144" tIns="9144" bIns="9144" anchor="ctr">
            <a:spAutoFit/>
          </a:bodyPr>
          <a:lstStyle/>
          <a:p>
            <a:pPr algn="r" rtl="1">
              <a:lnSpc>
                <a:spcPct val="100000"/>
              </a:lnSpc>
              <a:spcAft>
                <a:spcPts val="0"/>
              </a:spcAft>
            </a:pPr>
            <a:r>
              <a:rPr sz="1200" b="1" i="0" lang="ar-DZ" rtl="1">
                <a:solidFill>
                  <a:srgbClr val="FFFFFF"/>
                </a:solidFill>
                <a:latin typeface="Cairo"/>
                <a:cs typeface="Cairo"/>
                <a:ea typeface="Cairo"/>
              </a:rPr>
              <a:t>دار النشر</a:t>
            </a:r>
          </a:p>
        </p:txBody>
      </p:sp>
      <p:sp>
        <p:nvSpPr>
          <p:cNvPr id="30" name="TextBox 29"/>
          <p:cNvSpPr txBox="1"/>
          <p:nvPr/>
        </p:nvSpPr>
        <p:spPr>
          <a:xfrm>
            <a:off x="676656" y="4526279"/>
            <a:ext cx="1956815" cy="896111"/>
          </a:xfrm>
          <a:prstGeom prst="rect">
            <a:avLst/>
          </a:prstGeom>
          <a:noFill/>
        </p:spPr>
        <p:txBody>
          <a:bodyPr wrap="square" lIns="9144" rIns="9144" tIns="9144" bIns="9144" anchor="t">
            <a:spAutoFit/>
          </a:bodyPr>
          <a:lstStyle/>
          <a:p>
            <a:pPr algn="r" rtl="1">
              <a:lnSpc>
                <a:spcPct val="98000"/>
              </a:lnSpc>
              <a:spcAft>
                <a:spcPts val="0"/>
              </a:spcAft>
            </a:pPr>
            <a:r>
              <a:rPr sz="940" b="0" i="0" lang="ar-DZ" rtl="1">
                <a:solidFill>
                  <a:srgbClr val="17263A"/>
                </a:solidFill>
                <a:latin typeface="Cairo"/>
                <a:cs typeface="Cairo"/>
                <a:ea typeface="Cairo"/>
              </a:rPr>
              <a:t>PK رقم دار النشر</a:t>
            </a:r>
            <a:br/>
            <a:r>
              <a:rPr sz="940" b="0" i="0" lang="ar-DZ" rtl="1">
                <a:solidFill>
                  <a:srgbClr val="17263A"/>
                </a:solidFill>
                <a:latin typeface="Cairo"/>
                <a:cs typeface="Cairo"/>
                <a:ea typeface="Cairo"/>
              </a:rPr>
              <a:t>التعيين • عنوان دار النشر</a:t>
            </a:r>
          </a:p>
        </p:txBody>
      </p:sp>
      <p:sp>
        <p:nvSpPr>
          <p:cNvPr id="31" name="Rounded Rectangle 30"/>
          <p:cNvSpPr/>
          <p:nvPr/>
        </p:nvSpPr>
        <p:spPr>
          <a:xfrm>
            <a:off x="3424428" y="2391156"/>
            <a:ext cx="2880360" cy="1920240"/>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3383280" y="2340864"/>
            <a:ext cx="2880360" cy="1920240"/>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3383280" y="2340864"/>
            <a:ext cx="2880360" cy="310896"/>
          </a:xfrm>
          <a:prstGeom prst="roundRect">
            <a:avLst/>
          </a:prstGeom>
          <a:solidFill>
            <a:srgbClr val="18365C"/>
          </a:solidFill>
          <a:ln w="5080">
            <a:solidFill>
              <a:srgbClr val="1836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383280" y="2521183"/>
            <a:ext cx="2880360" cy="130576"/>
          </a:xfrm>
          <a:prstGeom prst="rect">
            <a:avLst/>
          </a:prstGeom>
          <a:solidFill>
            <a:srgbClr val="18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456432" y="2372868"/>
            <a:ext cx="2734056" cy="246888"/>
          </a:xfrm>
          <a:prstGeom prst="rect">
            <a:avLst/>
          </a:prstGeom>
          <a:noFill/>
        </p:spPr>
        <p:txBody>
          <a:bodyPr wrap="square" lIns="9144" rIns="9144" tIns="9144" bIns="9144" anchor="ctr">
            <a:spAutoFit/>
          </a:bodyPr>
          <a:lstStyle/>
          <a:p>
            <a:pPr algn="r" rtl="1">
              <a:lnSpc>
                <a:spcPct val="100000"/>
              </a:lnSpc>
              <a:spcAft>
                <a:spcPts val="0"/>
              </a:spcAft>
            </a:pPr>
            <a:r>
              <a:rPr sz="1200" b="1" i="0" lang="ar-DZ" rtl="1">
                <a:solidFill>
                  <a:srgbClr val="FFFFFF"/>
                </a:solidFill>
                <a:latin typeface="Cairo"/>
                <a:cs typeface="Cairo"/>
                <a:ea typeface="Cairo"/>
              </a:rPr>
              <a:t>الكتاب</a:t>
            </a:r>
          </a:p>
        </p:txBody>
      </p:sp>
      <p:sp>
        <p:nvSpPr>
          <p:cNvPr id="36" name="TextBox 35"/>
          <p:cNvSpPr txBox="1"/>
          <p:nvPr/>
        </p:nvSpPr>
        <p:spPr>
          <a:xfrm>
            <a:off x="3493008" y="2697479"/>
            <a:ext cx="2660904" cy="1517904"/>
          </a:xfrm>
          <a:prstGeom prst="rect">
            <a:avLst/>
          </a:prstGeom>
          <a:noFill/>
        </p:spPr>
        <p:txBody>
          <a:bodyPr wrap="square" lIns="9144" rIns="9144" tIns="9144" bIns="9144" anchor="t">
            <a:spAutoFit/>
          </a:bodyPr>
          <a:lstStyle/>
          <a:p>
            <a:pPr algn="r" rtl="1">
              <a:lnSpc>
                <a:spcPct val="98000"/>
              </a:lnSpc>
              <a:spcAft>
                <a:spcPts val="0"/>
              </a:spcAft>
            </a:pPr>
            <a:r>
              <a:rPr sz="940" b="0" i="0" lang="ar-DZ" rtl="1">
                <a:solidFill>
                  <a:srgbClr val="17263A"/>
                </a:solidFill>
                <a:latin typeface="Cairo"/>
                <a:cs typeface="Cairo"/>
                <a:ea typeface="Cairo"/>
              </a:rPr>
              <a:t>PK رقم الكتاب</a:t>
            </a:r>
            <a:br/>
            <a:r>
              <a:rPr sz="940" b="0" i="0" lang="ar-DZ" rtl="1">
                <a:solidFill>
                  <a:srgbClr val="17263A"/>
                </a:solidFill>
                <a:latin typeface="Cairo"/>
                <a:cs typeface="Cairo"/>
                <a:ea typeface="Cairo"/>
              </a:rPr>
              <a:t>العنوان • سنة الإصدار</a:t>
            </a:r>
            <a:br/>
            <a:r>
              <a:rPr sz="940" b="0" i="0" lang="ar-DZ" rtl="1">
                <a:solidFill>
                  <a:srgbClr val="17263A"/>
                </a:solidFill>
                <a:latin typeface="Cairo"/>
                <a:cs typeface="Cairo"/>
                <a:ea typeface="Cairo"/>
              </a:rPr>
              <a:t>تاريخ الدخول • عدد النسخ</a:t>
            </a:r>
          </a:p>
        </p:txBody>
      </p:sp>
      <p:sp>
        <p:nvSpPr>
          <p:cNvPr id="37" name="Rounded Rectangle 36"/>
          <p:cNvSpPr/>
          <p:nvPr/>
        </p:nvSpPr>
        <p:spPr>
          <a:xfrm>
            <a:off x="8590788" y="2391156"/>
            <a:ext cx="2880360" cy="1792224"/>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549640" y="2340864"/>
            <a:ext cx="2880360" cy="1792224"/>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549640" y="2340864"/>
            <a:ext cx="2880360" cy="310896"/>
          </a:xfrm>
          <a:prstGeom prst="roundRect">
            <a:avLst/>
          </a:prstGeom>
          <a:solidFill>
            <a:srgbClr val="18365C"/>
          </a:solidFill>
          <a:ln w="5080">
            <a:solidFill>
              <a:srgbClr val="1836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549640" y="2521183"/>
            <a:ext cx="2880360" cy="130576"/>
          </a:xfrm>
          <a:prstGeom prst="rect">
            <a:avLst/>
          </a:prstGeom>
          <a:solidFill>
            <a:srgbClr val="18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22792" y="2372868"/>
            <a:ext cx="2734056" cy="246888"/>
          </a:xfrm>
          <a:prstGeom prst="rect">
            <a:avLst/>
          </a:prstGeom>
          <a:noFill/>
        </p:spPr>
        <p:txBody>
          <a:bodyPr wrap="square" lIns="9144" rIns="9144" tIns="9144" bIns="9144" anchor="ctr">
            <a:spAutoFit/>
          </a:bodyPr>
          <a:lstStyle/>
          <a:p>
            <a:pPr algn="r" rtl="1">
              <a:lnSpc>
                <a:spcPct val="100000"/>
              </a:lnSpc>
              <a:spcAft>
                <a:spcPts val="0"/>
              </a:spcAft>
            </a:pPr>
            <a:r>
              <a:rPr sz="1200" b="1" i="0" lang="ar-DZ" rtl="1">
                <a:solidFill>
                  <a:srgbClr val="FFFFFF"/>
                </a:solidFill>
                <a:latin typeface="Cairo"/>
                <a:cs typeface="Cairo"/>
                <a:ea typeface="Cairo"/>
              </a:rPr>
              <a:t>المنخرط</a:t>
            </a:r>
          </a:p>
        </p:txBody>
      </p:sp>
      <p:sp>
        <p:nvSpPr>
          <p:cNvPr id="42" name="TextBox 41"/>
          <p:cNvSpPr txBox="1"/>
          <p:nvPr/>
        </p:nvSpPr>
        <p:spPr>
          <a:xfrm>
            <a:off x="8659367" y="2697479"/>
            <a:ext cx="2660904" cy="1389887"/>
          </a:xfrm>
          <a:prstGeom prst="rect">
            <a:avLst/>
          </a:prstGeom>
          <a:noFill/>
        </p:spPr>
        <p:txBody>
          <a:bodyPr wrap="square" lIns="9144" rIns="9144" tIns="9144" bIns="9144" anchor="t">
            <a:spAutoFit/>
          </a:bodyPr>
          <a:lstStyle/>
          <a:p>
            <a:pPr algn="r" rtl="1">
              <a:lnSpc>
                <a:spcPct val="98000"/>
              </a:lnSpc>
              <a:spcAft>
                <a:spcPts val="0"/>
              </a:spcAft>
            </a:pPr>
            <a:r>
              <a:rPr sz="940" b="0" i="0" lang="ar-DZ" rtl="1">
                <a:solidFill>
                  <a:srgbClr val="17263A"/>
                </a:solidFill>
                <a:latin typeface="Cairo"/>
                <a:cs typeface="Cairo"/>
                <a:ea typeface="Cairo"/>
              </a:rPr>
              <a:t>PK رقم المنخرط</a:t>
            </a:r>
            <a:br/>
            <a:r>
              <a:rPr sz="940" b="0" i="0" lang="ar-DZ" rtl="1">
                <a:solidFill>
                  <a:srgbClr val="17263A"/>
                </a:solidFill>
                <a:latin typeface="Cairo"/>
                <a:cs typeface="Cairo"/>
                <a:ea typeface="Cairo"/>
              </a:rPr>
              <a:t>الاسم • اللقب</a:t>
            </a:r>
            <a:br/>
            <a:r>
              <a:rPr sz="940" b="0" i="0" lang="ar-DZ" rtl="1">
                <a:solidFill>
                  <a:srgbClr val="17263A"/>
                </a:solidFill>
                <a:latin typeface="Cairo"/>
                <a:cs typeface="Cairo"/>
                <a:ea typeface="Cairo"/>
              </a:rPr>
              <a:t>تاريخ الميلاد • مكان الميلاد</a:t>
            </a:r>
            <a:br/>
            <a:r>
              <a:rPr sz="940" b="0" i="0" lang="ar-DZ" rtl="1">
                <a:solidFill>
                  <a:srgbClr val="17263A"/>
                </a:solidFill>
                <a:latin typeface="Cairo"/>
                <a:cs typeface="Cairo"/>
                <a:ea typeface="Cairo"/>
              </a:rPr>
              <a:t>العنوان</a:t>
            </a:r>
          </a:p>
        </p:txBody>
      </p:sp>
      <p:sp>
        <p:nvSpPr>
          <p:cNvPr id="43" name="Rounded Rectangle 42"/>
          <p:cNvSpPr/>
          <p:nvPr/>
        </p:nvSpPr>
        <p:spPr>
          <a:xfrm>
            <a:off x="8865108" y="854964"/>
            <a:ext cx="2414016" cy="1115568"/>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8823960" y="804672"/>
            <a:ext cx="2414016" cy="1115568"/>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8823960" y="804672"/>
            <a:ext cx="2414016" cy="310896"/>
          </a:xfrm>
          <a:prstGeom prst="roundRect">
            <a:avLst/>
          </a:prstGeom>
          <a:solidFill>
            <a:srgbClr val="18365C"/>
          </a:solidFill>
          <a:ln w="5080">
            <a:solidFill>
              <a:srgbClr val="1836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823960" y="984991"/>
            <a:ext cx="2414016" cy="130576"/>
          </a:xfrm>
          <a:prstGeom prst="rect">
            <a:avLst/>
          </a:prstGeom>
          <a:solidFill>
            <a:srgbClr val="18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897112" y="836676"/>
            <a:ext cx="2267712" cy="246888"/>
          </a:xfrm>
          <a:prstGeom prst="rect">
            <a:avLst/>
          </a:prstGeom>
          <a:noFill/>
        </p:spPr>
        <p:txBody>
          <a:bodyPr wrap="square" lIns="9144" rIns="9144" tIns="9144" bIns="9144" anchor="ctr">
            <a:spAutoFit/>
          </a:bodyPr>
          <a:lstStyle/>
          <a:p>
            <a:pPr algn="r" rtl="1">
              <a:lnSpc>
                <a:spcPct val="100000"/>
              </a:lnSpc>
              <a:spcAft>
                <a:spcPts val="0"/>
              </a:spcAft>
            </a:pPr>
            <a:r>
              <a:rPr sz="1200" b="1" i="0" lang="ar-DZ" rtl="1">
                <a:solidFill>
                  <a:srgbClr val="FFFFFF"/>
                </a:solidFill>
                <a:latin typeface="Cairo"/>
                <a:cs typeface="Cairo"/>
                <a:ea typeface="Cairo"/>
              </a:rPr>
              <a:t>العقوبة</a:t>
            </a:r>
          </a:p>
        </p:txBody>
      </p:sp>
      <p:sp>
        <p:nvSpPr>
          <p:cNvPr id="48" name="TextBox 47"/>
          <p:cNvSpPr txBox="1"/>
          <p:nvPr/>
        </p:nvSpPr>
        <p:spPr>
          <a:xfrm>
            <a:off x="8933688" y="1161288"/>
            <a:ext cx="2194560" cy="713231"/>
          </a:xfrm>
          <a:prstGeom prst="rect">
            <a:avLst/>
          </a:prstGeom>
          <a:noFill/>
        </p:spPr>
        <p:txBody>
          <a:bodyPr wrap="square" lIns="9144" rIns="9144" tIns="9144" bIns="9144" anchor="t">
            <a:spAutoFit/>
          </a:bodyPr>
          <a:lstStyle/>
          <a:p>
            <a:pPr algn="r" rtl="1">
              <a:lnSpc>
                <a:spcPct val="98000"/>
              </a:lnSpc>
              <a:spcAft>
                <a:spcPts val="0"/>
              </a:spcAft>
            </a:pPr>
            <a:r>
              <a:rPr sz="940" b="0" i="0" lang="ar-DZ" rtl="1">
                <a:solidFill>
                  <a:srgbClr val="17263A"/>
                </a:solidFill>
                <a:latin typeface="Cairo"/>
                <a:cs typeface="Cairo"/>
                <a:ea typeface="Cairo"/>
              </a:rPr>
              <a:t>PK رقم العقوبة</a:t>
            </a:r>
            <a:br/>
            <a:r>
              <a:rPr sz="940" b="0" i="0" lang="ar-DZ" rtl="1">
                <a:solidFill>
                  <a:srgbClr val="17263A"/>
                </a:solidFill>
                <a:latin typeface="Cairo"/>
                <a:cs typeface="Cairo"/>
                <a:ea typeface="Cairo"/>
              </a:rPr>
              <a:t>تعيين العقوبة • تاريخ العقوبة</a:t>
            </a:r>
          </a:p>
        </p:txBody>
      </p:sp>
      <p:sp>
        <p:nvSpPr>
          <p:cNvPr id="49" name="Rounded Rectangle 48"/>
          <p:cNvSpPr/>
          <p:nvPr/>
        </p:nvSpPr>
        <p:spPr>
          <a:xfrm>
            <a:off x="8865108" y="4741164"/>
            <a:ext cx="2414016" cy="1078992"/>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8823960" y="4690872"/>
            <a:ext cx="2414016" cy="1078992"/>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8823960" y="4690872"/>
            <a:ext cx="2414016" cy="310896"/>
          </a:xfrm>
          <a:prstGeom prst="roundRect">
            <a:avLst/>
          </a:prstGeom>
          <a:solidFill>
            <a:srgbClr val="18365C"/>
          </a:solidFill>
          <a:ln w="5080">
            <a:solidFill>
              <a:srgbClr val="1836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8823960" y="4871191"/>
            <a:ext cx="2414016" cy="130576"/>
          </a:xfrm>
          <a:prstGeom prst="rect">
            <a:avLst/>
          </a:prstGeom>
          <a:solidFill>
            <a:srgbClr val="18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897112" y="4722876"/>
            <a:ext cx="2267712" cy="246888"/>
          </a:xfrm>
          <a:prstGeom prst="rect">
            <a:avLst/>
          </a:prstGeom>
          <a:noFill/>
        </p:spPr>
        <p:txBody>
          <a:bodyPr wrap="square" lIns="9144" rIns="9144" tIns="9144" bIns="9144" anchor="ctr">
            <a:spAutoFit/>
          </a:bodyPr>
          <a:lstStyle/>
          <a:p>
            <a:pPr algn="r" rtl="1">
              <a:lnSpc>
                <a:spcPct val="100000"/>
              </a:lnSpc>
              <a:spcAft>
                <a:spcPts val="0"/>
              </a:spcAft>
            </a:pPr>
            <a:r>
              <a:rPr sz="1200" b="1" i="0" lang="ar-DZ" rtl="1">
                <a:solidFill>
                  <a:srgbClr val="FFFFFF"/>
                </a:solidFill>
                <a:latin typeface="Cairo"/>
                <a:cs typeface="Cairo"/>
                <a:ea typeface="Cairo"/>
              </a:rPr>
              <a:t>السنة</a:t>
            </a:r>
          </a:p>
        </p:txBody>
      </p:sp>
      <p:sp>
        <p:nvSpPr>
          <p:cNvPr id="54" name="TextBox 53"/>
          <p:cNvSpPr txBox="1"/>
          <p:nvPr/>
        </p:nvSpPr>
        <p:spPr>
          <a:xfrm>
            <a:off x="8933688" y="5047488"/>
            <a:ext cx="2194560" cy="676655"/>
          </a:xfrm>
          <a:prstGeom prst="rect">
            <a:avLst/>
          </a:prstGeom>
          <a:noFill/>
        </p:spPr>
        <p:txBody>
          <a:bodyPr wrap="square" lIns="9144" rIns="9144" tIns="9144" bIns="9144" anchor="t">
            <a:spAutoFit/>
          </a:bodyPr>
          <a:lstStyle/>
          <a:p>
            <a:pPr algn="r" rtl="1">
              <a:lnSpc>
                <a:spcPct val="98000"/>
              </a:lnSpc>
              <a:spcAft>
                <a:spcPts val="0"/>
              </a:spcAft>
            </a:pPr>
            <a:r>
              <a:rPr sz="940" b="0" i="0" lang="ar-DZ" rtl="1">
                <a:solidFill>
                  <a:srgbClr val="17263A"/>
                </a:solidFill>
                <a:latin typeface="Cairo"/>
                <a:cs typeface="Cairo"/>
                <a:ea typeface="Cairo"/>
              </a:rPr>
              <a:t>PK رقم السنة</a:t>
            </a:r>
            <a:br/>
            <a:r>
              <a:rPr sz="940" b="0" i="0" lang="ar-DZ" rtl="1">
                <a:solidFill>
                  <a:srgbClr val="17263A"/>
                </a:solidFill>
                <a:latin typeface="Cairo"/>
                <a:cs typeface="Cairo"/>
                <a:ea typeface="Cairo"/>
              </a:rPr>
              <a:t>التعيين</a:t>
            </a:r>
          </a:p>
        </p:txBody>
      </p:sp>
      <p:sp>
        <p:nvSpPr>
          <p:cNvPr id="55" name="Rounded Rectangle 54"/>
          <p:cNvSpPr/>
          <p:nvPr/>
        </p:nvSpPr>
        <p:spPr>
          <a:xfrm>
            <a:off x="6377940" y="4732020"/>
            <a:ext cx="2066543" cy="1078992"/>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6336792" y="4681728"/>
            <a:ext cx="2066543" cy="1078992"/>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6336792" y="4681728"/>
            <a:ext cx="2066543" cy="310896"/>
          </a:xfrm>
          <a:prstGeom prst="roundRect">
            <a:avLst/>
          </a:prstGeom>
          <a:solidFill>
            <a:srgbClr val="18365C"/>
          </a:solidFill>
          <a:ln w="5080">
            <a:solidFill>
              <a:srgbClr val="1836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336792" y="4862047"/>
            <a:ext cx="2066543" cy="130576"/>
          </a:xfrm>
          <a:prstGeom prst="rect">
            <a:avLst/>
          </a:prstGeom>
          <a:solidFill>
            <a:srgbClr val="18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409944" y="4713732"/>
            <a:ext cx="1920239" cy="246888"/>
          </a:xfrm>
          <a:prstGeom prst="rect">
            <a:avLst/>
          </a:prstGeom>
          <a:noFill/>
        </p:spPr>
        <p:txBody>
          <a:bodyPr wrap="square" lIns="9144" rIns="9144" tIns="9144" bIns="9144" anchor="ctr">
            <a:spAutoFit/>
          </a:bodyPr>
          <a:lstStyle/>
          <a:p>
            <a:pPr algn="r" rtl="1">
              <a:lnSpc>
                <a:spcPct val="100000"/>
              </a:lnSpc>
              <a:spcAft>
                <a:spcPts val="0"/>
              </a:spcAft>
            </a:pPr>
            <a:r>
              <a:rPr sz="1200" b="1" i="0" lang="ar-DZ" rtl="1">
                <a:solidFill>
                  <a:srgbClr val="FFFFFF"/>
                </a:solidFill>
                <a:latin typeface="Cairo"/>
                <a:cs typeface="Cairo"/>
                <a:ea typeface="Cairo"/>
              </a:rPr>
              <a:t>الصنف</a:t>
            </a:r>
          </a:p>
        </p:txBody>
      </p:sp>
      <p:sp>
        <p:nvSpPr>
          <p:cNvPr id="60" name="TextBox 59"/>
          <p:cNvSpPr txBox="1"/>
          <p:nvPr/>
        </p:nvSpPr>
        <p:spPr>
          <a:xfrm>
            <a:off x="6446520" y="5038344"/>
            <a:ext cx="1847087" cy="676655"/>
          </a:xfrm>
          <a:prstGeom prst="rect">
            <a:avLst/>
          </a:prstGeom>
          <a:noFill/>
        </p:spPr>
        <p:txBody>
          <a:bodyPr wrap="square" lIns="9144" rIns="9144" tIns="9144" bIns="9144" anchor="t">
            <a:spAutoFit/>
          </a:bodyPr>
          <a:lstStyle/>
          <a:p>
            <a:pPr algn="r" rtl="1">
              <a:lnSpc>
                <a:spcPct val="98000"/>
              </a:lnSpc>
              <a:spcAft>
                <a:spcPts val="0"/>
              </a:spcAft>
            </a:pPr>
            <a:r>
              <a:rPr sz="940" b="0" i="0" lang="ar-DZ" rtl="1">
                <a:solidFill>
                  <a:srgbClr val="17263A"/>
                </a:solidFill>
                <a:latin typeface="Cairo"/>
                <a:cs typeface="Cairo"/>
                <a:ea typeface="Cairo"/>
              </a:rPr>
              <a:t>PK رقم الصنف</a:t>
            </a:r>
            <a:br/>
            <a:r>
              <a:rPr sz="940" b="0" i="0" lang="ar-DZ" rtl="1">
                <a:solidFill>
                  <a:srgbClr val="17263A"/>
                </a:solidFill>
                <a:latin typeface="Cairo"/>
                <a:cs typeface="Cairo"/>
                <a:ea typeface="Cairo"/>
              </a:rPr>
              <a:t>التعيين</a:t>
            </a:r>
          </a:p>
        </p:txBody>
      </p:sp>
      <p:sp>
        <p:nvSpPr>
          <p:cNvPr id="61" name="Oval 60"/>
          <p:cNvSpPr/>
          <p:nvPr/>
        </p:nvSpPr>
        <p:spPr>
          <a:xfrm>
            <a:off x="2770632" y="2258568"/>
            <a:ext cx="585216" cy="265176"/>
          </a:xfrm>
          <a:prstGeom prst="ellipse">
            <a:avLst/>
          </a:prstGeom>
          <a:solidFill>
            <a:srgbClr val="F8F0DF"/>
          </a:solidFill>
          <a:ln w="12700">
            <a:solidFill>
              <a:srgbClr val="DCA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798063" y="2267712"/>
            <a:ext cx="530352" cy="246887"/>
          </a:xfrm>
          <a:prstGeom prst="rect">
            <a:avLst/>
          </a:prstGeom>
          <a:noFill/>
        </p:spPr>
        <p:txBody>
          <a:bodyPr wrap="square" lIns="9144" rIns="9144" tIns="9144" bIns="9144" anchor="ctr">
            <a:spAutoFit/>
          </a:bodyPr>
          <a:lstStyle/>
          <a:p>
            <a:pPr algn="ctr" rtl="1">
              <a:lnSpc>
                <a:spcPct val="100000"/>
              </a:lnSpc>
              <a:spcAft>
                <a:spcPts val="0"/>
              </a:spcAft>
            </a:pPr>
            <a:r>
              <a:rPr sz="1050" b="1" i="0" lang="ar-DZ" rtl="1">
                <a:solidFill>
                  <a:srgbClr val="10233D"/>
                </a:solidFill>
                <a:latin typeface="Cairo"/>
                <a:cs typeface="Cairo"/>
                <a:ea typeface="Cairo"/>
              </a:rPr>
              <a:t>يؤلف</a:t>
            </a:r>
          </a:p>
        </p:txBody>
      </p:sp>
      <p:sp>
        <p:nvSpPr>
          <p:cNvPr id="63" name="Oval 62"/>
          <p:cNvSpPr/>
          <p:nvPr/>
        </p:nvSpPr>
        <p:spPr>
          <a:xfrm>
            <a:off x="2770632" y="4233672"/>
            <a:ext cx="585216" cy="265176"/>
          </a:xfrm>
          <a:prstGeom prst="ellipse">
            <a:avLst/>
          </a:prstGeom>
          <a:solidFill>
            <a:srgbClr val="F8F0DF"/>
          </a:solidFill>
          <a:ln w="12700">
            <a:solidFill>
              <a:srgbClr val="DCA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798063" y="4242816"/>
            <a:ext cx="530352" cy="246887"/>
          </a:xfrm>
          <a:prstGeom prst="rect">
            <a:avLst/>
          </a:prstGeom>
          <a:noFill/>
        </p:spPr>
        <p:txBody>
          <a:bodyPr wrap="square" lIns="9144" rIns="9144" tIns="9144" bIns="9144" anchor="ctr">
            <a:spAutoFit/>
          </a:bodyPr>
          <a:lstStyle/>
          <a:p>
            <a:pPr algn="ctr" rtl="1">
              <a:lnSpc>
                <a:spcPct val="100000"/>
              </a:lnSpc>
              <a:spcAft>
                <a:spcPts val="0"/>
              </a:spcAft>
            </a:pPr>
            <a:r>
              <a:rPr sz="1050" b="1" i="0" lang="ar-DZ" rtl="1">
                <a:solidFill>
                  <a:srgbClr val="10233D"/>
                </a:solidFill>
                <a:latin typeface="Cairo"/>
                <a:cs typeface="Cairo"/>
                <a:ea typeface="Cairo"/>
              </a:rPr>
              <a:t>ينشر</a:t>
            </a:r>
          </a:p>
        </p:txBody>
      </p:sp>
      <p:sp>
        <p:nvSpPr>
          <p:cNvPr id="65" name="Oval 64"/>
          <p:cNvSpPr/>
          <p:nvPr/>
        </p:nvSpPr>
        <p:spPr>
          <a:xfrm>
            <a:off x="6419088" y="4325112"/>
            <a:ext cx="731520" cy="256032"/>
          </a:xfrm>
          <a:prstGeom prst="ellipse">
            <a:avLst/>
          </a:prstGeom>
          <a:solidFill>
            <a:srgbClr val="F8F0DF"/>
          </a:solidFill>
          <a:ln w="12700">
            <a:solidFill>
              <a:srgbClr val="DCA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446520" y="4334256"/>
            <a:ext cx="676656" cy="237744"/>
          </a:xfrm>
          <a:prstGeom prst="rect">
            <a:avLst/>
          </a:prstGeom>
          <a:noFill/>
        </p:spPr>
        <p:txBody>
          <a:bodyPr wrap="square" lIns="9144" rIns="9144" tIns="9144" bIns="9144" anchor="ctr">
            <a:spAutoFit/>
          </a:bodyPr>
          <a:lstStyle/>
          <a:p>
            <a:pPr algn="ctr" rtl="1">
              <a:lnSpc>
                <a:spcPct val="100000"/>
              </a:lnSpc>
              <a:spcAft>
                <a:spcPts val="0"/>
              </a:spcAft>
            </a:pPr>
            <a:r>
              <a:rPr sz="1050" b="1" i="0" lang="ar-DZ" rtl="1">
                <a:solidFill>
                  <a:srgbClr val="10233D"/>
                </a:solidFill>
                <a:latin typeface="Cairo"/>
                <a:cs typeface="Cairo"/>
                <a:ea typeface="Cairo"/>
              </a:rPr>
              <a:t>ينتمي</a:t>
            </a:r>
          </a:p>
        </p:txBody>
      </p:sp>
      <p:sp>
        <p:nvSpPr>
          <p:cNvPr id="67" name="Oval 66"/>
          <p:cNvSpPr/>
          <p:nvPr/>
        </p:nvSpPr>
        <p:spPr>
          <a:xfrm>
            <a:off x="6510528" y="2926080"/>
            <a:ext cx="1554480" cy="347472"/>
          </a:xfrm>
          <a:prstGeom prst="ellipse">
            <a:avLst/>
          </a:prstGeom>
          <a:solidFill>
            <a:srgbClr val="F8F0DF"/>
          </a:solidFill>
          <a:ln w="12700">
            <a:solidFill>
              <a:srgbClr val="DCA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556248" y="2953512"/>
            <a:ext cx="1463040" cy="274320"/>
          </a:xfrm>
          <a:prstGeom prst="rect">
            <a:avLst/>
          </a:prstGeom>
          <a:noFill/>
        </p:spPr>
        <p:txBody>
          <a:bodyPr wrap="square" lIns="9144" rIns="9144" tIns="9144" bIns="9144" anchor="ctr">
            <a:spAutoFit/>
          </a:bodyPr>
          <a:lstStyle/>
          <a:p>
            <a:pPr algn="ctr" rtl="1">
              <a:lnSpc>
                <a:spcPct val="100000"/>
              </a:lnSpc>
              <a:spcAft>
                <a:spcPts val="0"/>
              </a:spcAft>
            </a:pPr>
            <a:r>
              <a:rPr sz="1070" b="1" i="0" lang="ar-DZ" rtl="1">
                <a:solidFill>
                  <a:srgbClr val="10233D"/>
                </a:solidFill>
                <a:latin typeface="Cairo"/>
                <a:cs typeface="Cairo"/>
                <a:ea typeface="Cairo"/>
              </a:rPr>
              <a:t>يستعير</a:t>
            </a:r>
          </a:p>
        </p:txBody>
      </p:sp>
      <p:sp>
        <p:nvSpPr>
          <p:cNvPr id="69" name="TextBox 68"/>
          <p:cNvSpPr txBox="1"/>
          <p:nvPr/>
        </p:nvSpPr>
        <p:spPr>
          <a:xfrm>
            <a:off x="6364224" y="3328416"/>
            <a:ext cx="1874519" cy="347472"/>
          </a:xfrm>
          <a:prstGeom prst="rect">
            <a:avLst/>
          </a:prstGeom>
          <a:noFill/>
        </p:spPr>
        <p:txBody>
          <a:bodyPr wrap="square" lIns="0" rIns="0" tIns="0" bIns="0" anchor="ctr">
            <a:spAutoFit/>
          </a:bodyPr>
          <a:lstStyle/>
          <a:p>
            <a:pPr algn="ctr" rtl="1">
              <a:lnSpc>
                <a:spcPct val="100000"/>
              </a:lnSpc>
              <a:spcAft>
                <a:spcPts val="0"/>
              </a:spcAft>
            </a:pPr>
            <a:r>
              <a:rPr sz="890" b="0" i="0" lang="ar-DZ" rtl="1">
                <a:solidFill>
                  <a:srgbClr val="617187"/>
                </a:solidFill>
                <a:latin typeface="Cairo"/>
                <a:cs typeface="Cairo"/>
                <a:ea typeface="Cairo"/>
              </a:rPr>
              <a:t>تاريخ الإعارة  •  تاريخ الإرجاع</a:t>
            </a:r>
          </a:p>
        </p:txBody>
      </p:sp>
      <p:sp>
        <p:nvSpPr>
          <p:cNvPr id="70" name="Oval 69"/>
          <p:cNvSpPr/>
          <p:nvPr/>
        </p:nvSpPr>
        <p:spPr>
          <a:xfrm>
            <a:off x="9610344" y="1984248"/>
            <a:ext cx="841248" cy="256032"/>
          </a:xfrm>
          <a:prstGeom prst="ellipse">
            <a:avLst/>
          </a:prstGeom>
          <a:solidFill>
            <a:srgbClr val="F8F0DF"/>
          </a:solidFill>
          <a:ln w="12700">
            <a:solidFill>
              <a:srgbClr val="DCA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637776" y="1993391"/>
            <a:ext cx="786384" cy="237744"/>
          </a:xfrm>
          <a:prstGeom prst="rect">
            <a:avLst/>
          </a:prstGeom>
          <a:noFill/>
        </p:spPr>
        <p:txBody>
          <a:bodyPr wrap="square" lIns="9144" rIns="9144" tIns="9144" bIns="9144" anchor="ctr">
            <a:spAutoFit/>
          </a:bodyPr>
          <a:lstStyle/>
          <a:p>
            <a:pPr algn="ctr" rtl="1">
              <a:lnSpc>
                <a:spcPct val="100000"/>
              </a:lnSpc>
              <a:spcAft>
                <a:spcPts val="0"/>
              </a:spcAft>
            </a:pPr>
            <a:r>
              <a:rPr sz="1050" b="1" i="0" lang="ar-DZ" rtl="1">
                <a:solidFill>
                  <a:srgbClr val="10233D"/>
                </a:solidFill>
                <a:latin typeface="Cairo"/>
                <a:cs typeface="Cairo"/>
                <a:ea typeface="Cairo"/>
              </a:rPr>
              <a:t>يعاقب</a:t>
            </a:r>
          </a:p>
        </p:txBody>
      </p:sp>
      <p:sp>
        <p:nvSpPr>
          <p:cNvPr id="72" name="Oval 71"/>
          <p:cNvSpPr/>
          <p:nvPr/>
        </p:nvSpPr>
        <p:spPr>
          <a:xfrm>
            <a:off x="9610344" y="4242816"/>
            <a:ext cx="841248" cy="256032"/>
          </a:xfrm>
          <a:prstGeom prst="ellipse">
            <a:avLst/>
          </a:prstGeom>
          <a:solidFill>
            <a:srgbClr val="F8F0DF"/>
          </a:solidFill>
          <a:ln w="12700">
            <a:solidFill>
              <a:srgbClr val="DCA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637776" y="4251959"/>
            <a:ext cx="786384" cy="237744"/>
          </a:xfrm>
          <a:prstGeom prst="rect">
            <a:avLst/>
          </a:prstGeom>
          <a:noFill/>
        </p:spPr>
        <p:txBody>
          <a:bodyPr wrap="square" lIns="9144" rIns="9144" tIns="9144" bIns="9144" anchor="ctr">
            <a:spAutoFit/>
          </a:bodyPr>
          <a:lstStyle/>
          <a:p>
            <a:pPr algn="ctr" rtl="1">
              <a:lnSpc>
                <a:spcPct val="100000"/>
              </a:lnSpc>
              <a:spcAft>
                <a:spcPts val="0"/>
              </a:spcAft>
            </a:pPr>
            <a:r>
              <a:rPr sz="1050" b="1" i="0" lang="ar-DZ" rtl="1">
                <a:solidFill>
                  <a:srgbClr val="10233D"/>
                </a:solidFill>
                <a:latin typeface="Cairo"/>
                <a:cs typeface="Cairo"/>
                <a:ea typeface="Cairo"/>
              </a:rPr>
              <a:t>ينخرط</a:t>
            </a:r>
          </a:p>
        </p:txBody>
      </p:sp>
      <p:sp>
        <p:nvSpPr>
          <p:cNvPr id="74" name="Rounded Rectangle 73"/>
          <p:cNvSpPr/>
          <p:nvPr/>
        </p:nvSpPr>
        <p:spPr>
          <a:xfrm>
            <a:off x="2103120" y="1389888"/>
            <a:ext cx="512064" cy="182880"/>
          </a:xfrm>
          <a:prstGeom prst="roundRect">
            <a:avLst/>
          </a:prstGeom>
          <a:solidFill>
            <a:srgbClr val="F3F6FA"/>
          </a:solidFill>
          <a:ln w="889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144268" y="1394460"/>
            <a:ext cx="429768" cy="173736"/>
          </a:xfrm>
          <a:prstGeom prst="rect">
            <a:avLst/>
          </a:prstGeom>
          <a:noFill/>
        </p:spPr>
        <p:txBody>
          <a:bodyPr wrap="square" lIns="9144" rIns="9144" tIns="9144" bIns="9144" anchor="ctr">
            <a:spAutoFit/>
          </a:bodyPr>
          <a:lstStyle/>
          <a:p>
            <a:pPr algn="ctr" rtl="0">
              <a:lnSpc>
                <a:spcPct val="100000"/>
              </a:lnSpc>
              <a:spcAft>
                <a:spcPts val="0"/>
              </a:spcAft>
            </a:pPr>
            <a:r>
              <a:rPr sz="790" b="1" i="0" lang="en-US">
                <a:solidFill>
                  <a:srgbClr val="617187"/>
                </a:solidFill>
                <a:latin typeface="Aptos"/>
                <a:cs typeface="Aptos"/>
                <a:ea typeface="Aptos"/>
              </a:rPr>
              <a:t>(1,N)</a:t>
            </a:r>
          </a:p>
        </p:txBody>
      </p:sp>
      <p:sp>
        <p:nvSpPr>
          <p:cNvPr id="76" name="Rounded Rectangle 75"/>
          <p:cNvSpPr/>
          <p:nvPr/>
        </p:nvSpPr>
        <p:spPr>
          <a:xfrm>
            <a:off x="2798064" y="2578608"/>
            <a:ext cx="512064" cy="182880"/>
          </a:xfrm>
          <a:prstGeom prst="roundRect">
            <a:avLst/>
          </a:prstGeom>
          <a:solidFill>
            <a:srgbClr val="F3F6FA"/>
          </a:solidFill>
          <a:ln w="889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2839212" y="2583179"/>
            <a:ext cx="429768" cy="173736"/>
          </a:xfrm>
          <a:prstGeom prst="rect">
            <a:avLst/>
          </a:prstGeom>
          <a:noFill/>
        </p:spPr>
        <p:txBody>
          <a:bodyPr wrap="square" lIns="9144" rIns="9144" tIns="9144" bIns="9144" anchor="ctr">
            <a:spAutoFit/>
          </a:bodyPr>
          <a:lstStyle/>
          <a:p>
            <a:pPr algn="ctr" rtl="0">
              <a:lnSpc>
                <a:spcPct val="100000"/>
              </a:lnSpc>
              <a:spcAft>
                <a:spcPts val="0"/>
              </a:spcAft>
            </a:pPr>
            <a:r>
              <a:rPr sz="790" b="1" i="0" lang="en-US">
                <a:solidFill>
                  <a:srgbClr val="617187"/>
                </a:solidFill>
                <a:latin typeface="Aptos"/>
                <a:cs typeface="Aptos"/>
                <a:ea typeface="Aptos"/>
              </a:rPr>
              <a:t>(1,1)</a:t>
            </a:r>
          </a:p>
        </p:txBody>
      </p:sp>
      <p:sp>
        <p:nvSpPr>
          <p:cNvPr id="78" name="Rounded Rectangle 77"/>
          <p:cNvSpPr/>
          <p:nvPr/>
        </p:nvSpPr>
        <p:spPr>
          <a:xfrm>
            <a:off x="2103120" y="5504688"/>
            <a:ext cx="512064" cy="182880"/>
          </a:xfrm>
          <a:prstGeom prst="roundRect">
            <a:avLst/>
          </a:prstGeom>
          <a:solidFill>
            <a:srgbClr val="F3F6FA"/>
          </a:solidFill>
          <a:ln w="889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144268" y="5509259"/>
            <a:ext cx="429768" cy="173736"/>
          </a:xfrm>
          <a:prstGeom prst="rect">
            <a:avLst/>
          </a:prstGeom>
          <a:noFill/>
        </p:spPr>
        <p:txBody>
          <a:bodyPr wrap="square" lIns="9144" rIns="9144" tIns="9144" bIns="9144" anchor="ctr">
            <a:spAutoFit/>
          </a:bodyPr>
          <a:lstStyle/>
          <a:p>
            <a:pPr algn="ctr" rtl="0">
              <a:lnSpc>
                <a:spcPct val="100000"/>
              </a:lnSpc>
              <a:spcAft>
                <a:spcPts val="0"/>
              </a:spcAft>
            </a:pPr>
            <a:r>
              <a:rPr sz="790" b="1" i="0" lang="en-US">
                <a:solidFill>
                  <a:srgbClr val="617187"/>
                </a:solidFill>
                <a:latin typeface="Aptos"/>
                <a:cs typeface="Aptos"/>
                <a:ea typeface="Aptos"/>
              </a:rPr>
              <a:t>(1,N)</a:t>
            </a:r>
          </a:p>
        </p:txBody>
      </p:sp>
      <p:sp>
        <p:nvSpPr>
          <p:cNvPr id="80" name="Rounded Rectangle 79"/>
          <p:cNvSpPr/>
          <p:nvPr/>
        </p:nvSpPr>
        <p:spPr>
          <a:xfrm>
            <a:off x="2798064" y="3877056"/>
            <a:ext cx="512064" cy="182880"/>
          </a:xfrm>
          <a:prstGeom prst="roundRect">
            <a:avLst/>
          </a:prstGeom>
          <a:solidFill>
            <a:srgbClr val="F3F6FA"/>
          </a:solidFill>
          <a:ln w="889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839212" y="3881628"/>
            <a:ext cx="429768" cy="173736"/>
          </a:xfrm>
          <a:prstGeom prst="rect">
            <a:avLst/>
          </a:prstGeom>
          <a:noFill/>
        </p:spPr>
        <p:txBody>
          <a:bodyPr wrap="square" lIns="9144" rIns="9144" tIns="9144" bIns="9144" anchor="ctr">
            <a:spAutoFit/>
          </a:bodyPr>
          <a:lstStyle/>
          <a:p>
            <a:pPr algn="ctr" rtl="0">
              <a:lnSpc>
                <a:spcPct val="100000"/>
              </a:lnSpc>
              <a:spcAft>
                <a:spcPts val="0"/>
              </a:spcAft>
            </a:pPr>
            <a:r>
              <a:rPr sz="790" b="1" i="0" lang="en-US">
                <a:solidFill>
                  <a:srgbClr val="617187"/>
                </a:solidFill>
                <a:latin typeface="Aptos"/>
                <a:cs typeface="Aptos"/>
                <a:ea typeface="Aptos"/>
              </a:rPr>
              <a:t>(1,1)</a:t>
            </a:r>
          </a:p>
        </p:txBody>
      </p:sp>
      <p:sp>
        <p:nvSpPr>
          <p:cNvPr id="82" name="Rounded Rectangle 81"/>
          <p:cNvSpPr/>
          <p:nvPr/>
        </p:nvSpPr>
        <p:spPr>
          <a:xfrm>
            <a:off x="7434072" y="4407408"/>
            <a:ext cx="512064" cy="182880"/>
          </a:xfrm>
          <a:prstGeom prst="roundRect">
            <a:avLst/>
          </a:prstGeom>
          <a:solidFill>
            <a:srgbClr val="F3F6FA"/>
          </a:solidFill>
          <a:ln w="889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475220" y="4411980"/>
            <a:ext cx="429768" cy="173736"/>
          </a:xfrm>
          <a:prstGeom prst="rect">
            <a:avLst/>
          </a:prstGeom>
          <a:noFill/>
        </p:spPr>
        <p:txBody>
          <a:bodyPr wrap="square" lIns="9144" rIns="9144" tIns="9144" bIns="9144" anchor="ctr">
            <a:spAutoFit/>
          </a:bodyPr>
          <a:lstStyle/>
          <a:p>
            <a:pPr algn="ctr" rtl="0">
              <a:lnSpc>
                <a:spcPct val="100000"/>
              </a:lnSpc>
              <a:spcAft>
                <a:spcPts val="0"/>
              </a:spcAft>
            </a:pPr>
            <a:r>
              <a:rPr sz="790" b="1" i="0" lang="en-US">
                <a:solidFill>
                  <a:srgbClr val="617187"/>
                </a:solidFill>
                <a:latin typeface="Aptos"/>
                <a:cs typeface="Aptos"/>
                <a:ea typeface="Aptos"/>
              </a:rPr>
              <a:t>(1,N)</a:t>
            </a:r>
          </a:p>
        </p:txBody>
      </p:sp>
      <p:sp>
        <p:nvSpPr>
          <p:cNvPr id="84" name="Rounded Rectangle 83"/>
          <p:cNvSpPr/>
          <p:nvPr/>
        </p:nvSpPr>
        <p:spPr>
          <a:xfrm>
            <a:off x="5669280" y="4325112"/>
            <a:ext cx="512064" cy="182880"/>
          </a:xfrm>
          <a:prstGeom prst="roundRect">
            <a:avLst/>
          </a:prstGeom>
          <a:solidFill>
            <a:srgbClr val="F3F6FA"/>
          </a:solidFill>
          <a:ln w="889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710428" y="4329684"/>
            <a:ext cx="429768" cy="173736"/>
          </a:xfrm>
          <a:prstGeom prst="rect">
            <a:avLst/>
          </a:prstGeom>
          <a:noFill/>
        </p:spPr>
        <p:txBody>
          <a:bodyPr wrap="square" lIns="9144" rIns="9144" tIns="9144" bIns="9144" anchor="ctr">
            <a:spAutoFit/>
          </a:bodyPr>
          <a:lstStyle/>
          <a:p>
            <a:pPr algn="ctr" rtl="0">
              <a:lnSpc>
                <a:spcPct val="100000"/>
              </a:lnSpc>
              <a:spcAft>
                <a:spcPts val="0"/>
              </a:spcAft>
            </a:pPr>
            <a:r>
              <a:rPr sz="790" b="1" i="0" lang="en-US">
                <a:solidFill>
                  <a:srgbClr val="617187"/>
                </a:solidFill>
                <a:latin typeface="Aptos"/>
                <a:cs typeface="Aptos"/>
                <a:ea typeface="Aptos"/>
              </a:rPr>
              <a:t>(1,1)</a:t>
            </a:r>
          </a:p>
        </p:txBody>
      </p:sp>
      <p:sp>
        <p:nvSpPr>
          <p:cNvPr id="86" name="Rounded Rectangle 85"/>
          <p:cNvSpPr/>
          <p:nvPr/>
        </p:nvSpPr>
        <p:spPr>
          <a:xfrm>
            <a:off x="6281928" y="2697480"/>
            <a:ext cx="512064" cy="182880"/>
          </a:xfrm>
          <a:prstGeom prst="roundRect">
            <a:avLst/>
          </a:prstGeom>
          <a:solidFill>
            <a:srgbClr val="F3F6FA"/>
          </a:solidFill>
          <a:ln w="889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323076" y="2702052"/>
            <a:ext cx="429768" cy="173736"/>
          </a:xfrm>
          <a:prstGeom prst="rect">
            <a:avLst/>
          </a:prstGeom>
          <a:noFill/>
        </p:spPr>
        <p:txBody>
          <a:bodyPr wrap="square" lIns="9144" rIns="9144" tIns="9144" bIns="9144" anchor="ctr">
            <a:spAutoFit/>
          </a:bodyPr>
          <a:lstStyle/>
          <a:p>
            <a:pPr algn="ctr" rtl="0">
              <a:lnSpc>
                <a:spcPct val="100000"/>
              </a:lnSpc>
              <a:spcAft>
                <a:spcPts val="0"/>
              </a:spcAft>
            </a:pPr>
            <a:r>
              <a:rPr sz="790" b="1" i="0" lang="en-US">
                <a:solidFill>
                  <a:srgbClr val="617187"/>
                </a:solidFill>
                <a:latin typeface="Aptos"/>
                <a:cs typeface="Aptos"/>
                <a:ea typeface="Aptos"/>
              </a:rPr>
              <a:t>(0,N)</a:t>
            </a:r>
          </a:p>
        </p:txBody>
      </p:sp>
      <p:sp>
        <p:nvSpPr>
          <p:cNvPr id="88" name="Rounded Rectangle 87"/>
          <p:cNvSpPr/>
          <p:nvPr/>
        </p:nvSpPr>
        <p:spPr>
          <a:xfrm>
            <a:off x="8083296" y="2697480"/>
            <a:ext cx="512064" cy="182880"/>
          </a:xfrm>
          <a:prstGeom prst="roundRect">
            <a:avLst/>
          </a:prstGeom>
          <a:solidFill>
            <a:srgbClr val="F3F6FA"/>
          </a:solidFill>
          <a:ln w="889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124444" y="2702052"/>
            <a:ext cx="429768" cy="173736"/>
          </a:xfrm>
          <a:prstGeom prst="rect">
            <a:avLst/>
          </a:prstGeom>
          <a:noFill/>
        </p:spPr>
        <p:txBody>
          <a:bodyPr wrap="square" lIns="9144" rIns="9144" tIns="9144" bIns="9144" anchor="ctr">
            <a:spAutoFit/>
          </a:bodyPr>
          <a:lstStyle/>
          <a:p>
            <a:pPr algn="ctr" rtl="0">
              <a:lnSpc>
                <a:spcPct val="100000"/>
              </a:lnSpc>
              <a:spcAft>
                <a:spcPts val="0"/>
              </a:spcAft>
            </a:pPr>
            <a:r>
              <a:rPr sz="790" b="1" i="0" lang="en-US">
                <a:solidFill>
                  <a:srgbClr val="617187"/>
                </a:solidFill>
                <a:latin typeface="Aptos"/>
                <a:cs typeface="Aptos"/>
                <a:ea typeface="Aptos"/>
              </a:rPr>
              <a:t>(0,N)</a:t>
            </a:r>
          </a:p>
        </p:txBody>
      </p:sp>
      <p:sp>
        <p:nvSpPr>
          <p:cNvPr id="90" name="Rounded Rectangle 89"/>
          <p:cNvSpPr/>
          <p:nvPr/>
        </p:nvSpPr>
        <p:spPr>
          <a:xfrm>
            <a:off x="8796528" y="1993392"/>
            <a:ext cx="512064" cy="182880"/>
          </a:xfrm>
          <a:prstGeom prst="roundRect">
            <a:avLst/>
          </a:prstGeom>
          <a:solidFill>
            <a:srgbClr val="F3F6FA"/>
          </a:solidFill>
          <a:ln w="889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8837676" y="1997964"/>
            <a:ext cx="429768" cy="173736"/>
          </a:xfrm>
          <a:prstGeom prst="rect">
            <a:avLst/>
          </a:prstGeom>
          <a:noFill/>
        </p:spPr>
        <p:txBody>
          <a:bodyPr wrap="square" lIns="9144" rIns="9144" tIns="9144" bIns="9144" anchor="ctr">
            <a:spAutoFit/>
          </a:bodyPr>
          <a:lstStyle/>
          <a:p>
            <a:pPr algn="ctr" rtl="0">
              <a:lnSpc>
                <a:spcPct val="100000"/>
              </a:lnSpc>
              <a:spcAft>
                <a:spcPts val="0"/>
              </a:spcAft>
            </a:pPr>
            <a:r>
              <a:rPr sz="790" b="1" i="0" lang="en-US">
                <a:solidFill>
                  <a:srgbClr val="617187"/>
                </a:solidFill>
                <a:latin typeface="Aptos"/>
                <a:cs typeface="Aptos"/>
                <a:ea typeface="Aptos"/>
              </a:rPr>
              <a:t>(1,1)</a:t>
            </a:r>
          </a:p>
        </p:txBody>
      </p:sp>
      <p:sp>
        <p:nvSpPr>
          <p:cNvPr id="92" name="Rounded Rectangle 91"/>
          <p:cNvSpPr/>
          <p:nvPr/>
        </p:nvSpPr>
        <p:spPr>
          <a:xfrm>
            <a:off x="10716768" y="1993392"/>
            <a:ext cx="512064" cy="182880"/>
          </a:xfrm>
          <a:prstGeom prst="roundRect">
            <a:avLst/>
          </a:prstGeom>
          <a:solidFill>
            <a:srgbClr val="F3F6FA"/>
          </a:solidFill>
          <a:ln w="889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0757916" y="1997964"/>
            <a:ext cx="429768" cy="173736"/>
          </a:xfrm>
          <a:prstGeom prst="rect">
            <a:avLst/>
          </a:prstGeom>
          <a:noFill/>
        </p:spPr>
        <p:txBody>
          <a:bodyPr wrap="square" lIns="9144" rIns="9144" tIns="9144" bIns="9144" anchor="ctr">
            <a:spAutoFit/>
          </a:bodyPr>
          <a:lstStyle/>
          <a:p>
            <a:pPr algn="ctr" rtl="0">
              <a:lnSpc>
                <a:spcPct val="100000"/>
              </a:lnSpc>
              <a:spcAft>
                <a:spcPts val="0"/>
              </a:spcAft>
            </a:pPr>
            <a:r>
              <a:rPr sz="790" b="1" i="0" lang="en-US">
                <a:solidFill>
                  <a:srgbClr val="617187"/>
                </a:solidFill>
                <a:latin typeface="Aptos"/>
                <a:cs typeface="Aptos"/>
                <a:ea typeface="Aptos"/>
              </a:rPr>
              <a:t>(0,N)</a:t>
            </a:r>
          </a:p>
        </p:txBody>
      </p:sp>
      <p:sp>
        <p:nvSpPr>
          <p:cNvPr id="94" name="Rounded Rectangle 93"/>
          <p:cNvSpPr/>
          <p:nvPr/>
        </p:nvSpPr>
        <p:spPr>
          <a:xfrm>
            <a:off x="8796528" y="4279392"/>
            <a:ext cx="512064" cy="182880"/>
          </a:xfrm>
          <a:prstGeom prst="roundRect">
            <a:avLst/>
          </a:prstGeom>
          <a:solidFill>
            <a:srgbClr val="F3F6FA"/>
          </a:solidFill>
          <a:ln w="889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8837676" y="4283964"/>
            <a:ext cx="429768" cy="173736"/>
          </a:xfrm>
          <a:prstGeom prst="rect">
            <a:avLst/>
          </a:prstGeom>
          <a:noFill/>
        </p:spPr>
        <p:txBody>
          <a:bodyPr wrap="square" lIns="9144" rIns="9144" tIns="9144" bIns="9144" anchor="ctr">
            <a:spAutoFit/>
          </a:bodyPr>
          <a:lstStyle/>
          <a:p>
            <a:pPr algn="ctr" rtl="0">
              <a:lnSpc>
                <a:spcPct val="100000"/>
              </a:lnSpc>
              <a:spcAft>
                <a:spcPts val="0"/>
              </a:spcAft>
            </a:pPr>
            <a:r>
              <a:rPr sz="790" b="1" i="0" lang="en-US">
                <a:solidFill>
                  <a:srgbClr val="617187"/>
                </a:solidFill>
                <a:latin typeface="Aptos"/>
                <a:cs typeface="Aptos"/>
                <a:ea typeface="Aptos"/>
              </a:rPr>
              <a:t>(1,1)</a:t>
            </a:r>
          </a:p>
        </p:txBody>
      </p:sp>
      <p:sp>
        <p:nvSpPr>
          <p:cNvPr id="96" name="Rounded Rectangle 95"/>
          <p:cNvSpPr/>
          <p:nvPr/>
        </p:nvSpPr>
        <p:spPr>
          <a:xfrm>
            <a:off x="10716768" y="4279392"/>
            <a:ext cx="512064" cy="182880"/>
          </a:xfrm>
          <a:prstGeom prst="roundRect">
            <a:avLst/>
          </a:prstGeom>
          <a:solidFill>
            <a:srgbClr val="F3F6FA"/>
          </a:solidFill>
          <a:ln w="889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0757916" y="4283964"/>
            <a:ext cx="429768" cy="173736"/>
          </a:xfrm>
          <a:prstGeom prst="rect">
            <a:avLst/>
          </a:prstGeom>
          <a:noFill/>
        </p:spPr>
        <p:txBody>
          <a:bodyPr wrap="square" lIns="9144" rIns="9144" tIns="9144" bIns="9144" anchor="ctr">
            <a:spAutoFit/>
          </a:bodyPr>
          <a:lstStyle/>
          <a:p>
            <a:pPr algn="ctr" rtl="0">
              <a:lnSpc>
                <a:spcPct val="100000"/>
              </a:lnSpc>
              <a:spcAft>
                <a:spcPts val="0"/>
              </a:spcAft>
            </a:pPr>
            <a:r>
              <a:rPr sz="790" b="1" i="0" lang="en-US">
                <a:solidFill>
                  <a:srgbClr val="617187"/>
                </a:solidFill>
                <a:latin typeface="Aptos"/>
                <a:cs typeface="Aptos"/>
                <a:ea typeface="Aptos"/>
              </a:rPr>
              <a:t>(1,N)</a:t>
            </a:r>
          </a:p>
        </p:txBody>
      </p:sp>
    </p:spTree>
  </p:cSld>
  <p:clrMapOvr>
    <a:masterClrMapping/>
  </p:clrMapOvr>
  <p:transition spd="med"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ounded Rectangle 1"/>
          <p:cNvSpPr/>
          <p:nvPr/>
        </p:nvSpPr>
        <p:spPr>
          <a:xfrm>
            <a:off x="530352" y="292608"/>
            <a:ext cx="2423160" cy="310896"/>
          </a:xfrm>
          <a:prstGeom prst="roundRect">
            <a:avLst/>
          </a:prstGeom>
          <a:solidFill>
            <a:srgbClr val="10233D"/>
          </a:solidFill>
          <a:ln w="889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1500" y="297180"/>
            <a:ext cx="2340864" cy="301752"/>
          </a:xfrm>
          <a:prstGeom prst="rect">
            <a:avLst/>
          </a:prstGeom>
          <a:noFill/>
        </p:spPr>
        <p:txBody>
          <a:bodyPr wrap="square" lIns="9144" rIns="9144" tIns="9144" bIns="9144" anchor="ctr">
            <a:spAutoFit/>
          </a:bodyPr>
          <a:lstStyle/>
          <a:p>
            <a:pPr algn="ctr" rtl="0">
              <a:lnSpc>
                <a:spcPct val="100000"/>
              </a:lnSpc>
              <a:spcAft>
                <a:spcPts val="0"/>
              </a:spcAft>
            </a:pPr>
            <a:r>
              <a:rPr sz="1050" b="1" i="0" lang="en-US">
                <a:solidFill>
                  <a:srgbClr val="FFFFFF"/>
                </a:solidFill>
                <a:latin typeface="Aptos"/>
                <a:cs typeface="Aptos"/>
                <a:ea typeface="Aptos"/>
              </a:rPr>
              <a:t>02  /  التحليل والتصميم</a:t>
            </a:r>
          </a:p>
        </p:txBody>
      </p:sp>
      <p:sp>
        <p:nvSpPr>
          <p:cNvPr id="4" name="Rectangle 3"/>
          <p:cNvSpPr/>
          <p:nvPr/>
        </p:nvSpPr>
        <p:spPr>
          <a:xfrm>
            <a:off x="11594592" y="283464"/>
            <a:ext cx="64008" cy="502920"/>
          </a:xfrm>
          <a:prstGeom prst="rect">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063240" y="182880"/>
            <a:ext cx="8229600" cy="557784"/>
          </a:xfrm>
          <a:prstGeom prst="rect">
            <a:avLst/>
          </a:prstGeom>
          <a:noFill/>
        </p:spPr>
        <p:txBody>
          <a:bodyPr wrap="square" lIns="18288" rIns="18288" tIns="18288" bIns="18288" anchor="ctr">
            <a:spAutoFit/>
          </a:bodyPr>
          <a:lstStyle/>
          <a:p>
            <a:pPr algn="r" rtl="1">
              <a:lnSpc>
                <a:spcPct val="100000"/>
              </a:lnSpc>
              <a:spcAft>
                <a:spcPts val="0"/>
              </a:spcAft>
            </a:pPr>
            <a:r>
              <a:rPr sz="2600" b="1" i="0" lang="ar-DZ" rtl="1">
                <a:solidFill>
                  <a:srgbClr val="10233D"/>
                </a:solidFill>
                <a:latin typeface="Cairo"/>
                <a:cs typeface="Cairo"/>
                <a:ea typeface="Cairo"/>
              </a:rPr>
              <a:t>تركيز MCD: المنخرط ← الإعارة ← الكتاب</a:t>
            </a:r>
          </a:p>
        </p:txBody>
      </p:sp>
      <p:sp>
        <p:nvSpPr>
          <p:cNvPr id="6" name="TextBox 5"/>
          <p:cNvSpPr txBox="1"/>
          <p:nvPr/>
        </p:nvSpPr>
        <p:spPr>
          <a:xfrm>
            <a:off x="3063240" y="731520"/>
            <a:ext cx="8229600" cy="310896"/>
          </a:xfrm>
          <a:prstGeom prst="rect">
            <a:avLst/>
          </a:prstGeom>
          <a:noFill/>
        </p:spPr>
        <p:txBody>
          <a:bodyPr wrap="square" lIns="9144" rIns="9144" tIns="9144" bIns="9144" anchor="ctr">
            <a:spAutoFit/>
          </a:bodyPr>
          <a:lstStyle/>
          <a:p>
            <a:pPr algn="r" rtl="1">
              <a:lnSpc>
                <a:spcPct val="100000"/>
              </a:lnSpc>
              <a:spcAft>
                <a:spcPts val="0"/>
              </a:spcAft>
            </a:pPr>
            <a:r>
              <a:rPr sz="1350" b="0" i="0" lang="ar-DZ" rtl="1">
                <a:solidFill>
                  <a:srgbClr val="617187"/>
                </a:solidFill>
                <a:latin typeface="Cairo"/>
                <a:cs typeface="Cairo"/>
                <a:ea typeface="Cairo"/>
              </a:rPr>
              <a:t>لقطة تفسيرية مكبرة للعلاقات التي تحمل تاريخ المعاملة والمسؤولية.</a:t>
            </a:r>
          </a:p>
        </p:txBody>
      </p:sp>
      <p:cxnSp>
        <p:nvCxnSpPr>
          <p:cNvPr id="7" name="Connector 6"/>
          <p:cNvCxnSpPr/>
          <p:nvPr/>
        </p:nvCxnSpPr>
        <p:spPr>
          <a:xfrm>
            <a:off x="530352" y="1170432"/>
            <a:ext cx="11128248" cy="0"/>
          </a:xfrm>
          <a:prstGeom prst="line">
            <a:avLst/>
          </a:prstGeom>
          <a:ln w="10160">
            <a:solidFill>
              <a:srgbClr val="D5DFE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30352" y="6382512"/>
            <a:ext cx="11128248" cy="0"/>
          </a:xfrm>
          <a:prstGeom prst="line">
            <a:avLst/>
          </a:prstGeom>
          <a:ln w="8890">
            <a:solidFill>
              <a:srgbClr val="D5DFEA"/>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03504" y="6437376"/>
            <a:ext cx="8778240" cy="210312"/>
          </a:xfrm>
          <a:prstGeom prst="rect">
            <a:avLst/>
          </a:prstGeom>
          <a:noFill/>
        </p:spPr>
        <p:txBody>
          <a:bodyPr wrap="square" lIns="0" rIns="0" tIns="0" bIns="0" anchor="ctr">
            <a:spAutoFit/>
          </a:bodyPr>
          <a:lstStyle/>
          <a:p>
            <a:pPr algn="l" rtl="1">
              <a:lnSpc>
                <a:spcPct val="100000"/>
              </a:lnSpc>
              <a:spcAft>
                <a:spcPts val="0"/>
              </a:spcAft>
            </a:pPr>
            <a:r>
              <a:rPr sz="850" b="0" i="0" lang="ar-DZ" rtl="1">
                <a:solidFill>
                  <a:srgbClr val="617187"/>
                </a:solidFill>
                <a:latin typeface="Cairo"/>
                <a:cs typeface="Cairo"/>
                <a:ea typeface="Cairo"/>
              </a:rPr>
              <a:t>المصدر: المذكرة، الفصل الثاني، ص 52–53</a:t>
            </a:r>
          </a:p>
        </p:txBody>
      </p:sp>
      <p:sp>
        <p:nvSpPr>
          <p:cNvPr id="10" name="TextBox 9"/>
          <p:cNvSpPr txBox="1"/>
          <p:nvPr/>
        </p:nvSpPr>
        <p:spPr>
          <a:xfrm>
            <a:off x="10725912" y="6409944"/>
            <a:ext cx="932688" cy="228600"/>
          </a:xfrm>
          <a:prstGeom prst="rect">
            <a:avLst/>
          </a:prstGeom>
          <a:noFill/>
        </p:spPr>
        <p:txBody>
          <a:bodyPr wrap="square" lIns="0" rIns="0" tIns="0" bIns="0" anchor="ctr">
            <a:spAutoFit/>
          </a:bodyPr>
          <a:lstStyle/>
          <a:p>
            <a:pPr algn="l" rtl="0">
              <a:lnSpc>
                <a:spcPct val="100000"/>
              </a:lnSpc>
              <a:spcAft>
                <a:spcPts val="0"/>
              </a:spcAft>
            </a:pPr>
            <a:r>
              <a:rPr sz="950" b="1" i="0" lang="en-US">
                <a:solidFill>
                  <a:srgbClr val="10233D"/>
                </a:solidFill>
                <a:latin typeface="Aptos"/>
                <a:cs typeface="Aptos"/>
                <a:ea typeface="Aptos"/>
              </a:rPr>
              <a:t>11 / 20</a:t>
            </a:r>
          </a:p>
        </p:txBody>
      </p:sp>
      <p:sp>
        <p:nvSpPr>
          <p:cNvPr id="11" name="Rectangle 10"/>
          <p:cNvSpPr/>
          <p:nvPr/>
        </p:nvSpPr>
        <p:spPr>
          <a:xfrm>
            <a:off x="9400032" y="6519672"/>
            <a:ext cx="628650" cy="32004"/>
          </a:xfrm>
          <a:prstGeom prst="rect">
            <a:avLst/>
          </a:prstGeom>
          <a:solidFill>
            <a:srgbClr val="316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8368" y="1517904"/>
            <a:ext cx="10863072" cy="2871216"/>
          </a:xfrm>
          <a:prstGeom prst="round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37259" y="1988820"/>
            <a:ext cx="2798064" cy="1664208"/>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96112" y="1938528"/>
            <a:ext cx="2798064" cy="1664208"/>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96112" y="1938528"/>
            <a:ext cx="2798064" cy="356616"/>
          </a:xfrm>
          <a:prstGeom prst="roundRect">
            <a:avLst/>
          </a:prstGeom>
          <a:solidFill>
            <a:srgbClr val="18365C"/>
          </a:solidFill>
          <a:ln w="5080">
            <a:solidFill>
              <a:srgbClr val="1836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96112" y="2145365"/>
            <a:ext cx="2798064" cy="149778"/>
          </a:xfrm>
          <a:prstGeom prst="rect">
            <a:avLst/>
          </a:prstGeom>
          <a:solidFill>
            <a:srgbClr val="18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1970532"/>
            <a:ext cx="2651760" cy="292608"/>
          </a:xfrm>
          <a:prstGeom prst="rect">
            <a:avLst/>
          </a:prstGeom>
          <a:noFill/>
        </p:spPr>
        <p:txBody>
          <a:bodyPr wrap="square" lIns="9144" rIns="9144" tIns="9144" bIns="9144" anchor="ctr">
            <a:spAutoFit/>
          </a:bodyPr>
          <a:lstStyle/>
          <a:p>
            <a:pPr algn="r" rtl="1">
              <a:lnSpc>
                <a:spcPct val="100000"/>
              </a:lnSpc>
              <a:spcAft>
                <a:spcPts val="0"/>
              </a:spcAft>
            </a:pPr>
            <a:r>
              <a:rPr sz="1300" b="1" i="0" lang="ar-DZ" rtl="1">
                <a:solidFill>
                  <a:srgbClr val="FFFFFF"/>
                </a:solidFill>
                <a:latin typeface="Cairo"/>
                <a:cs typeface="Cairo"/>
                <a:ea typeface="Cairo"/>
              </a:rPr>
              <a:t>الكتاب</a:t>
            </a:r>
          </a:p>
        </p:txBody>
      </p:sp>
      <p:sp>
        <p:nvSpPr>
          <p:cNvPr id="18" name="TextBox 17"/>
          <p:cNvSpPr txBox="1"/>
          <p:nvPr/>
        </p:nvSpPr>
        <p:spPr>
          <a:xfrm>
            <a:off x="1005840" y="2340864"/>
            <a:ext cx="2578608" cy="1216152"/>
          </a:xfrm>
          <a:prstGeom prst="rect">
            <a:avLst/>
          </a:prstGeom>
          <a:noFill/>
        </p:spPr>
        <p:txBody>
          <a:bodyPr wrap="square" lIns="9144" rIns="9144" tIns="9144" bIns="9144" anchor="t">
            <a:spAutoFit/>
          </a:bodyPr>
          <a:lstStyle/>
          <a:p>
            <a:pPr algn="r" rtl="1">
              <a:lnSpc>
                <a:spcPct val="98000"/>
              </a:lnSpc>
              <a:spcAft>
                <a:spcPts val="0"/>
              </a:spcAft>
            </a:pPr>
            <a:r>
              <a:rPr sz="1120" b="0" i="0" lang="ar-DZ" rtl="1">
                <a:solidFill>
                  <a:srgbClr val="17263A"/>
                </a:solidFill>
                <a:latin typeface="Cairo"/>
                <a:cs typeface="Cairo"/>
                <a:ea typeface="Cairo"/>
              </a:rPr>
              <a:t>PK رقم الكتاب</a:t>
            </a:r>
            <a:br/>
            <a:r>
              <a:rPr sz="1120" b="0" i="0" lang="ar-DZ" rtl="1">
                <a:solidFill>
                  <a:srgbClr val="17263A"/>
                </a:solidFill>
                <a:latin typeface="Cairo"/>
                <a:cs typeface="Cairo"/>
                <a:ea typeface="Cairo"/>
              </a:rPr>
              <a:t>العنوان • سنة الإصدار</a:t>
            </a:r>
            <a:br/>
            <a:r>
              <a:rPr sz="1120" b="0" i="0" lang="ar-DZ" rtl="1">
                <a:solidFill>
                  <a:srgbClr val="17263A"/>
                </a:solidFill>
                <a:latin typeface="Cairo"/>
                <a:cs typeface="Cairo"/>
                <a:ea typeface="Cairo"/>
              </a:rPr>
              <a:t>عدد النسخ</a:t>
            </a:r>
          </a:p>
        </p:txBody>
      </p:sp>
      <p:sp>
        <p:nvSpPr>
          <p:cNvPr id="19" name="Rounded Rectangle 18"/>
          <p:cNvSpPr/>
          <p:nvPr/>
        </p:nvSpPr>
        <p:spPr>
          <a:xfrm>
            <a:off x="8508492" y="1988820"/>
            <a:ext cx="2770632" cy="1664208"/>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467344" y="1938528"/>
            <a:ext cx="2770632" cy="1664208"/>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467344" y="1938528"/>
            <a:ext cx="2770632" cy="356616"/>
          </a:xfrm>
          <a:prstGeom prst="roundRect">
            <a:avLst/>
          </a:prstGeom>
          <a:solidFill>
            <a:srgbClr val="18365C"/>
          </a:solidFill>
          <a:ln w="5080">
            <a:solidFill>
              <a:srgbClr val="1836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467344" y="2145365"/>
            <a:ext cx="2770632" cy="149778"/>
          </a:xfrm>
          <a:prstGeom prst="rect">
            <a:avLst/>
          </a:prstGeom>
          <a:solidFill>
            <a:srgbClr val="18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40496" y="1970532"/>
            <a:ext cx="2624327" cy="292608"/>
          </a:xfrm>
          <a:prstGeom prst="rect">
            <a:avLst/>
          </a:prstGeom>
          <a:noFill/>
        </p:spPr>
        <p:txBody>
          <a:bodyPr wrap="square" lIns="9144" rIns="9144" tIns="9144" bIns="9144" anchor="ctr">
            <a:spAutoFit/>
          </a:bodyPr>
          <a:lstStyle/>
          <a:p>
            <a:pPr algn="r" rtl="1">
              <a:lnSpc>
                <a:spcPct val="100000"/>
              </a:lnSpc>
              <a:spcAft>
                <a:spcPts val="0"/>
              </a:spcAft>
            </a:pPr>
            <a:r>
              <a:rPr sz="1300" b="1" i="0" lang="ar-DZ" rtl="1">
                <a:solidFill>
                  <a:srgbClr val="FFFFFF"/>
                </a:solidFill>
                <a:latin typeface="Cairo"/>
                <a:cs typeface="Cairo"/>
                <a:ea typeface="Cairo"/>
              </a:rPr>
              <a:t>المنخرط</a:t>
            </a:r>
          </a:p>
        </p:txBody>
      </p:sp>
      <p:sp>
        <p:nvSpPr>
          <p:cNvPr id="24" name="TextBox 23"/>
          <p:cNvSpPr txBox="1"/>
          <p:nvPr/>
        </p:nvSpPr>
        <p:spPr>
          <a:xfrm>
            <a:off x="8577072" y="2340864"/>
            <a:ext cx="2551176" cy="1216152"/>
          </a:xfrm>
          <a:prstGeom prst="rect">
            <a:avLst/>
          </a:prstGeom>
          <a:noFill/>
        </p:spPr>
        <p:txBody>
          <a:bodyPr wrap="square" lIns="9144" rIns="9144" tIns="9144" bIns="9144" anchor="t">
            <a:spAutoFit/>
          </a:bodyPr>
          <a:lstStyle/>
          <a:p>
            <a:pPr algn="r" rtl="1">
              <a:lnSpc>
                <a:spcPct val="98000"/>
              </a:lnSpc>
              <a:spcAft>
                <a:spcPts val="0"/>
              </a:spcAft>
            </a:pPr>
            <a:r>
              <a:rPr sz="1120" b="0" i="0" lang="ar-DZ" rtl="1">
                <a:solidFill>
                  <a:srgbClr val="17263A"/>
                </a:solidFill>
                <a:latin typeface="Cairo"/>
                <a:cs typeface="Cairo"/>
                <a:ea typeface="Cairo"/>
              </a:rPr>
              <a:t>PK رقم المنخرط</a:t>
            </a:r>
            <a:br/>
            <a:r>
              <a:rPr sz="1120" b="0" i="0" lang="ar-DZ" rtl="1">
                <a:solidFill>
                  <a:srgbClr val="17263A"/>
                </a:solidFill>
                <a:latin typeface="Cairo"/>
                <a:cs typeface="Cairo"/>
                <a:ea typeface="Cairo"/>
              </a:rPr>
              <a:t>الاسم • اللقب</a:t>
            </a:r>
            <a:br/>
            <a:r>
              <a:rPr sz="1120" b="0" i="0" lang="ar-DZ" rtl="1">
                <a:solidFill>
                  <a:srgbClr val="17263A"/>
                </a:solidFill>
                <a:latin typeface="Cairo"/>
                <a:cs typeface="Cairo"/>
                <a:ea typeface="Cairo"/>
              </a:rPr>
              <a:t>العنوان • تاريخ الميلاد</a:t>
            </a:r>
          </a:p>
        </p:txBody>
      </p:sp>
      <p:cxnSp>
        <p:nvCxnSpPr>
          <p:cNvPr id="25" name="Connector 24"/>
          <p:cNvCxnSpPr/>
          <p:nvPr/>
        </p:nvCxnSpPr>
        <p:spPr>
          <a:xfrm>
            <a:off x="3694176" y="2761488"/>
            <a:ext cx="923544" cy="0"/>
          </a:xfrm>
          <a:prstGeom prst="line">
            <a:avLst/>
          </a:prstGeom>
          <a:ln w="27940">
            <a:solidFill>
              <a:srgbClr val="3167D5"/>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269480" y="2761488"/>
            <a:ext cx="1197864" cy="0"/>
          </a:xfrm>
          <a:prstGeom prst="line">
            <a:avLst/>
          </a:prstGeom>
          <a:ln w="27940">
            <a:solidFill>
              <a:srgbClr val="3167D5"/>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4617720" y="2240280"/>
            <a:ext cx="2651760" cy="566928"/>
          </a:xfrm>
          <a:prstGeom prst="ellipse">
            <a:avLst/>
          </a:prstGeom>
          <a:solidFill>
            <a:srgbClr val="F8F0DF"/>
          </a:solidFill>
          <a:ln w="12700">
            <a:solidFill>
              <a:srgbClr val="DCA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45152" y="2249424"/>
            <a:ext cx="2596896" cy="548640"/>
          </a:xfrm>
          <a:prstGeom prst="rect">
            <a:avLst/>
          </a:prstGeom>
          <a:noFill/>
        </p:spPr>
        <p:txBody>
          <a:bodyPr wrap="square" lIns="9144" rIns="9144" tIns="9144" bIns="9144" anchor="ctr">
            <a:spAutoFit/>
          </a:bodyPr>
          <a:lstStyle/>
          <a:p>
            <a:pPr algn="ctr" rtl="1">
              <a:lnSpc>
                <a:spcPct val="100000"/>
              </a:lnSpc>
              <a:spcAft>
                <a:spcPts val="0"/>
              </a:spcAft>
            </a:pPr>
            <a:r>
              <a:rPr sz="1050" b="1" i="0" lang="ar-DZ" rtl="1">
                <a:solidFill>
                  <a:srgbClr val="10233D"/>
                </a:solidFill>
                <a:latin typeface="Cairo"/>
                <a:cs typeface="Cairo"/>
                <a:ea typeface="Cairo"/>
              </a:rPr>
              <a:t>يستعير</a:t>
            </a:r>
          </a:p>
        </p:txBody>
      </p:sp>
      <p:sp>
        <p:nvSpPr>
          <p:cNvPr id="29" name="TextBox 28"/>
          <p:cNvSpPr txBox="1"/>
          <p:nvPr/>
        </p:nvSpPr>
        <p:spPr>
          <a:xfrm>
            <a:off x="4297680" y="2825496"/>
            <a:ext cx="3291839" cy="384048"/>
          </a:xfrm>
          <a:prstGeom prst="rect">
            <a:avLst/>
          </a:prstGeom>
          <a:noFill/>
        </p:spPr>
        <p:txBody>
          <a:bodyPr wrap="square" lIns="0" rIns="0" tIns="0" bIns="0" anchor="t">
            <a:spAutoFit/>
          </a:bodyPr>
          <a:lstStyle/>
          <a:p>
            <a:pPr algn="ctr" rtl="1">
              <a:lnSpc>
                <a:spcPct val="100000"/>
              </a:lnSpc>
              <a:spcAft>
                <a:spcPts val="0"/>
              </a:spcAft>
            </a:pPr>
            <a:r>
              <a:rPr sz="860" b="0" i="0" lang="ar-DZ" rtl="1">
                <a:solidFill>
                  <a:srgbClr val="617187"/>
                </a:solidFill>
                <a:latin typeface="Cairo"/>
                <a:cs typeface="Cairo"/>
                <a:ea typeface="Cairo"/>
              </a:rPr>
              <a:t>تاريخ الإعارة  •  تاريخ الإرجاع</a:t>
            </a:r>
          </a:p>
        </p:txBody>
      </p:sp>
      <p:sp>
        <p:nvSpPr>
          <p:cNvPr id="30" name="Rounded Rectangle 29"/>
          <p:cNvSpPr/>
          <p:nvPr/>
        </p:nvSpPr>
        <p:spPr>
          <a:xfrm>
            <a:off x="3813048" y="2450592"/>
            <a:ext cx="594360" cy="228600"/>
          </a:xfrm>
          <a:prstGeom prst="roundRect">
            <a:avLst/>
          </a:prstGeom>
          <a:solidFill>
            <a:srgbClr val="FFFFFF"/>
          </a:solidFill>
          <a:ln w="889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854196" y="2455164"/>
            <a:ext cx="512064" cy="219456"/>
          </a:xfrm>
          <a:prstGeom prst="rect">
            <a:avLst/>
          </a:prstGeom>
          <a:noFill/>
        </p:spPr>
        <p:txBody>
          <a:bodyPr wrap="square" lIns="9144" rIns="9144" tIns="9144" bIns="9144" anchor="ctr">
            <a:spAutoFit/>
          </a:bodyPr>
          <a:lstStyle/>
          <a:p>
            <a:pPr algn="ctr" rtl="0">
              <a:lnSpc>
                <a:spcPct val="100000"/>
              </a:lnSpc>
              <a:spcAft>
                <a:spcPts val="0"/>
              </a:spcAft>
            </a:pPr>
            <a:r>
              <a:rPr sz="880" b="1" i="0" lang="en-US">
                <a:solidFill>
                  <a:srgbClr val="617187"/>
                </a:solidFill>
                <a:latin typeface="Aptos"/>
                <a:cs typeface="Aptos"/>
                <a:ea typeface="Aptos"/>
              </a:rPr>
              <a:t>(0,N)</a:t>
            </a:r>
          </a:p>
        </p:txBody>
      </p:sp>
      <p:sp>
        <p:nvSpPr>
          <p:cNvPr id="32" name="Rounded Rectangle 31"/>
          <p:cNvSpPr/>
          <p:nvPr/>
        </p:nvSpPr>
        <p:spPr>
          <a:xfrm>
            <a:off x="7754112" y="2450592"/>
            <a:ext cx="594360" cy="228600"/>
          </a:xfrm>
          <a:prstGeom prst="roundRect">
            <a:avLst/>
          </a:prstGeom>
          <a:solidFill>
            <a:srgbClr val="FFFFFF"/>
          </a:solidFill>
          <a:ln w="889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95260" y="2455164"/>
            <a:ext cx="512064" cy="219456"/>
          </a:xfrm>
          <a:prstGeom prst="rect">
            <a:avLst/>
          </a:prstGeom>
          <a:noFill/>
        </p:spPr>
        <p:txBody>
          <a:bodyPr wrap="square" lIns="9144" rIns="9144" tIns="9144" bIns="9144" anchor="ctr">
            <a:spAutoFit/>
          </a:bodyPr>
          <a:lstStyle/>
          <a:p>
            <a:pPr algn="ctr" rtl="0">
              <a:lnSpc>
                <a:spcPct val="100000"/>
              </a:lnSpc>
              <a:spcAft>
                <a:spcPts val="0"/>
              </a:spcAft>
            </a:pPr>
            <a:r>
              <a:rPr sz="880" b="1" i="0" lang="en-US">
                <a:solidFill>
                  <a:srgbClr val="617187"/>
                </a:solidFill>
                <a:latin typeface="Aptos"/>
                <a:cs typeface="Aptos"/>
                <a:ea typeface="Aptos"/>
              </a:rPr>
              <a:t>(0,N)</a:t>
            </a:r>
          </a:p>
        </p:txBody>
      </p:sp>
      <p:cxnSp>
        <p:nvCxnSpPr>
          <p:cNvPr id="34" name="Connector 33"/>
          <p:cNvCxnSpPr/>
          <p:nvPr/>
        </p:nvCxnSpPr>
        <p:spPr>
          <a:xfrm flipH="1">
            <a:off x="7827264" y="3602736"/>
            <a:ext cx="1316736" cy="1133856"/>
          </a:xfrm>
          <a:prstGeom prst="line">
            <a:avLst/>
          </a:prstGeom>
          <a:ln w="22860">
            <a:solidFill>
              <a:srgbClr val="DCA74C"/>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0625328" y="3602736"/>
            <a:ext cx="0" cy="1133856"/>
          </a:xfrm>
          <a:prstGeom prst="line">
            <a:avLst/>
          </a:prstGeom>
          <a:ln w="22860">
            <a:solidFill>
              <a:srgbClr val="DCA74C"/>
            </a:solidFill>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6757416" y="4096512"/>
            <a:ext cx="1024128" cy="329184"/>
          </a:xfrm>
          <a:prstGeom prst="ellipse">
            <a:avLst/>
          </a:prstGeom>
          <a:solidFill>
            <a:srgbClr val="F8F0DF"/>
          </a:solidFill>
          <a:ln w="12700">
            <a:solidFill>
              <a:srgbClr val="DCA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784848" y="4105656"/>
            <a:ext cx="969264" cy="310896"/>
          </a:xfrm>
          <a:prstGeom prst="rect">
            <a:avLst/>
          </a:prstGeom>
          <a:noFill/>
        </p:spPr>
        <p:txBody>
          <a:bodyPr wrap="square" lIns="9144" rIns="9144" tIns="9144" bIns="9144" anchor="ctr">
            <a:spAutoFit/>
          </a:bodyPr>
          <a:lstStyle/>
          <a:p>
            <a:pPr algn="ctr" rtl="1">
              <a:lnSpc>
                <a:spcPct val="100000"/>
              </a:lnSpc>
              <a:spcAft>
                <a:spcPts val="0"/>
              </a:spcAft>
            </a:pPr>
            <a:r>
              <a:rPr sz="1050" b="1" i="0" lang="ar-DZ" rtl="1">
                <a:solidFill>
                  <a:srgbClr val="10233D"/>
                </a:solidFill>
                <a:latin typeface="Cairo"/>
                <a:cs typeface="Cairo"/>
                <a:ea typeface="Cairo"/>
              </a:rPr>
              <a:t>يعاقب</a:t>
            </a:r>
          </a:p>
        </p:txBody>
      </p:sp>
      <p:sp>
        <p:nvSpPr>
          <p:cNvPr id="38" name="Oval 37"/>
          <p:cNvSpPr/>
          <p:nvPr/>
        </p:nvSpPr>
        <p:spPr>
          <a:xfrm>
            <a:off x="10076688" y="4114800"/>
            <a:ext cx="1078992" cy="329184"/>
          </a:xfrm>
          <a:prstGeom prst="ellipse">
            <a:avLst/>
          </a:prstGeom>
          <a:solidFill>
            <a:srgbClr val="F8F0DF"/>
          </a:solidFill>
          <a:ln w="12700">
            <a:solidFill>
              <a:srgbClr val="DCA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104119" y="4123944"/>
            <a:ext cx="1024127" cy="310896"/>
          </a:xfrm>
          <a:prstGeom prst="rect">
            <a:avLst/>
          </a:prstGeom>
          <a:noFill/>
        </p:spPr>
        <p:txBody>
          <a:bodyPr wrap="square" lIns="9144" rIns="9144" tIns="9144" bIns="9144" anchor="ctr">
            <a:spAutoFit/>
          </a:bodyPr>
          <a:lstStyle/>
          <a:p>
            <a:pPr algn="ctr" rtl="1">
              <a:lnSpc>
                <a:spcPct val="100000"/>
              </a:lnSpc>
              <a:spcAft>
                <a:spcPts val="0"/>
              </a:spcAft>
            </a:pPr>
            <a:r>
              <a:rPr sz="1050" b="1" i="0" lang="ar-DZ" rtl="1">
                <a:solidFill>
                  <a:srgbClr val="10233D"/>
                </a:solidFill>
                <a:latin typeface="Cairo"/>
                <a:cs typeface="Cairo"/>
                <a:ea typeface="Cairo"/>
              </a:rPr>
              <a:t>ينخرط</a:t>
            </a:r>
          </a:p>
        </p:txBody>
      </p:sp>
      <p:sp>
        <p:nvSpPr>
          <p:cNvPr id="40" name="Rounded Rectangle 39"/>
          <p:cNvSpPr/>
          <p:nvPr/>
        </p:nvSpPr>
        <p:spPr>
          <a:xfrm>
            <a:off x="6057900" y="4732020"/>
            <a:ext cx="2423160" cy="1115568"/>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6016752" y="4681728"/>
            <a:ext cx="2423160" cy="1115568"/>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6016752" y="4681728"/>
            <a:ext cx="2423160" cy="310896"/>
          </a:xfrm>
          <a:prstGeom prst="roundRect">
            <a:avLst/>
          </a:prstGeom>
          <a:solidFill>
            <a:srgbClr val="18365C"/>
          </a:solidFill>
          <a:ln w="5080">
            <a:solidFill>
              <a:srgbClr val="1836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016752" y="4862047"/>
            <a:ext cx="2423160" cy="130576"/>
          </a:xfrm>
          <a:prstGeom prst="rect">
            <a:avLst/>
          </a:prstGeom>
          <a:solidFill>
            <a:srgbClr val="18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089904" y="4713732"/>
            <a:ext cx="2276856" cy="246888"/>
          </a:xfrm>
          <a:prstGeom prst="rect">
            <a:avLst/>
          </a:prstGeom>
          <a:noFill/>
        </p:spPr>
        <p:txBody>
          <a:bodyPr wrap="square" lIns="9144" rIns="9144" tIns="9144" bIns="9144" anchor="ctr">
            <a:spAutoFit/>
          </a:bodyPr>
          <a:lstStyle/>
          <a:p>
            <a:pPr algn="r" rtl="1">
              <a:lnSpc>
                <a:spcPct val="100000"/>
              </a:lnSpc>
              <a:spcAft>
                <a:spcPts val="0"/>
              </a:spcAft>
            </a:pPr>
            <a:r>
              <a:rPr sz="1200" b="1" i="0" lang="ar-DZ" rtl="1">
                <a:solidFill>
                  <a:srgbClr val="FFFFFF"/>
                </a:solidFill>
                <a:latin typeface="Cairo"/>
                <a:cs typeface="Cairo"/>
                <a:ea typeface="Cairo"/>
              </a:rPr>
              <a:t>العقوبة</a:t>
            </a:r>
          </a:p>
        </p:txBody>
      </p:sp>
      <p:sp>
        <p:nvSpPr>
          <p:cNvPr id="45" name="TextBox 44"/>
          <p:cNvSpPr txBox="1"/>
          <p:nvPr/>
        </p:nvSpPr>
        <p:spPr>
          <a:xfrm>
            <a:off x="6126480" y="5038344"/>
            <a:ext cx="2203704" cy="713231"/>
          </a:xfrm>
          <a:prstGeom prst="rect">
            <a:avLst/>
          </a:prstGeom>
          <a:noFill/>
        </p:spPr>
        <p:txBody>
          <a:bodyPr wrap="square" lIns="9144" rIns="9144" tIns="9144" bIns="9144" anchor="t">
            <a:spAutoFit/>
          </a:bodyPr>
          <a:lstStyle/>
          <a:p>
            <a:pPr algn="r" rtl="1">
              <a:lnSpc>
                <a:spcPct val="98000"/>
              </a:lnSpc>
              <a:spcAft>
                <a:spcPts val="0"/>
              </a:spcAft>
            </a:pPr>
            <a:r>
              <a:rPr sz="940" b="0" i="0" lang="ar-DZ" rtl="1">
                <a:solidFill>
                  <a:srgbClr val="17263A"/>
                </a:solidFill>
                <a:latin typeface="Cairo"/>
                <a:cs typeface="Cairo"/>
                <a:ea typeface="Cairo"/>
              </a:rPr>
              <a:t>PK رقم العقوبة</a:t>
            </a:r>
            <a:br/>
            <a:r>
              <a:rPr sz="940" b="0" i="0" lang="ar-DZ" rtl="1">
                <a:solidFill>
                  <a:srgbClr val="17263A"/>
                </a:solidFill>
                <a:latin typeface="Cairo"/>
                <a:cs typeface="Cairo"/>
                <a:ea typeface="Cairo"/>
              </a:rPr>
              <a:t>تعيين • تاريخ العقوبة</a:t>
            </a:r>
          </a:p>
        </p:txBody>
      </p:sp>
      <p:sp>
        <p:nvSpPr>
          <p:cNvPr id="46" name="Rounded Rectangle 45"/>
          <p:cNvSpPr/>
          <p:nvPr/>
        </p:nvSpPr>
        <p:spPr>
          <a:xfrm>
            <a:off x="9441180" y="4732020"/>
            <a:ext cx="2240280" cy="1115568"/>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9400032" y="4681728"/>
            <a:ext cx="2240280" cy="1115568"/>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9400032" y="4681728"/>
            <a:ext cx="2240280" cy="310896"/>
          </a:xfrm>
          <a:prstGeom prst="roundRect">
            <a:avLst/>
          </a:prstGeom>
          <a:solidFill>
            <a:srgbClr val="18365C"/>
          </a:solidFill>
          <a:ln w="5080">
            <a:solidFill>
              <a:srgbClr val="1836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400032" y="4862047"/>
            <a:ext cx="2240280" cy="130576"/>
          </a:xfrm>
          <a:prstGeom prst="rect">
            <a:avLst/>
          </a:prstGeom>
          <a:solidFill>
            <a:srgbClr val="18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473184" y="4713732"/>
            <a:ext cx="2093976" cy="246888"/>
          </a:xfrm>
          <a:prstGeom prst="rect">
            <a:avLst/>
          </a:prstGeom>
          <a:noFill/>
        </p:spPr>
        <p:txBody>
          <a:bodyPr wrap="square" lIns="9144" rIns="9144" tIns="9144" bIns="9144" anchor="ctr">
            <a:spAutoFit/>
          </a:bodyPr>
          <a:lstStyle/>
          <a:p>
            <a:pPr algn="r" rtl="1">
              <a:lnSpc>
                <a:spcPct val="100000"/>
              </a:lnSpc>
              <a:spcAft>
                <a:spcPts val="0"/>
              </a:spcAft>
            </a:pPr>
            <a:r>
              <a:rPr sz="1200" b="1" i="0" lang="ar-DZ" rtl="1">
                <a:solidFill>
                  <a:srgbClr val="FFFFFF"/>
                </a:solidFill>
                <a:latin typeface="Cairo"/>
                <a:cs typeface="Cairo"/>
                <a:ea typeface="Cairo"/>
              </a:rPr>
              <a:t>السنة</a:t>
            </a:r>
          </a:p>
        </p:txBody>
      </p:sp>
      <p:sp>
        <p:nvSpPr>
          <p:cNvPr id="51" name="TextBox 50"/>
          <p:cNvSpPr txBox="1"/>
          <p:nvPr/>
        </p:nvSpPr>
        <p:spPr>
          <a:xfrm>
            <a:off x="9509759" y="5038344"/>
            <a:ext cx="2020824" cy="713231"/>
          </a:xfrm>
          <a:prstGeom prst="rect">
            <a:avLst/>
          </a:prstGeom>
          <a:noFill/>
        </p:spPr>
        <p:txBody>
          <a:bodyPr wrap="square" lIns="9144" rIns="9144" tIns="9144" bIns="9144" anchor="t">
            <a:spAutoFit/>
          </a:bodyPr>
          <a:lstStyle/>
          <a:p>
            <a:pPr algn="r" rtl="1">
              <a:lnSpc>
                <a:spcPct val="98000"/>
              </a:lnSpc>
              <a:spcAft>
                <a:spcPts val="0"/>
              </a:spcAft>
            </a:pPr>
            <a:r>
              <a:rPr sz="940" b="0" i="0" lang="ar-DZ" rtl="1">
                <a:solidFill>
                  <a:srgbClr val="17263A"/>
                </a:solidFill>
                <a:latin typeface="Cairo"/>
                <a:cs typeface="Cairo"/>
                <a:ea typeface="Cairo"/>
              </a:rPr>
              <a:t>PK رقم السنة</a:t>
            </a:r>
            <a:br/>
            <a:r>
              <a:rPr sz="940" b="0" i="0" lang="ar-DZ" rtl="1">
                <a:solidFill>
                  <a:srgbClr val="17263A"/>
                </a:solidFill>
                <a:latin typeface="Cairo"/>
                <a:cs typeface="Cairo"/>
                <a:ea typeface="Cairo"/>
              </a:rPr>
              <a:t>التعيين</a:t>
            </a:r>
          </a:p>
        </p:txBody>
      </p:sp>
      <p:sp>
        <p:nvSpPr>
          <p:cNvPr id="52" name="Rounded Rectangle 51"/>
          <p:cNvSpPr/>
          <p:nvPr/>
        </p:nvSpPr>
        <p:spPr>
          <a:xfrm>
            <a:off x="7790688" y="4334256"/>
            <a:ext cx="1143000" cy="228600"/>
          </a:xfrm>
          <a:prstGeom prst="roundRect">
            <a:avLst/>
          </a:prstGeom>
          <a:solidFill>
            <a:srgbClr val="F3F6FA"/>
          </a:solidFill>
          <a:ln w="889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831836" y="4338828"/>
            <a:ext cx="1060704" cy="219456"/>
          </a:xfrm>
          <a:prstGeom prst="rect">
            <a:avLst/>
          </a:prstGeom>
          <a:noFill/>
        </p:spPr>
        <p:txBody>
          <a:bodyPr wrap="square" lIns="9144" rIns="9144" tIns="9144" bIns="9144" anchor="ctr">
            <a:spAutoFit/>
          </a:bodyPr>
          <a:lstStyle/>
          <a:p>
            <a:pPr algn="ctr" rtl="1">
              <a:lnSpc>
                <a:spcPct val="100000"/>
              </a:lnSpc>
              <a:spcAft>
                <a:spcPts val="0"/>
              </a:spcAft>
            </a:pPr>
            <a:r>
              <a:rPr sz="840" b="1" i="0" lang="ar-DZ" rtl="1">
                <a:solidFill>
                  <a:srgbClr val="617187"/>
                </a:solidFill>
                <a:latin typeface="Cairo"/>
                <a:cs typeface="Cairo"/>
                <a:ea typeface="Cairo"/>
              </a:rPr>
              <a:t>(0,N) للمنخرط</a:t>
            </a:r>
          </a:p>
        </p:txBody>
      </p:sp>
      <p:sp>
        <p:nvSpPr>
          <p:cNvPr id="54" name="Rounded Rectangle 53"/>
          <p:cNvSpPr/>
          <p:nvPr/>
        </p:nvSpPr>
        <p:spPr>
          <a:xfrm>
            <a:off x="5687568" y="4361688"/>
            <a:ext cx="1078992" cy="228600"/>
          </a:xfrm>
          <a:prstGeom prst="roundRect">
            <a:avLst/>
          </a:prstGeom>
          <a:solidFill>
            <a:srgbClr val="F3F6FA"/>
          </a:solidFill>
          <a:ln w="889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728716" y="4366259"/>
            <a:ext cx="996695" cy="219456"/>
          </a:xfrm>
          <a:prstGeom prst="rect">
            <a:avLst/>
          </a:prstGeom>
          <a:noFill/>
        </p:spPr>
        <p:txBody>
          <a:bodyPr wrap="square" lIns="9144" rIns="9144" tIns="9144" bIns="9144" anchor="ctr">
            <a:spAutoFit/>
          </a:bodyPr>
          <a:lstStyle/>
          <a:p>
            <a:pPr algn="ctr" rtl="1">
              <a:lnSpc>
                <a:spcPct val="100000"/>
              </a:lnSpc>
              <a:spcAft>
                <a:spcPts val="0"/>
              </a:spcAft>
            </a:pPr>
            <a:r>
              <a:rPr sz="819" b="1" i="0" lang="ar-DZ" rtl="1">
                <a:solidFill>
                  <a:srgbClr val="617187"/>
                </a:solidFill>
                <a:latin typeface="Cairo"/>
                <a:cs typeface="Cairo"/>
                <a:ea typeface="Cairo"/>
              </a:rPr>
              <a:t>(1,1) للعقوبة</a:t>
            </a:r>
          </a:p>
        </p:txBody>
      </p:sp>
      <p:sp>
        <p:nvSpPr>
          <p:cNvPr id="56" name="Rounded Rectangle 55"/>
          <p:cNvSpPr/>
          <p:nvPr/>
        </p:nvSpPr>
        <p:spPr>
          <a:xfrm>
            <a:off x="10195560" y="4343400"/>
            <a:ext cx="1143000" cy="228600"/>
          </a:xfrm>
          <a:prstGeom prst="roundRect">
            <a:avLst/>
          </a:prstGeom>
          <a:solidFill>
            <a:srgbClr val="F3F6FA"/>
          </a:solidFill>
          <a:ln w="889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236708" y="4347972"/>
            <a:ext cx="1060704" cy="219456"/>
          </a:xfrm>
          <a:prstGeom prst="rect">
            <a:avLst/>
          </a:prstGeom>
          <a:noFill/>
        </p:spPr>
        <p:txBody>
          <a:bodyPr wrap="square" lIns="9144" rIns="9144" tIns="9144" bIns="9144" anchor="ctr">
            <a:spAutoFit/>
          </a:bodyPr>
          <a:lstStyle/>
          <a:p>
            <a:pPr algn="ctr" rtl="1">
              <a:lnSpc>
                <a:spcPct val="100000"/>
              </a:lnSpc>
              <a:spcAft>
                <a:spcPts val="0"/>
              </a:spcAft>
            </a:pPr>
            <a:r>
              <a:rPr sz="819" b="1" i="0" lang="ar-DZ" rtl="1">
                <a:solidFill>
                  <a:srgbClr val="617187"/>
                </a:solidFill>
                <a:latin typeface="Cairo"/>
                <a:cs typeface="Cairo"/>
                <a:ea typeface="Cairo"/>
              </a:rPr>
              <a:t>(1,1) للمنخرط</a:t>
            </a:r>
          </a:p>
        </p:txBody>
      </p:sp>
      <p:sp>
        <p:nvSpPr>
          <p:cNvPr id="58" name="Rounded Rectangle 57"/>
          <p:cNvSpPr/>
          <p:nvPr/>
        </p:nvSpPr>
        <p:spPr>
          <a:xfrm>
            <a:off x="9061704" y="4343400"/>
            <a:ext cx="1005840" cy="228600"/>
          </a:xfrm>
          <a:prstGeom prst="roundRect">
            <a:avLst/>
          </a:prstGeom>
          <a:solidFill>
            <a:srgbClr val="F3F6FA"/>
          </a:solidFill>
          <a:ln w="889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102852" y="4347972"/>
            <a:ext cx="923544" cy="219456"/>
          </a:xfrm>
          <a:prstGeom prst="rect">
            <a:avLst/>
          </a:prstGeom>
          <a:noFill/>
        </p:spPr>
        <p:txBody>
          <a:bodyPr wrap="square" lIns="9144" rIns="9144" tIns="9144" bIns="9144" anchor="ctr">
            <a:spAutoFit/>
          </a:bodyPr>
          <a:lstStyle/>
          <a:p>
            <a:pPr algn="ctr" rtl="1">
              <a:lnSpc>
                <a:spcPct val="100000"/>
              </a:lnSpc>
              <a:spcAft>
                <a:spcPts val="0"/>
              </a:spcAft>
            </a:pPr>
            <a:r>
              <a:rPr sz="819" b="1" i="0" lang="ar-DZ" rtl="1">
                <a:solidFill>
                  <a:srgbClr val="617187"/>
                </a:solidFill>
                <a:latin typeface="Cairo"/>
                <a:cs typeface="Cairo"/>
                <a:ea typeface="Cairo"/>
              </a:rPr>
              <a:t>(1,N) للسنة</a:t>
            </a:r>
          </a:p>
        </p:txBody>
      </p:sp>
      <p:sp>
        <p:nvSpPr>
          <p:cNvPr id="60" name="Rounded Rectangle 59"/>
          <p:cNvSpPr/>
          <p:nvPr/>
        </p:nvSpPr>
        <p:spPr>
          <a:xfrm>
            <a:off x="736092" y="4832604"/>
            <a:ext cx="4791456" cy="1078992"/>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694944" y="4782312"/>
            <a:ext cx="4791456" cy="1078992"/>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41832" y="4919472"/>
            <a:ext cx="4270248" cy="265176"/>
          </a:xfrm>
          <a:prstGeom prst="rect">
            <a:avLst/>
          </a:prstGeom>
          <a:noFill/>
        </p:spPr>
        <p:txBody>
          <a:bodyPr wrap="square" lIns="18288" rIns="18288" tIns="18288" bIns="18288" anchor="ctr">
            <a:spAutoFit/>
          </a:bodyPr>
          <a:lstStyle/>
          <a:p>
            <a:pPr algn="r" rtl="1">
              <a:lnSpc>
                <a:spcPct val="100000"/>
              </a:lnSpc>
              <a:spcAft>
                <a:spcPts val="0"/>
              </a:spcAft>
            </a:pPr>
            <a:r>
              <a:rPr sz="1250" b="1" i="0" lang="ar-DZ" rtl="1">
                <a:solidFill>
                  <a:srgbClr val="3167D5"/>
                </a:solidFill>
                <a:latin typeface="Cairo"/>
                <a:cs typeface="Cairo"/>
                <a:ea typeface="Cairo"/>
              </a:rPr>
              <a:t>علاقات الكتاب الأخرى</a:t>
            </a:r>
          </a:p>
        </p:txBody>
      </p:sp>
      <p:sp>
        <p:nvSpPr>
          <p:cNvPr id="63" name="TextBox 62"/>
          <p:cNvSpPr txBox="1"/>
          <p:nvPr/>
        </p:nvSpPr>
        <p:spPr>
          <a:xfrm>
            <a:off x="941832" y="5294376"/>
            <a:ext cx="4270248" cy="393192"/>
          </a:xfrm>
          <a:prstGeom prst="rect">
            <a:avLst/>
          </a:prstGeom>
          <a:noFill/>
        </p:spPr>
        <p:txBody>
          <a:bodyPr wrap="square" lIns="18288" rIns="18288" tIns="18288" bIns="18288" anchor="ctr">
            <a:spAutoFit/>
          </a:bodyPr>
          <a:lstStyle/>
          <a:p>
            <a:pPr algn="r" rtl="1">
              <a:lnSpc>
                <a:spcPct val="100000"/>
              </a:lnSpc>
              <a:spcAft>
                <a:spcPts val="0"/>
              </a:spcAft>
            </a:pPr>
            <a:r>
              <a:rPr sz="1120" b="0" i="0" lang="ar-DZ" rtl="1">
                <a:solidFill>
                  <a:srgbClr val="17263A"/>
                </a:solidFill>
                <a:latin typeface="Cairo"/>
                <a:cs typeface="Cairo"/>
                <a:ea typeface="Cairo"/>
              </a:rPr>
              <a:t>المؤلف — يؤلف   •   دار النشر — ينشر   •   الصنف — ينتمي</a:t>
            </a:r>
          </a:p>
        </p:txBody>
      </p:sp>
    </p:spTree>
  </p:cSld>
  <p:clrMapOvr>
    <a:masterClrMapping/>
  </p:clrMapOvr>
  <p:transition spd="med" advClick="1">
    <p:zoom dir="in"/>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ounded Rectangle 1"/>
          <p:cNvSpPr/>
          <p:nvPr/>
        </p:nvSpPr>
        <p:spPr>
          <a:xfrm>
            <a:off x="530352" y="292608"/>
            <a:ext cx="2423160" cy="310896"/>
          </a:xfrm>
          <a:prstGeom prst="roundRect">
            <a:avLst/>
          </a:prstGeom>
          <a:solidFill>
            <a:srgbClr val="10233D"/>
          </a:solidFill>
          <a:ln w="889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1500" y="297180"/>
            <a:ext cx="2340864" cy="301752"/>
          </a:xfrm>
          <a:prstGeom prst="rect">
            <a:avLst/>
          </a:prstGeom>
          <a:noFill/>
        </p:spPr>
        <p:txBody>
          <a:bodyPr wrap="square" lIns="9144" rIns="9144" tIns="9144" bIns="9144" anchor="ctr">
            <a:spAutoFit/>
          </a:bodyPr>
          <a:lstStyle/>
          <a:p>
            <a:pPr algn="ctr" rtl="0">
              <a:lnSpc>
                <a:spcPct val="100000"/>
              </a:lnSpc>
              <a:spcAft>
                <a:spcPts val="0"/>
              </a:spcAft>
            </a:pPr>
            <a:r>
              <a:rPr sz="1050" b="1" i="0" lang="en-US">
                <a:solidFill>
                  <a:srgbClr val="FFFFFF"/>
                </a:solidFill>
                <a:latin typeface="Aptos"/>
                <a:cs typeface="Aptos"/>
                <a:ea typeface="Aptos"/>
              </a:rPr>
              <a:t>02  /  التحليل والتصميم</a:t>
            </a:r>
          </a:p>
        </p:txBody>
      </p:sp>
      <p:sp>
        <p:nvSpPr>
          <p:cNvPr id="4" name="Rectangle 3"/>
          <p:cNvSpPr/>
          <p:nvPr/>
        </p:nvSpPr>
        <p:spPr>
          <a:xfrm>
            <a:off x="11594592" y="283464"/>
            <a:ext cx="64008" cy="502920"/>
          </a:xfrm>
          <a:prstGeom prst="rect">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063240" y="182880"/>
            <a:ext cx="8229600" cy="557784"/>
          </a:xfrm>
          <a:prstGeom prst="rect">
            <a:avLst/>
          </a:prstGeom>
          <a:noFill/>
        </p:spPr>
        <p:txBody>
          <a:bodyPr wrap="square" lIns="18288" rIns="18288" tIns="18288" bIns="18288" anchor="ctr">
            <a:spAutoFit/>
          </a:bodyPr>
          <a:lstStyle/>
          <a:p>
            <a:pPr algn="r" rtl="1">
              <a:lnSpc>
                <a:spcPct val="100000"/>
              </a:lnSpc>
              <a:spcAft>
                <a:spcPts val="0"/>
              </a:spcAft>
            </a:pPr>
            <a:r>
              <a:rPr sz="2600" b="1" i="0" lang="ar-DZ" rtl="1">
                <a:solidFill>
                  <a:srgbClr val="10233D"/>
                </a:solidFill>
                <a:latin typeface="Cairo"/>
                <a:cs typeface="Cairo"/>
                <a:ea typeface="Cairo"/>
              </a:rPr>
              <a:t>MLD: من الكيانات إلى علاقات منطقية</a:t>
            </a:r>
          </a:p>
        </p:txBody>
      </p:sp>
      <p:sp>
        <p:nvSpPr>
          <p:cNvPr id="6" name="TextBox 5"/>
          <p:cNvSpPr txBox="1"/>
          <p:nvPr/>
        </p:nvSpPr>
        <p:spPr>
          <a:xfrm>
            <a:off x="3063240" y="731520"/>
            <a:ext cx="8229600" cy="310896"/>
          </a:xfrm>
          <a:prstGeom prst="rect">
            <a:avLst/>
          </a:prstGeom>
          <a:noFill/>
        </p:spPr>
        <p:txBody>
          <a:bodyPr wrap="square" lIns="9144" rIns="9144" tIns="9144" bIns="9144" anchor="ctr">
            <a:spAutoFit/>
          </a:bodyPr>
          <a:lstStyle/>
          <a:p>
            <a:pPr algn="r" rtl="1">
              <a:lnSpc>
                <a:spcPct val="100000"/>
              </a:lnSpc>
              <a:spcAft>
                <a:spcPts val="0"/>
              </a:spcAft>
            </a:pPr>
            <a:r>
              <a:rPr sz="1350" b="0" i="0" lang="ar-DZ" rtl="1">
                <a:solidFill>
                  <a:srgbClr val="617187"/>
                </a:solidFill>
                <a:latin typeface="Cairo"/>
                <a:cs typeface="Cairo"/>
                <a:ea typeface="Cairo"/>
              </a:rPr>
              <a:t>المفاتيح الأجنبية تحفظ الروابط؛ و«يستعير» يصبح علاقة ربط بخصائصها.</a:t>
            </a:r>
          </a:p>
        </p:txBody>
      </p:sp>
      <p:cxnSp>
        <p:nvCxnSpPr>
          <p:cNvPr id="7" name="Connector 6"/>
          <p:cNvCxnSpPr/>
          <p:nvPr/>
        </p:nvCxnSpPr>
        <p:spPr>
          <a:xfrm>
            <a:off x="530352" y="1170432"/>
            <a:ext cx="11128248" cy="0"/>
          </a:xfrm>
          <a:prstGeom prst="line">
            <a:avLst/>
          </a:prstGeom>
          <a:ln w="10160">
            <a:solidFill>
              <a:srgbClr val="D5DFE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30352" y="6382512"/>
            <a:ext cx="11128248" cy="0"/>
          </a:xfrm>
          <a:prstGeom prst="line">
            <a:avLst/>
          </a:prstGeom>
          <a:ln w="8890">
            <a:solidFill>
              <a:srgbClr val="D5DFEA"/>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03504" y="6437376"/>
            <a:ext cx="8778240" cy="210312"/>
          </a:xfrm>
          <a:prstGeom prst="rect">
            <a:avLst/>
          </a:prstGeom>
          <a:noFill/>
        </p:spPr>
        <p:txBody>
          <a:bodyPr wrap="square" lIns="0" rIns="0" tIns="0" bIns="0" anchor="ctr">
            <a:spAutoFit/>
          </a:bodyPr>
          <a:lstStyle/>
          <a:p>
            <a:pPr algn="l" rtl="1">
              <a:lnSpc>
                <a:spcPct val="100000"/>
              </a:lnSpc>
              <a:spcAft>
                <a:spcPts val="0"/>
              </a:spcAft>
            </a:pPr>
            <a:r>
              <a:rPr sz="850" b="0" i="0" lang="ar-DZ" rtl="1">
                <a:solidFill>
                  <a:srgbClr val="617187"/>
                </a:solidFill>
                <a:latin typeface="Cairo"/>
                <a:cs typeface="Cairo"/>
                <a:ea typeface="Cairo"/>
              </a:rPr>
              <a:t>المصدر: المذكرة، الفصل الثاني، ص 54–55</a:t>
            </a:r>
          </a:p>
        </p:txBody>
      </p:sp>
      <p:sp>
        <p:nvSpPr>
          <p:cNvPr id="10" name="TextBox 9"/>
          <p:cNvSpPr txBox="1"/>
          <p:nvPr/>
        </p:nvSpPr>
        <p:spPr>
          <a:xfrm>
            <a:off x="10725912" y="6409944"/>
            <a:ext cx="932688" cy="228600"/>
          </a:xfrm>
          <a:prstGeom prst="rect">
            <a:avLst/>
          </a:prstGeom>
          <a:noFill/>
        </p:spPr>
        <p:txBody>
          <a:bodyPr wrap="square" lIns="0" rIns="0" tIns="0" bIns="0" anchor="ctr">
            <a:spAutoFit/>
          </a:bodyPr>
          <a:lstStyle/>
          <a:p>
            <a:pPr algn="l" rtl="0">
              <a:lnSpc>
                <a:spcPct val="100000"/>
              </a:lnSpc>
              <a:spcAft>
                <a:spcPts val="0"/>
              </a:spcAft>
            </a:pPr>
            <a:r>
              <a:rPr sz="950" b="1" i="0" lang="en-US">
                <a:solidFill>
                  <a:srgbClr val="10233D"/>
                </a:solidFill>
                <a:latin typeface="Aptos"/>
                <a:cs typeface="Aptos"/>
                <a:ea typeface="Aptos"/>
              </a:rPr>
              <a:t>12 / 20</a:t>
            </a:r>
          </a:p>
        </p:txBody>
      </p:sp>
      <p:sp>
        <p:nvSpPr>
          <p:cNvPr id="11" name="Rectangle 10"/>
          <p:cNvSpPr/>
          <p:nvPr/>
        </p:nvSpPr>
        <p:spPr>
          <a:xfrm>
            <a:off x="9400032" y="6519672"/>
            <a:ext cx="685800" cy="32004"/>
          </a:xfrm>
          <a:prstGeom prst="rect">
            <a:avLst/>
          </a:prstGeom>
          <a:solidFill>
            <a:srgbClr val="316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002268" y="1513332"/>
            <a:ext cx="2679192" cy="1993392"/>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961120" y="1463040"/>
            <a:ext cx="2679192" cy="1993392"/>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576304" y="1572768"/>
            <a:ext cx="64008" cy="1773936"/>
          </a:xfrm>
          <a:prstGeom prst="rect">
            <a:avLst/>
          </a:prstGeom>
          <a:solidFill>
            <a:srgbClr val="316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07424" y="1563624"/>
            <a:ext cx="2377440" cy="301752"/>
          </a:xfrm>
          <a:prstGeom prst="rect">
            <a:avLst/>
          </a:prstGeom>
          <a:noFill/>
        </p:spPr>
        <p:txBody>
          <a:bodyPr wrap="square" lIns="9144" rIns="9144" tIns="9144" bIns="9144" anchor="ctr">
            <a:spAutoFit/>
          </a:bodyPr>
          <a:lstStyle/>
          <a:p>
            <a:pPr algn="r" rtl="1">
              <a:lnSpc>
                <a:spcPct val="100000"/>
              </a:lnSpc>
              <a:spcAft>
                <a:spcPts val="0"/>
              </a:spcAft>
            </a:pPr>
            <a:r>
              <a:rPr sz="1400" b="1" i="0" lang="ar-DZ" rtl="1">
                <a:solidFill>
                  <a:srgbClr val="10233D"/>
                </a:solidFill>
                <a:latin typeface="Cairo"/>
                <a:cs typeface="Cairo"/>
                <a:ea typeface="Cairo"/>
              </a:rPr>
              <a:t>كتاب</a:t>
            </a:r>
          </a:p>
        </p:txBody>
      </p:sp>
      <p:sp>
        <p:nvSpPr>
          <p:cNvPr id="16" name="TextBox 15"/>
          <p:cNvSpPr txBox="1"/>
          <p:nvPr/>
        </p:nvSpPr>
        <p:spPr>
          <a:xfrm>
            <a:off x="9107424" y="1901952"/>
            <a:ext cx="2377440" cy="1472184"/>
          </a:xfrm>
          <a:prstGeom prst="rect">
            <a:avLst/>
          </a:prstGeom>
          <a:noFill/>
        </p:spPr>
        <p:txBody>
          <a:bodyPr wrap="square" lIns="9144" rIns="9144" tIns="9144" bIns="9144" anchor="t">
            <a:spAutoFit/>
          </a:bodyPr>
          <a:lstStyle/>
          <a:p>
            <a:pPr algn="r" rtl="1">
              <a:lnSpc>
                <a:spcPct val="95000"/>
              </a:lnSpc>
              <a:spcAft>
                <a:spcPts val="0"/>
              </a:spcAft>
            </a:pPr>
            <a:r>
              <a:rPr sz="1170" b="0" i="0" lang="ar-DZ" rtl="1">
                <a:solidFill>
                  <a:srgbClr val="17263A"/>
                </a:solidFill>
                <a:latin typeface="Cairo"/>
                <a:cs typeface="Cairo"/>
                <a:ea typeface="Cairo"/>
              </a:rPr>
              <a:t>PK رقم الكتاب</a:t>
            </a:r>
            <a:br/>
            <a:r>
              <a:rPr sz="1170" b="0" i="0" lang="ar-DZ" rtl="1">
                <a:solidFill>
                  <a:srgbClr val="17263A"/>
                </a:solidFill>
                <a:latin typeface="Cairo"/>
                <a:cs typeface="Cairo"/>
                <a:ea typeface="Cairo"/>
              </a:rPr>
              <a:t>العنوان • سنة الإصدار</a:t>
            </a:r>
            <a:br/>
            <a:r>
              <a:rPr sz="1170" b="0" i="0" lang="ar-DZ" rtl="1">
                <a:solidFill>
                  <a:srgbClr val="17263A"/>
                </a:solidFill>
                <a:latin typeface="Cairo"/>
                <a:cs typeface="Cairo"/>
                <a:ea typeface="Cairo"/>
              </a:rPr>
              <a:t>تاريخ الدخول • عدد النسخ</a:t>
            </a:r>
            <a:br/>
            <a:r>
              <a:rPr sz="1170" b="0" i="0" lang="ar-DZ" rtl="1">
                <a:solidFill>
                  <a:srgbClr val="17263A"/>
                </a:solidFill>
                <a:latin typeface="Cairo"/>
                <a:cs typeface="Cairo"/>
                <a:ea typeface="Cairo"/>
              </a:rPr>
              <a:t>FK الصنف • المؤلف • دار النشر</a:t>
            </a:r>
          </a:p>
        </p:txBody>
      </p:sp>
      <p:sp>
        <p:nvSpPr>
          <p:cNvPr id="17" name="Rounded Rectangle 16"/>
          <p:cNvSpPr/>
          <p:nvPr/>
        </p:nvSpPr>
        <p:spPr>
          <a:xfrm>
            <a:off x="6167628" y="1513332"/>
            <a:ext cx="2679192" cy="1993392"/>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126480" y="1463040"/>
            <a:ext cx="2679192" cy="1993392"/>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741664" y="1572768"/>
            <a:ext cx="64008" cy="1773936"/>
          </a:xfrm>
          <a:prstGeom prst="rect">
            <a:avLst/>
          </a:prstGeom>
          <a:solidFill>
            <a:srgbClr val="316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72784" y="1563624"/>
            <a:ext cx="2377440" cy="301752"/>
          </a:xfrm>
          <a:prstGeom prst="rect">
            <a:avLst/>
          </a:prstGeom>
          <a:noFill/>
        </p:spPr>
        <p:txBody>
          <a:bodyPr wrap="square" lIns="9144" rIns="9144" tIns="9144" bIns="9144" anchor="ctr">
            <a:spAutoFit/>
          </a:bodyPr>
          <a:lstStyle/>
          <a:p>
            <a:pPr algn="r" rtl="1">
              <a:lnSpc>
                <a:spcPct val="100000"/>
              </a:lnSpc>
              <a:spcAft>
                <a:spcPts val="0"/>
              </a:spcAft>
            </a:pPr>
            <a:r>
              <a:rPr sz="1400" b="1" i="0" lang="ar-DZ" rtl="1">
                <a:solidFill>
                  <a:srgbClr val="10233D"/>
                </a:solidFill>
                <a:latin typeface="Cairo"/>
                <a:cs typeface="Cairo"/>
                <a:ea typeface="Cairo"/>
              </a:rPr>
              <a:t>الطالب / المنخرط</a:t>
            </a:r>
          </a:p>
        </p:txBody>
      </p:sp>
      <p:sp>
        <p:nvSpPr>
          <p:cNvPr id="21" name="TextBox 20"/>
          <p:cNvSpPr txBox="1"/>
          <p:nvPr/>
        </p:nvSpPr>
        <p:spPr>
          <a:xfrm>
            <a:off x="6272784" y="1901952"/>
            <a:ext cx="2377440" cy="1472184"/>
          </a:xfrm>
          <a:prstGeom prst="rect">
            <a:avLst/>
          </a:prstGeom>
          <a:noFill/>
        </p:spPr>
        <p:txBody>
          <a:bodyPr wrap="square" lIns="9144" rIns="9144" tIns="9144" bIns="9144" anchor="t">
            <a:spAutoFit/>
          </a:bodyPr>
          <a:lstStyle/>
          <a:p>
            <a:pPr algn="r" rtl="1">
              <a:lnSpc>
                <a:spcPct val="95000"/>
              </a:lnSpc>
              <a:spcAft>
                <a:spcPts val="0"/>
              </a:spcAft>
            </a:pPr>
            <a:r>
              <a:rPr sz="1170" b="0" i="0" lang="ar-DZ" rtl="1">
                <a:solidFill>
                  <a:srgbClr val="17263A"/>
                </a:solidFill>
                <a:latin typeface="Cairo"/>
                <a:cs typeface="Cairo"/>
                <a:ea typeface="Cairo"/>
              </a:rPr>
              <a:t>PK رقم الطالب</a:t>
            </a:r>
            <a:br/>
            <a:r>
              <a:rPr sz="1170" b="0" i="0" lang="ar-DZ" rtl="1">
                <a:solidFill>
                  <a:srgbClr val="17263A"/>
                </a:solidFill>
                <a:latin typeface="Cairo"/>
                <a:cs typeface="Cairo"/>
                <a:ea typeface="Cairo"/>
              </a:rPr>
              <a:t>الاسم • اللقب • العنوان</a:t>
            </a:r>
            <a:br/>
            <a:r>
              <a:rPr sz="1170" b="0" i="0" lang="ar-DZ" rtl="1">
                <a:solidFill>
                  <a:srgbClr val="17263A"/>
                </a:solidFill>
                <a:latin typeface="Cairo"/>
                <a:cs typeface="Cairo"/>
                <a:ea typeface="Cairo"/>
              </a:rPr>
              <a:t>تاريخ ومكان الميلاد</a:t>
            </a:r>
            <a:br/>
            <a:r>
              <a:rPr sz="1170" b="0" i="0" lang="ar-DZ" rtl="1">
                <a:solidFill>
                  <a:srgbClr val="17263A"/>
                </a:solidFill>
                <a:latin typeface="Cairo"/>
                <a:cs typeface="Cairo"/>
                <a:ea typeface="Cairo"/>
              </a:rPr>
              <a:t>FK رقم السنة</a:t>
            </a:r>
          </a:p>
        </p:txBody>
      </p:sp>
      <p:sp>
        <p:nvSpPr>
          <p:cNvPr id="22" name="Rounded Rectangle 21"/>
          <p:cNvSpPr/>
          <p:nvPr/>
        </p:nvSpPr>
        <p:spPr>
          <a:xfrm>
            <a:off x="3332988" y="1513332"/>
            <a:ext cx="2679192" cy="1993392"/>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3291840" y="1463040"/>
            <a:ext cx="2679192" cy="1993392"/>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07024" y="1572768"/>
            <a:ext cx="64008" cy="1773936"/>
          </a:xfrm>
          <a:prstGeom prst="rect">
            <a:avLst/>
          </a:prstGeom>
          <a:solidFill>
            <a:srgbClr val="316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38144" y="1563624"/>
            <a:ext cx="2377440" cy="301752"/>
          </a:xfrm>
          <a:prstGeom prst="rect">
            <a:avLst/>
          </a:prstGeom>
          <a:noFill/>
        </p:spPr>
        <p:txBody>
          <a:bodyPr wrap="square" lIns="9144" rIns="9144" tIns="9144" bIns="9144" anchor="ctr">
            <a:spAutoFit/>
          </a:bodyPr>
          <a:lstStyle/>
          <a:p>
            <a:pPr algn="r" rtl="1">
              <a:lnSpc>
                <a:spcPct val="100000"/>
              </a:lnSpc>
              <a:spcAft>
                <a:spcPts val="0"/>
              </a:spcAft>
            </a:pPr>
            <a:r>
              <a:rPr sz="1400" b="1" i="0" lang="ar-DZ" rtl="1">
                <a:solidFill>
                  <a:srgbClr val="10233D"/>
                </a:solidFill>
                <a:latin typeface="Cairo"/>
                <a:cs typeface="Cairo"/>
                <a:ea typeface="Cairo"/>
              </a:rPr>
              <a:t>الصنف</a:t>
            </a:r>
          </a:p>
        </p:txBody>
      </p:sp>
      <p:sp>
        <p:nvSpPr>
          <p:cNvPr id="26" name="TextBox 25"/>
          <p:cNvSpPr txBox="1"/>
          <p:nvPr/>
        </p:nvSpPr>
        <p:spPr>
          <a:xfrm>
            <a:off x="3438144" y="1901952"/>
            <a:ext cx="2377440" cy="1472184"/>
          </a:xfrm>
          <a:prstGeom prst="rect">
            <a:avLst/>
          </a:prstGeom>
          <a:noFill/>
        </p:spPr>
        <p:txBody>
          <a:bodyPr wrap="square" lIns="9144" rIns="9144" tIns="9144" bIns="9144" anchor="t">
            <a:spAutoFit/>
          </a:bodyPr>
          <a:lstStyle/>
          <a:p>
            <a:pPr algn="r" rtl="1">
              <a:lnSpc>
                <a:spcPct val="95000"/>
              </a:lnSpc>
              <a:spcAft>
                <a:spcPts val="0"/>
              </a:spcAft>
            </a:pPr>
            <a:r>
              <a:rPr sz="1170" b="0" i="0" lang="ar-DZ" rtl="1">
                <a:solidFill>
                  <a:srgbClr val="17263A"/>
                </a:solidFill>
                <a:latin typeface="Cairo"/>
                <a:cs typeface="Cairo"/>
                <a:ea typeface="Cairo"/>
              </a:rPr>
              <a:t>PK رقم الصنف</a:t>
            </a:r>
            <a:br/>
            <a:r>
              <a:rPr sz="1170" b="0" i="0" lang="ar-DZ" rtl="1">
                <a:solidFill>
                  <a:srgbClr val="17263A"/>
                </a:solidFill>
                <a:latin typeface="Cairo"/>
                <a:cs typeface="Cairo"/>
                <a:ea typeface="Cairo"/>
              </a:rPr>
              <a:t>التعيين</a:t>
            </a:r>
          </a:p>
        </p:txBody>
      </p:sp>
      <p:sp>
        <p:nvSpPr>
          <p:cNvPr id="27" name="Rounded Rectangle 26"/>
          <p:cNvSpPr/>
          <p:nvPr/>
        </p:nvSpPr>
        <p:spPr>
          <a:xfrm>
            <a:off x="498348" y="1513332"/>
            <a:ext cx="2679192" cy="1993392"/>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457200" y="1463040"/>
            <a:ext cx="2679192" cy="1993392"/>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072384" y="1572768"/>
            <a:ext cx="64008" cy="1773936"/>
          </a:xfrm>
          <a:prstGeom prst="rect">
            <a:avLst/>
          </a:prstGeom>
          <a:solidFill>
            <a:srgbClr val="316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3504" y="1563624"/>
            <a:ext cx="2377440" cy="301752"/>
          </a:xfrm>
          <a:prstGeom prst="rect">
            <a:avLst/>
          </a:prstGeom>
          <a:noFill/>
        </p:spPr>
        <p:txBody>
          <a:bodyPr wrap="square" lIns="9144" rIns="9144" tIns="9144" bIns="9144" anchor="ctr">
            <a:spAutoFit/>
          </a:bodyPr>
          <a:lstStyle/>
          <a:p>
            <a:pPr algn="r" rtl="1">
              <a:lnSpc>
                <a:spcPct val="100000"/>
              </a:lnSpc>
              <a:spcAft>
                <a:spcPts val="0"/>
              </a:spcAft>
            </a:pPr>
            <a:r>
              <a:rPr sz="1400" b="1" i="0" lang="ar-DZ" rtl="1">
                <a:solidFill>
                  <a:srgbClr val="10233D"/>
                </a:solidFill>
                <a:latin typeface="Cairo"/>
                <a:cs typeface="Cairo"/>
                <a:ea typeface="Cairo"/>
              </a:rPr>
              <a:t>دار النشر</a:t>
            </a:r>
          </a:p>
        </p:txBody>
      </p:sp>
      <p:sp>
        <p:nvSpPr>
          <p:cNvPr id="31" name="TextBox 30"/>
          <p:cNvSpPr txBox="1"/>
          <p:nvPr/>
        </p:nvSpPr>
        <p:spPr>
          <a:xfrm>
            <a:off x="603504" y="1901952"/>
            <a:ext cx="2377440" cy="1472184"/>
          </a:xfrm>
          <a:prstGeom prst="rect">
            <a:avLst/>
          </a:prstGeom>
          <a:noFill/>
        </p:spPr>
        <p:txBody>
          <a:bodyPr wrap="square" lIns="9144" rIns="9144" tIns="9144" bIns="9144" anchor="t">
            <a:spAutoFit/>
          </a:bodyPr>
          <a:lstStyle/>
          <a:p>
            <a:pPr algn="r" rtl="1">
              <a:lnSpc>
                <a:spcPct val="95000"/>
              </a:lnSpc>
              <a:spcAft>
                <a:spcPts val="0"/>
              </a:spcAft>
            </a:pPr>
            <a:r>
              <a:rPr sz="1170" b="0" i="0" lang="ar-DZ" rtl="1">
                <a:solidFill>
                  <a:srgbClr val="17263A"/>
                </a:solidFill>
                <a:latin typeface="Cairo"/>
                <a:cs typeface="Cairo"/>
                <a:ea typeface="Cairo"/>
              </a:rPr>
              <a:t>PK رقم دار النشر</a:t>
            </a:r>
            <a:br/>
            <a:r>
              <a:rPr sz="1170" b="0" i="0" lang="ar-DZ" rtl="1">
                <a:solidFill>
                  <a:srgbClr val="17263A"/>
                </a:solidFill>
                <a:latin typeface="Cairo"/>
                <a:cs typeface="Cairo"/>
                <a:ea typeface="Cairo"/>
              </a:rPr>
              <a:t>التعيين • العنوان</a:t>
            </a:r>
          </a:p>
        </p:txBody>
      </p:sp>
      <p:sp>
        <p:nvSpPr>
          <p:cNvPr id="32" name="Rounded Rectangle 31"/>
          <p:cNvSpPr/>
          <p:nvPr/>
        </p:nvSpPr>
        <p:spPr>
          <a:xfrm>
            <a:off x="9002268" y="3872483"/>
            <a:ext cx="2679192" cy="1993392"/>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8961120" y="3822191"/>
            <a:ext cx="2679192" cy="1993392"/>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576304" y="3931920"/>
            <a:ext cx="64008" cy="1773936"/>
          </a:xfrm>
          <a:prstGeom prst="rect">
            <a:avLst/>
          </a:prstGeom>
          <a:solidFill>
            <a:srgbClr val="316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07424" y="3922776"/>
            <a:ext cx="2377440" cy="301752"/>
          </a:xfrm>
          <a:prstGeom prst="rect">
            <a:avLst/>
          </a:prstGeom>
          <a:noFill/>
        </p:spPr>
        <p:txBody>
          <a:bodyPr wrap="square" lIns="9144" rIns="9144" tIns="9144" bIns="9144" anchor="ctr">
            <a:spAutoFit/>
          </a:bodyPr>
          <a:lstStyle/>
          <a:p>
            <a:pPr algn="r" rtl="1">
              <a:lnSpc>
                <a:spcPct val="100000"/>
              </a:lnSpc>
              <a:spcAft>
                <a:spcPts val="0"/>
              </a:spcAft>
            </a:pPr>
            <a:r>
              <a:rPr sz="1400" b="1" i="0" lang="ar-DZ" rtl="1">
                <a:solidFill>
                  <a:srgbClr val="10233D"/>
                </a:solidFill>
                <a:latin typeface="Cairo"/>
                <a:cs typeface="Cairo"/>
                <a:ea typeface="Cairo"/>
              </a:rPr>
              <a:t>المؤلف</a:t>
            </a:r>
          </a:p>
        </p:txBody>
      </p:sp>
      <p:sp>
        <p:nvSpPr>
          <p:cNvPr id="36" name="TextBox 35"/>
          <p:cNvSpPr txBox="1"/>
          <p:nvPr/>
        </p:nvSpPr>
        <p:spPr>
          <a:xfrm>
            <a:off x="9107424" y="4261104"/>
            <a:ext cx="2377440" cy="1472184"/>
          </a:xfrm>
          <a:prstGeom prst="rect">
            <a:avLst/>
          </a:prstGeom>
          <a:noFill/>
        </p:spPr>
        <p:txBody>
          <a:bodyPr wrap="square" lIns="9144" rIns="9144" tIns="9144" bIns="9144" anchor="t">
            <a:spAutoFit/>
          </a:bodyPr>
          <a:lstStyle/>
          <a:p>
            <a:pPr algn="r" rtl="1">
              <a:lnSpc>
                <a:spcPct val="95000"/>
              </a:lnSpc>
              <a:spcAft>
                <a:spcPts val="0"/>
              </a:spcAft>
            </a:pPr>
            <a:r>
              <a:rPr sz="1170" b="0" i="0" lang="ar-DZ" rtl="1">
                <a:solidFill>
                  <a:srgbClr val="17263A"/>
                </a:solidFill>
                <a:latin typeface="Cairo"/>
                <a:cs typeface="Cairo"/>
                <a:ea typeface="Cairo"/>
              </a:rPr>
              <a:t>PK رقم المؤلف</a:t>
            </a:r>
            <a:br/>
            <a:r>
              <a:rPr sz="1170" b="0" i="0" lang="ar-DZ" rtl="1">
                <a:solidFill>
                  <a:srgbClr val="17263A"/>
                </a:solidFill>
                <a:latin typeface="Cairo"/>
                <a:cs typeface="Cairo"/>
                <a:ea typeface="Cairo"/>
              </a:rPr>
              <a:t>الاسم • اللقب</a:t>
            </a:r>
          </a:p>
        </p:txBody>
      </p:sp>
      <p:sp>
        <p:nvSpPr>
          <p:cNvPr id="37" name="Rounded Rectangle 36"/>
          <p:cNvSpPr/>
          <p:nvPr/>
        </p:nvSpPr>
        <p:spPr>
          <a:xfrm>
            <a:off x="6167628" y="3872483"/>
            <a:ext cx="2679192" cy="1993392"/>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126480" y="3822191"/>
            <a:ext cx="2679192" cy="1993392"/>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741664" y="3931920"/>
            <a:ext cx="64008" cy="1773936"/>
          </a:xfrm>
          <a:prstGeom prst="rect">
            <a:avLst/>
          </a:prstGeom>
          <a:solidFill>
            <a:srgbClr val="316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72784" y="3922776"/>
            <a:ext cx="2377440" cy="301752"/>
          </a:xfrm>
          <a:prstGeom prst="rect">
            <a:avLst/>
          </a:prstGeom>
          <a:noFill/>
        </p:spPr>
        <p:txBody>
          <a:bodyPr wrap="square" lIns="9144" rIns="9144" tIns="9144" bIns="9144" anchor="ctr">
            <a:spAutoFit/>
          </a:bodyPr>
          <a:lstStyle/>
          <a:p>
            <a:pPr algn="r" rtl="1">
              <a:lnSpc>
                <a:spcPct val="100000"/>
              </a:lnSpc>
              <a:spcAft>
                <a:spcPts val="0"/>
              </a:spcAft>
            </a:pPr>
            <a:r>
              <a:rPr sz="1400" b="1" i="0" lang="ar-DZ" rtl="1">
                <a:solidFill>
                  <a:srgbClr val="10233D"/>
                </a:solidFill>
                <a:latin typeface="Cairo"/>
                <a:cs typeface="Cairo"/>
                <a:ea typeface="Cairo"/>
              </a:rPr>
              <a:t>السنة</a:t>
            </a:r>
          </a:p>
        </p:txBody>
      </p:sp>
      <p:sp>
        <p:nvSpPr>
          <p:cNvPr id="41" name="TextBox 40"/>
          <p:cNvSpPr txBox="1"/>
          <p:nvPr/>
        </p:nvSpPr>
        <p:spPr>
          <a:xfrm>
            <a:off x="6272784" y="4261104"/>
            <a:ext cx="2377440" cy="1472184"/>
          </a:xfrm>
          <a:prstGeom prst="rect">
            <a:avLst/>
          </a:prstGeom>
          <a:noFill/>
        </p:spPr>
        <p:txBody>
          <a:bodyPr wrap="square" lIns="9144" rIns="9144" tIns="9144" bIns="9144" anchor="t">
            <a:spAutoFit/>
          </a:bodyPr>
          <a:lstStyle/>
          <a:p>
            <a:pPr algn="r" rtl="1">
              <a:lnSpc>
                <a:spcPct val="95000"/>
              </a:lnSpc>
              <a:spcAft>
                <a:spcPts val="0"/>
              </a:spcAft>
            </a:pPr>
            <a:r>
              <a:rPr sz="1170" b="0" i="0" lang="ar-DZ" rtl="1">
                <a:solidFill>
                  <a:srgbClr val="17263A"/>
                </a:solidFill>
                <a:latin typeface="Cairo"/>
                <a:cs typeface="Cairo"/>
                <a:ea typeface="Cairo"/>
              </a:rPr>
              <a:t>PK رقم السنة</a:t>
            </a:r>
            <a:br/>
            <a:r>
              <a:rPr sz="1170" b="0" i="0" lang="ar-DZ" rtl="1">
                <a:solidFill>
                  <a:srgbClr val="17263A"/>
                </a:solidFill>
                <a:latin typeface="Cairo"/>
                <a:cs typeface="Cairo"/>
                <a:ea typeface="Cairo"/>
              </a:rPr>
              <a:t>التعيين</a:t>
            </a:r>
          </a:p>
        </p:txBody>
      </p:sp>
      <p:sp>
        <p:nvSpPr>
          <p:cNvPr id="42" name="Rounded Rectangle 41"/>
          <p:cNvSpPr/>
          <p:nvPr/>
        </p:nvSpPr>
        <p:spPr>
          <a:xfrm>
            <a:off x="3332988" y="3872483"/>
            <a:ext cx="2679192" cy="1993392"/>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3291840" y="3822191"/>
            <a:ext cx="2679192" cy="1993392"/>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907024" y="3931920"/>
            <a:ext cx="64008" cy="1773936"/>
          </a:xfrm>
          <a:prstGeom prst="rect">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438144" y="3922776"/>
            <a:ext cx="2377440" cy="301752"/>
          </a:xfrm>
          <a:prstGeom prst="rect">
            <a:avLst/>
          </a:prstGeom>
          <a:noFill/>
        </p:spPr>
        <p:txBody>
          <a:bodyPr wrap="square" lIns="9144" rIns="9144" tIns="9144" bIns="9144" anchor="ctr">
            <a:spAutoFit/>
          </a:bodyPr>
          <a:lstStyle/>
          <a:p>
            <a:pPr algn="r" rtl="1">
              <a:lnSpc>
                <a:spcPct val="100000"/>
              </a:lnSpc>
              <a:spcAft>
                <a:spcPts val="0"/>
              </a:spcAft>
            </a:pPr>
            <a:r>
              <a:rPr sz="1400" b="1" i="0" lang="ar-DZ" rtl="1">
                <a:solidFill>
                  <a:srgbClr val="10233D"/>
                </a:solidFill>
                <a:latin typeface="Cairo"/>
                <a:cs typeface="Cairo"/>
                <a:ea typeface="Cairo"/>
              </a:rPr>
              <a:t>العقوبة</a:t>
            </a:r>
          </a:p>
        </p:txBody>
      </p:sp>
      <p:sp>
        <p:nvSpPr>
          <p:cNvPr id="46" name="TextBox 45"/>
          <p:cNvSpPr txBox="1"/>
          <p:nvPr/>
        </p:nvSpPr>
        <p:spPr>
          <a:xfrm>
            <a:off x="3438144" y="4261104"/>
            <a:ext cx="2377440" cy="1472184"/>
          </a:xfrm>
          <a:prstGeom prst="rect">
            <a:avLst/>
          </a:prstGeom>
          <a:noFill/>
        </p:spPr>
        <p:txBody>
          <a:bodyPr wrap="square" lIns="9144" rIns="9144" tIns="9144" bIns="9144" anchor="t">
            <a:spAutoFit/>
          </a:bodyPr>
          <a:lstStyle/>
          <a:p>
            <a:pPr algn="r" rtl="1">
              <a:lnSpc>
                <a:spcPct val="95000"/>
              </a:lnSpc>
              <a:spcAft>
                <a:spcPts val="0"/>
              </a:spcAft>
            </a:pPr>
            <a:r>
              <a:rPr sz="1170" b="0" i="0" lang="ar-DZ" rtl="1">
                <a:solidFill>
                  <a:srgbClr val="17263A"/>
                </a:solidFill>
                <a:latin typeface="Cairo"/>
                <a:cs typeface="Cairo"/>
                <a:ea typeface="Cairo"/>
              </a:rPr>
              <a:t>PK رقم العقوبة</a:t>
            </a:r>
            <a:br/>
            <a:r>
              <a:rPr sz="1170" b="0" i="0" lang="ar-DZ" rtl="1">
                <a:solidFill>
                  <a:srgbClr val="17263A"/>
                </a:solidFill>
                <a:latin typeface="Cairo"/>
                <a:cs typeface="Cairo"/>
                <a:ea typeface="Cairo"/>
              </a:rPr>
              <a:t>تعيين العقوبة • تاريخها</a:t>
            </a:r>
            <a:br/>
            <a:r>
              <a:rPr sz="1170" b="0" i="0" lang="ar-DZ" rtl="1">
                <a:solidFill>
                  <a:srgbClr val="17263A"/>
                </a:solidFill>
                <a:latin typeface="Cairo"/>
                <a:cs typeface="Cairo"/>
                <a:ea typeface="Cairo"/>
              </a:rPr>
              <a:t>FK رقم الطالب</a:t>
            </a:r>
          </a:p>
        </p:txBody>
      </p:sp>
      <p:sp>
        <p:nvSpPr>
          <p:cNvPr id="47" name="Rounded Rectangle 46"/>
          <p:cNvSpPr/>
          <p:nvPr/>
        </p:nvSpPr>
        <p:spPr>
          <a:xfrm>
            <a:off x="498348" y="3872483"/>
            <a:ext cx="2679192" cy="1993392"/>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457200" y="3822191"/>
            <a:ext cx="2679192" cy="1993392"/>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3072384" y="3931920"/>
            <a:ext cx="64008" cy="1773936"/>
          </a:xfrm>
          <a:prstGeom prst="rect">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03504" y="3922776"/>
            <a:ext cx="2377440" cy="301752"/>
          </a:xfrm>
          <a:prstGeom prst="rect">
            <a:avLst/>
          </a:prstGeom>
          <a:noFill/>
        </p:spPr>
        <p:txBody>
          <a:bodyPr wrap="square" lIns="9144" rIns="9144" tIns="9144" bIns="9144" anchor="ctr">
            <a:spAutoFit/>
          </a:bodyPr>
          <a:lstStyle/>
          <a:p>
            <a:pPr algn="r" rtl="1">
              <a:lnSpc>
                <a:spcPct val="100000"/>
              </a:lnSpc>
              <a:spcAft>
                <a:spcPts val="0"/>
              </a:spcAft>
            </a:pPr>
            <a:r>
              <a:rPr sz="1400" b="1" i="0" lang="ar-DZ" rtl="1">
                <a:solidFill>
                  <a:srgbClr val="10233D"/>
                </a:solidFill>
                <a:latin typeface="Cairo"/>
                <a:cs typeface="Cairo"/>
                <a:ea typeface="Cairo"/>
              </a:rPr>
              <a:t>يستعير</a:t>
            </a:r>
          </a:p>
        </p:txBody>
      </p:sp>
      <p:sp>
        <p:nvSpPr>
          <p:cNvPr id="51" name="TextBox 50"/>
          <p:cNvSpPr txBox="1"/>
          <p:nvPr/>
        </p:nvSpPr>
        <p:spPr>
          <a:xfrm>
            <a:off x="603504" y="4261104"/>
            <a:ext cx="2377440" cy="1472184"/>
          </a:xfrm>
          <a:prstGeom prst="rect">
            <a:avLst/>
          </a:prstGeom>
          <a:noFill/>
        </p:spPr>
        <p:txBody>
          <a:bodyPr wrap="square" lIns="9144" rIns="9144" tIns="9144" bIns="9144" anchor="t">
            <a:spAutoFit/>
          </a:bodyPr>
          <a:lstStyle/>
          <a:p>
            <a:pPr algn="r" rtl="1">
              <a:lnSpc>
                <a:spcPct val="95000"/>
              </a:lnSpc>
              <a:spcAft>
                <a:spcPts val="0"/>
              </a:spcAft>
            </a:pPr>
            <a:r>
              <a:rPr sz="1170" b="0" i="0" lang="ar-DZ" rtl="1">
                <a:solidFill>
                  <a:srgbClr val="17263A"/>
                </a:solidFill>
                <a:latin typeface="Cairo"/>
                <a:cs typeface="Cairo"/>
                <a:ea typeface="Cairo"/>
              </a:rPr>
              <a:t>FK رقم الطالب</a:t>
            </a:r>
            <a:br/>
            <a:r>
              <a:rPr sz="1170" b="0" i="0" lang="ar-DZ" rtl="1">
                <a:solidFill>
                  <a:srgbClr val="17263A"/>
                </a:solidFill>
                <a:latin typeface="Cairo"/>
                <a:cs typeface="Cairo"/>
                <a:ea typeface="Cairo"/>
              </a:rPr>
              <a:t>FK رقم الكتاب</a:t>
            </a:r>
            <a:br/>
            <a:r>
              <a:rPr sz="1170" b="0" i="0" lang="ar-DZ" rtl="1">
                <a:solidFill>
                  <a:srgbClr val="17263A"/>
                </a:solidFill>
                <a:latin typeface="Cairo"/>
                <a:cs typeface="Cairo"/>
                <a:ea typeface="Cairo"/>
              </a:rPr>
              <a:t>تاريخ الإعارة • الإرجاع</a:t>
            </a:r>
          </a:p>
        </p:txBody>
      </p:sp>
      <p:sp>
        <p:nvSpPr>
          <p:cNvPr id="52" name="Rounded Rectangle 51"/>
          <p:cNvSpPr/>
          <p:nvPr/>
        </p:nvSpPr>
        <p:spPr>
          <a:xfrm>
            <a:off x="8759952" y="5961888"/>
            <a:ext cx="1627632" cy="246888"/>
          </a:xfrm>
          <a:prstGeom prst="roundRect">
            <a:avLst/>
          </a:prstGeom>
          <a:solidFill>
            <a:srgbClr val="10233D"/>
          </a:solidFill>
          <a:ln w="889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801100" y="5966459"/>
            <a:ext cx="1545336" cy="237744"/>
          </a:xfrm>
          <a:prstGeom prst="rect">
            <a:avLst/>
          </a:prstGeom>
          <a:noFill/>
        </p:spPr>
        <p:txBody>
          <a:bodyPr wrap="square" lIns="9144" rIns="9144" tIns="9144" bIns="9144" anchor="ctr">
            <a:spAutoFit/>
          </a:bodyPr>
          <a:lstStyle/>
          <a:p>
            <a:pPr algn="ctr" rtl="1">
              <a:lnSpc>
                <a:spcPct val="100000"/>
              </a:lnSpc>
              <a:spcAft>
                <a:spcPts val="0"/>
              </a:spcAft>
            </a:pPr>
            <a:r>
              <a:rPr sz="950" b="1" i="0" lang="ar-DZ" rtl="1">
                <a:solidFill>
                  <a:srgbClr val="FFFFFF"/>
                </a:solidFill>
                <a:latin typeface="Cairo"/>
                <a:cs typeface="Cairo"/>
                <a:ea typeface="Cairo"/>
              </a:rPr>
              <a:t>PK  مفتاح أساسي</a:t>
            </a:r>
          </a:p>
        </p:txBody>
      </p:sp>
      <p:sp>
        <p:nvSpPr>
          <p:cNvPr id="54" name="Rounded Rectangle 53"/>
          <p:cNvSpPr/>
          <p:nvPr/>
        </p:nvSpPr>
        <p:spPr>
          <a:xfrm>
            <a:off x="6867144" y="5961888"/>
            <a:ext cx="1627632" cy="246888"/>
          </a:xfrm>
          <a:prstGeom prst="roundRect">
            <a:avLst/>
          </a:prstGeom>
          <a:solidFill>
            <a:srgbClr val="E7EFFD"/>
          </a:solidFill>
          <a:ln w="8890">
            <a:solidFill>
              <a:srgbClr val="E7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908292" y="5966459"/>
            <a:ext cx="1545336" cy="237744"/>
          </a:xfrm>
          <a:prstGeom prst="rect">
            <a:avLst/>
          </a:prstGeom>
          <a:noFill/>
        </p:spPr>
        <p:txBody>
          <a:bodyPr wrap="square" lIns="9144" rIns="9144" tIns="9144" bIns="9144" anchor="ctr">
            <a:spAutoFit/>
          </a:bodyPr>
          <a:lstStyle/>
          <a:p>
            <a:pPr algn="ctr" rtl="1">
              <a:lnSpc>
                <a:spcPct val="100000"/>
              </a:lnSpc>
              <a:spcAft>
                <a:spcPts val="0"/>
              </a:spcAft>
            </a:pPr>
            <a:r>
              <a:rPr sz="950" b="1" i="0" lang="ar-DZ" rtl="1">
                <a:solidFill>
                  <a:srgbClr val="10233D"/>
                </a:solidFill>
                <a:latin typeface="Cairo"/>
                <a:cs typeface="Cairo"/>
                <a:ea typeface="Cairo"/>
              </a:rPr>
              <a:t>FK  مفتاح أجنبي</a:t>
            </a:r>
          </a:p>
        </p:txBody>
      </p:sp>
      <p:sp>
        <p:nvSpPr>
          <p:cNvPr id="56" name="TextBox 55"/>
          <p:cNvSpPr txBox="1"/>
          <p:nvPr/>
        </p:nvSpPr>
        <p:spPr>
          <a:xfrm>
            <a:off x="749808" y="5934456"/>
            <a:ext cx="5394960" cy="274320"/>
          </a:xfrm>
          <a:prstGeom prst="rect">
            <a:avLst/>
          </a:prstGeom>
          <a:noFill/>
        </p:spPr>
        <p:txBody>
          <a:bodyPr wrap="square" lIns="18288" rIns="18288" tIns="18288" bIns="18288" anchor="ctr">
            <a:spAutoFit/>
          </a:bodyPr>
          <a:lstStyle/>
          <a:p>
            <a:pPr algn="r" rtl="1">
              <a:lnSpc>
                <a:spcPct val="100000"/>
              </a:lnSpc>
              <a:spcAft>
                <a:spcPts val="0"/>
              </a:spcAft>
            </a:pPr>
            <a:r>
              <a:rPr sz="1150" b="0" i="0" lang="ar-DZ" rtl="1">
                <a:solidFill>
                  <a:srgbClr val="617187"/>
                </a:solidFill>
                <a:latin typeface="Cairo"/>
                <a:cs typeface="Cairo"/>
                <a:ea typeface="Cairo"/>
              </a:rPr>
              <a:t>علاقة الربط تحفظ تاريخ الإعارة والإرجاع.</a:t>
            </a:r>
          </a:p>
        </p:txBody>
      </p:sp>
    </p:spTree>
  </p:cSld>
  <p:clrMapOvr>
    <a:masterClrMapping/>
  </p:clrMapOvr>
  <p:transition spd="med" advClick="1">
    <p:wipe dir="l"/>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ounded Rectangle 1"/>
          <p:cNvSpPr/>
          <p:nvPr/>
        </p:nvSpPr>
        <p:spPr>
          <a:xfrm>
            <a:off x="530352" y="292608"/>
            <a:ext cx="2423160" cy="310896"/>
          </a:xfrm>
          <a:prstGeom prst="roundRect">
            <a:avLst/>
          </a:prstGeom>
          <a:solidFill>
            <a:srgbClr val="10233D"/>
          </a:solidFill>
          <a:ln w="889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1500" y="297180"/>
            <a:ext cx="2340864" cy="301752"/>
          </a:xfrm>
          <a:prstGeom prst="rect">
            <a:avLst/>
          </a:prstGeom>
          <a:noFill/>
        </p:spPr>
        <p:txBody>
          <a:bodyPr wrap="square" lIns="9144" rIns="9144" tIns="9144" bIns="9144" anchor="ctr">
            <a:spAutoFit/>
          </a:bodyPr>
          <a:lstStyle/>
          <a:p>
            <a:pPr algn="ctr" rtl="0">
              <a:lnSpc>
                <a:spcPct val="100000"/>
              </a:lnSpc>
              <a:spcAft>
                <a:spcPts val="0"/>
              </a:spcAft>
            </a:pPr>
            <a:r>
              <a:rPr sz="1050" b="1" i="0" lang="en-US">
                <a:solidFill>
                  <a:srgbClr val="FFFFFF"/>
                </a:solidFill>
                <a:latin typeface="Aptos"/>
                <a:cs typeface="Aptos"/>
                <a:ea typeface="Aptos"/>
              </a:rPr>
              <a:t>03  /  التنفيذ التقني</a:t>
            </a:r>
          </a:p>
        </p:txBody>
      </p:sp>
      <p:sp>
        <p:nvSpPr>
          <p:cNvPr id="4" name="Rectangle 3"/>
          <p:cNvSpPr/>
          <p:nvPr/>
        </p:nvSpPr>
        <p:spPr>
          <a:xfrm>
            <a:off x="11594592" y="283464"/>
            <a:ext cx="64008" cy="502920"/>
          </a:xfrm>
          <a:prstGeom prst="rect">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063240" y="182880"/>
            <a:ext cx="8229600" cy="557784"/>
          </a:xfrm>
          <a:prstGeom prst="rect">
            <a:avLst/>
          </a:prstGeom>
          <a:noFill/>
        </p:spPr>
        <p:txBody>
          <a:bodyPr wrap="square" lIns="18288" rIns="18288" tIns="18288" bIns="18288" anchor="ctr">
            <a:spAutoFit/>
          </a:bodyPr>
          <a:lstStyle/>
          <a:p>
            <a:pPr algn="r" rtl="1">
              <a:lnSpc>
                <a:spcPct val="100000"/>
              </a:lnSpc>
              <a:spcAft>
                <a:spcPts val="0"/>
              </a:spcAft>
            </a:pPr>
            <a:r>
              <a:rPr sz="2600" b="1" i="0" lang="ar-DZ" rtl="1">
                <a:solidFill>
                  <a:srgbClr val="10233D"/>
                </a:solidFill>
                <a:latin typeface="Cairo"/>
                <a:cs typeface="Cairo"/>
                <a:ea typeface="Cairo"/>
              </a:rPr>
              <a:t>MPD: تحويل النموذج إلى بنية SQL</a:t>
            </a:r>
          </a:p>
        </p:txBody>
      </p:sp>
      <p:sp>
        <p:nvSpPr>
          <p:cNvPr id="6" name="TextBox 5"/>
          <p:cNvSpPr txBox="1"/>
          <p:nvPr/>
        </p:nvSpPr>
        <p:spPr>
          <a:xfrm>
            <a:off x="3063240" y="731520"/>
            <a:ext cx="8229600" cy="310896"/>
          </a:xfrm>
          <a:prstGeom prst="rect">
            <a:avLst/>
          </a:prstGeom>
          <a:noFill/>
        </p:spPr>
        <p:txBody>
          <a:bodyPr wrap="square" lIns="9144" rIns="9144" tIns="9144" bIns="9144" anchor="ctr">
            <a:spAutoFit/>
          </a:bodyPr>
          <a:lstStyle/>
          <a:p>
            <a:pPr algn="r" rtl="1">
              <a:lnSpc>
                <a:spcPct val="100000"/>
              </a:lnSpc>
              <a:spcAft>
                <a:spcPts val="0"/>
              </a:spcAft>
            </a:pPr>
            <a:r>
              <a:rPr sz="1350" b="0" i="0" lang="ar-DZ" rtl="1">
                <a:solidFill>
                  <a:srgbClr val="617187"/>
                </a:solidFill>
                <a:latin typeface="Cairo"/>
                <a:cs typeface="Cairo"/>
                <a:ea typeface="Cairo"/>
              </a:rPr>
              <a:t>المذكرة تنشئ قاعدة My_Data وجداول ذات مفاتيح وأنواع محددة.</a:t>
            </a:r>
          </a:p>
        </p:txBody>
      </p:sp>
      <p:cxnSp>
        <p:nvCxnSpPr>
          <p:cNvPr id="7" name="Connector 6"/>
          <p:cNvCxnSpPr/>
          <p:nvPr/>
        </p:nvCxnSpPr>
        <p:spPr>
          <a:xfrm>
            <a:off x="530352" y="1170432"/>
            <a:ext cx="11128248" cy="0"/>
          </a:xfrm>
          <a:prstGeom prst="line">
            <a:avLst/>
          </a:prstGeom>
          <a:ln w="10160">
            <a:solidFill>
              <a:srgbClr val="D5DFE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30352" y="6382512"/>
            <a:ext cx="11128248" cy="0"/>
          </a:xfrm>
          <a:prstGeom prst="line">
            <a:avLst/>
          </a:prstGeom>
          <a:ln w="8890">
            <a:solidFill>
              <a:srgbClr val="D5DFEA"/>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03504" y="6437376"/>
            <a:ext cx="8778240" cy="210312"/>
          </a:xfrm>
          <a:prstGeom prst="rect">
            <a:avLst/>
          </a:prstGeom>
          <a:noFill/>
        </p:spPr>
        <p:txBody>
          <a:bodyPr wrap="square" lIns="0" rIns="0" tIns="0" bIns="0" anchor="ctr">
            <a:spAutoFit/>
          </a:bodyPr>
          <a:lstStyle/>
          <a:p>
            <a:pPr algn="l" rtl="1">
              <a:lnSpc>
                <a:spcPct val="100000"/>
              </a:lnSpc>
              <a:spcAft>
                <a:spcPts val="0"/>
              </a:spcAft>
            </a:pPr>
            <a:r>
              <a:rPr sz="850" b="0" i="0" lang="ar-DZ" rtl="1">
                <a:solidFill>
                  <a:srgbClr val="617187"/>
                </a:solidFill>
                <a:latin typeface="Cairo"/>
                <a:cs typeface="Cairo"/>
                <a:ea typeface="Cairo"/>
              </a:rPr>
              <a:t>المصدر: المذكرة، الفصل الثالث، ص 59–67، 71–74</a:t>
            </a:r>
          </a:p>
        </p:txBody>
      </p:sp>
      <p:sp>
        <p:nvSpPr>
          <p:cNvPr id="10" name="TextBox 9"/>
          <p:cNvSpPr txBox="1"/>
          <p:nvPr/>
        </p:nvSpPr>
        <p:spPr>
          <a:xfrm>
            <a:off x="10725912" y="6409944"/>
            <a:ext cx="932688" cy="228600"/>
          </a:xfrm>
          <a:prstGeom prst="rect">
            <a:avLst/>
          </a:prstGeom>
          <a:noFill/>
        </p:spPr>
        <p:txBody>
          <a:bodyPr wrap="square" lIns="0" rIns="0" tIns="0" bIns="0" anchor="ctr">
            <a:spAutoFit/>
          </a:bodyPr>
          <a:lstStyle/>
          <a:p>
            <a:pPr algn="l" rtl="0">
              <a:lnSpc>
                <a:spcPct val="100000"/>
              </a:lnSpc>
              <a:spcAft>
                <a:spcPts val="0"/>
              </a:spcAft>
            </a:pPr>
            <a:r>
              <a:rPr sz="950" b="1" i="0" lang="en-US">
                <a:solidFill>
                  <a:srgbClr val="10233D"/>
                </a:solidFill>
                <a:latin typeface="Aptos"/>
                <a:cs typeface="Aptos"/>
                <a:ea typeface="Aptos"/>
              </a:rPr>
              <a:t>13 / 20</a:t>
            </a:r>
          </a:p>
        </p:txBody>
      </p:sp>
      <p:sp>
        <p:nvSpPr>
          <p:cNvPr id="11" name="Rectangle 10"/>
          <p:cNvSpPr/>
          <p:nvPr/>
        </p:nvSpPr>
        <p:spPr>
          <a:xfrm>
            <a:off x="9400032" y="6519672"/>
            <a:ext cx="742950" cy="32004"/>
          </a:xfrm>
          <a:prstGeom prst="rect">
            <a:avLst/>
          </a:prstGeom>
          <a:solidFill>
            <a:srgbClr val="316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69964" y="1495044"/>
            <a:ext cx="4992624" cy="4498848"/>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528816" y="1444752"/>
            <a:ext cx="4992624" cy="4498848"/>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682496"/>
            <a:ext cx="4389120" cy="347472"/>
          </a:xfrm>
          <a:prstGeom prst="rect">
            <a:avLst/>
          </a:prstGeom>
          <a:noFill/>
        </p:spPr>
        <p:txBody>
          <a:bodyPr wrap="square" lIns="18288" rIns="18288" tIns="18288" bIns="18288" anchor="ctr">
            <a:spAutoFit/>
          </a:bodyPr>
          <a:lstStyle/>
          <a:p>
            <a:pPr algn="r" rtl="1">
              <a:lnSpc>
                <a:spcPct val="100000"/>
              </a:lnSpc>
              <a:spcAft>
                <a:spcPts val="0"/>
              </a:spcAft>
            </a:pPr>
            <a:r>
              <a:rPr sz="1700" b="1" i="0" lang="ar-DZ" rtl="1">
                <a:solidFill>
                  <a:srgbClr val="10233D"/>
                </a:solidFill>
                <a:latin typeface="Cairo"/>
                <a:cs typeface="Cairo"/>
                <a:ea typeface="Cairo"/>
              </a:rPr>
              <a:t>قواعد التحويل الفيزيائي</a:t>
            </a:r>
          </a:p>
        </p:txBody>
      </p:sp>
      <p:sp>
        <p:nvSpPr>
          <p:cNvPr id="15" name="Rounded Rectangle 14"/>
          <p:cNvSpPr/>
          <p:nvPr/>
        </p:nvSpPr>
        <p:spPr>
          <a:xfrm>
            <a:off x="9848088" y="2240280"/>
            <a:ext cx="1078992" cy="310896"/>
          </a:xfrm>
          <a:prstGeom prst="roundRect">
            <a:avLst/>
          </a:prstGeom>
          <a:solidFill>
            <a:srgbClr val="E7EFFD"/>
          </a:solidFill>
          <a:ln w="8890">
            <a:solidFill>
              <a:srgbClr val="E7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89236" y="2244852"/>
            <a:ext cx="996695" cy="301752"/>
          </a:xfrm>
          <a:prstGeom prst="rect">
            <a:avLst/>
          </a:prstGeom>
          <a:noFill/>
        </p:spPr>
        <p:txBody>
          <a:bodyPr wrap="square" lIns="9144" rIns="9144" tIns="9144" bIns="9144" anchor="ctr">
            <a:spAutoFit/>
          </a:bodyPr>
          <a:lstStyle/>
          <a:p>
            <a:pPr algn="ctr" rtl="1">
              <a:lnSpc>
                <a:spcPct val="100000"/>
              </a:lnSpc>
              <a:spcAft>
                <a:spcPts val="0"/>
              </a:spcAft>
            </a:pPr>
            <a:r>
              <a:rPr sz="1150" b="1" i="0" lang="ar-DZ" rtl="1">
                <a:solidFill>
                  <a:srgbClr val="10233D"/>
                </a:solidFill>
                <a:latin typeface="Cairo"/>
                <a:cs typeface="Cairo"/>
                <a:ea typeface="Cairo"/>
              </a:rPr>
              <a:t>كيان</a:t>
            </a:r>
          </a:p>
        </p:txBody>
      </p:sp>
      <p:cxnSp>
        <p:nvCxnSpPr>
          <p:cNvPr id="17" name="Connector 16"/>
          <p:cNvCxnSpPr/>
          <p:nvPr/>
        </p:nvCxnSpPr>
        <p:spPr>
          <a:xfrm flipH="1">
            <a:off x="9262872" y="2395728"/>
            <a:ext cx="356616" cy="0"/>
          </a:xfrm>
          <a:prstGeom prst="line">
            <a:avLst/>
          </a:prstGeom>
          <a:ln w="21590">
            <a:solidFill>
              <a:srgbClr val="DCA74C"/>
            </a:solidFill>
          </a:ln>
        </p:spPr>
        <p:style>
          <a:lnRef idx="2">
            <a:schemeClr val="accent1"/>
          </a:lnRef>
          <a:fillRef idx="0">
            <a:schemeClr val="accent1"/>
          </a:fillRef>
          <a:effectRef idx="1">
            <a:schemeClr val="accent1"/>
          </a:effectRef>
          <a:fontRef idx="minor">
            <a:schemeClr val="tx1"/>
          </a:fontRef>
        </p:style>
      </p:cxnSp>
      <p:sp>
        <p:nvSpPr>
          <p:cNvPr id="18" name="Isosceles Triangle 17"/>
          <p:cNvSpPr/>
          <p:nvPr/>
        </p:nvSpPr>
        <p:spPr>
          <a:xfrm rot="16200000">
            <a:off x="9212580" y="2345436"/>
            <a:ext cx="100584" cy="100584"/>
          </a:xfrm>
          <a:prstGeom prst="triangle">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22592" y="2231136"/>
            <a:ext cx="2011680" cy="320040"/>
          </a:xfrm>
          <a:prstGeom prst="rect">
            <a:avLst/>
          </a:prstGeom>
          <a:noFill/>
        </p:spPr>
        <p:txBody>
          <a:bodyPr wrap="square" lIns="18288" rIns="18288" tIns="18288" bIns="18288" anchor="ctr">
            <a:spAutoFit/>
          </a:bodyPr>
          <a:lstStyle/>
          <a:p>
            <a:pPr algn="r" rtl="0">
              <a:lnSpc>
                <a:spcPct val="100000"/>
              </a:lnSpc>
              <a:spcAft>
                <a:spcPts val="0"/>
              </a:spcAft>
            </a:pPr>
            <a:r>
              <a:rPr sz="1300" b="1" i="0" lang="en-US">
                <a:solidFill>
                  <a:srgbClr val="17263A"/>
                </a:solidFill>
                <a:latin typeface="Aptos"/>
                <a:cs typeface="Aptos"/>
                <a:ea typeface="Aptos"/>
              </a:rPr>
              <a:t>جدول</a:t>
            </a:r>
          </a:p>
        </p:txBody>
      </p:sp>
      <p:sp>
        <p:nvSpPr>
          <p:cNvPr id="20" name="Rounded Rectangle 19"/>
          <p:cNvSpPr/>
          <p:nvPr/>
        </p:nvSpPr>
        <p:spPr>
          <a:xfrm>
            <a:off x="9848088" y="2862072"/>
            <a:ext cx="1078992" cy="310896"/>
          </a:xfrm>
          <a:prstGeom prst="roundRect">
            <a:avLst/>
          </a:prstGeom>
          <a:solidFill>
            <a:srgbClr val="E7EFFD"/>
          </a:solidFill>
          <a:ln w="8890">
            <a:solidFill>
              <a:srgbClr val="E7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89236" y="2866644"/>
            <a:ext cx="996695" cy="301752"/>
          </a:xfrm>
          <a:prstGeom prst="rect">
            <a:avLst/>
          </a:prstGeom>
          <a:noFill/>
        </p:spPr>
        <p:txBody>
          <a:bodyPr wrap="square" lIns="9144" rIns="9144" tIns="9144" bIns="9144" anchor="ctr">
            <a:spAutoFit/>
          </a:bodyPr>
          <a:lstStyle/>
          <a:p>
            <a:pPr algn="ctr" rtl="1">
              <a:lnSpc>
                <a:spcPct val="100000"/>
              </a:lnSpc>
              <a:spcAft>
                <a:spcPts val="0"/>
              </a:spcAft>
            </a:pPr>
            <a:r>
              <a:rPr sz="1150" b="1" i="0" lang="ar-DZ" rtl="1">
                <a:solidFill>
                  <a:srgbClr val="10233D"/>
                </a:solidFill>
                <a:latin typeface="Cairo"/>
                <a:cs typeface="Cairo"/>
                <a:ea typeface="Cairo"/>
              </a:rPr>
              <a:t>خاصية</a:t>
            </a:r>
          </a:p>
        </p:txBody>
      </p:sp>
      <p:cxnSp>
        <p:nvCxnSpPr>
          <p:cNvPr id="22" name="Connector 21"/>
          <p:cNvCxnSpPr/>
          <p:nvPr/>
        </p:nvCxnSpPr>
        <p:spPr>
          <a:xfrm flipH="1">
            <a:off x="9262872" y="3017520"/>
            <a:ext cx="356616" cy="0"/>
          </a:xfrm>
          <a:prstGeom prst="line">
            <a:avLst/>
          </a:prstGeom>
          <a:ln w="21590">
            <a:solidFill>
              <a:srgbClr val="DCA74C"/>
            </a:solidFill>
          </a:ln>
        </p:spPr>
        <p:style>
          <a:lnRef idx="2">
            <a:schemeClr val="accent1"/>
          </a:lnRef>
          <a:fillRef idx="0">
            <a:schemeClr val="accent1"/>
          </a:fillRef>
          <a:effectRef idx="1">
            <a:schemeClr val="accent1"/>
          </a:effectRef>
          <a:fontRef idx="minor">
            <a:schemeClr val="tx1"/>
          </a:fontRef>
        </p:style>
      </p:cxnSp>
      <p:sp>
        <p:nvSpPr>
          <p:cNvPr id="23" name="Isosceles Triangle 22"/>
          <p:cNvSpPr/>
          <p:nvPr/>
        </p:nvSpPr>
        <p:spPr>
          <a:xfrm rot="16200000">
            <a:off x="9212580" y="2967228"/>
            <a:ext cx="100584" cy="100584"/>
          </a:xfrm>
          <a:prstGeom prst="triangle">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22592" y="2852928"/>
            <a:ext cx="2011680" cy="320040"/>
          </a:xfrm>
          <a:prstGeom prst="rect">
            <a:avLst/>
          </a:prstGeom>
          <a:noFill/>
        </p:spPr>
        <p:txBody>
          <a:bodyPr wrap="square" lIns="18288" rIns="18288" tIns="18288" bIns="18288" anchor="ctr">
            <a:spAutoFit/>
          </a:bodyPr>
          <a:lstStyle/>
          <a:p>
            <a:pPr algn="r" rtl="0">
              <a:lnSpc>
                <a:spcPct val="100000"/>
              </a:lnSpc>
              <a:spcAft>
                <a:spcPts val="0"/>
              </a:spcAft>
            </a:pPr>
            <a:r>
              <a:rPr sz="1300" b="1" i="0" lang="en-US">
                <a:solidFill>
                  <a:srgbClr val="17263A"/>
                </a:solidFill>
                <a:latin typeface="Aptos"/>
                <a:cs typeface="Aptos"/>
                <a:ea typeface="Aptos"/>
              </a:rPr>
              <a:t>حقل</a:t>
            </a:r>
          </a:p>
        </p:txBody>
      </p:sp>
      <p:sp>
        <p:nvSpPr>
          <p:cNvPr id="25" name="Rounded Rectangle 24"/>
          <p:cNvSpPr/>
          <p:nvPr/>
        </p:nvSpPr>
        <p:spPr>
          <a:xfrm>
            <a:off x="9848088" y="3483864"/>
            <a:ext cx="1078992" cy="310896"/>
          </a:xfrm>
          <a:prstGeom prst="roundRect">
            <a:avLst/>
          </a:prstGeom>
          <a:solidFill>
            <a:srgbClr val="E7EFFD"/>
          </a:solidFill>
          <a:ln w="8890">
            <a:solidFill>
              <a:srgbClr val="E7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89236" y="3488436"/>
            <a:ext cx="996695" cy="301752"/>
          </a:xfrm>
          <a:prstGeom prst="rect">
            <a:avLst/>
          </a:prstGeom>
          <a:noFill/>
        </p:spPr>
        <p:txBody>
          <a:bodyPr wrap="square" lIns="9144" rIns="9144" tIns="9144" bIns="9144" anchor="ctr">
            <a:spAutoFit/>
          </a:bodyPr>
          <a:lstStyle/>
          <a:p>
            <a:pPr algn="ctr" rtl="1">
              <a:lnSpc>
                <a:spcPct val="100000"/>
              </a:lnSpc>
              <a:spcAft>
                <a:spcPts val="0"/>
              </a:spcAft>
            </a:pPr>
            <a:r>
              <a:rPr sz="1150" b="1" i="0" lang="ar-DZ" rtl="1">
                <a:solidFill>
                  <a:srgbClr val="10233D"/>
                </a:solidFill>
                <a:latin typeface="Cairo"/>
                <a:cs typeface="Cairo"/>
                <a:ea typeface="Cairo"/>
              </a:rPr>
              <a:t>المعرف</a:t>
            </a:r>
          </a:p>
        </p:txBody>
      </p:sp>
      <p:cxnSp>
        <p:nvCxnSpPr>
          <p:cNvPr id="27" name="Connector 26"/>
          <p:cNvCxnSpPr/>
          <p:nvPr/>
        </p:nvCxnSpPr>
        <p:spPr>
          <a:xfrm flipH="1">
            <a:off x="9262872" y="3639312"/>
            <a:ext cx="356616" cy="0"/>
          </a:xfrm>
          <a:prstGeom prst="line">
            <a:avLst/>
          </a:prstGeom>
          <a:ln w="21590">
            <a:solidFill>
              <a:srgbClr val="DCA74C"/>
            </a:solidFill>
          </a:ln>
        </p:spPr>
        <p:style>
          <a:lnRef idx="2">
            <a:schemeClr val="accent1"/>
          </a:lnRef>
          <a:fillRef idx="0">
            <a:schemeClr val="accent1"/>
          </a:fillRef>
          <a:effectRef idx="1">
            <a:schemeClr val="accent1"/>
          </a:effectRef>
          <a:fontRef idx="minor">
            <a:schemeClr val="tx1"/>
          </a:fontRef>
        </p:style>
      </p:cxnSp>
      <p:sp>
        <p:nvSpPr>
          <p:cNvPr id="28" name="Isosceles Triangle 27"/>
          <p:cNvSpPr/>
          <p:nvPr/>
        </p:nvSpPr>
        <p:spPr>
          <a:xfrm rot="16200000">
            <a:off x="9212580" y="3589020"/>
            <a:ext cx="100584" cy="100584"/>
          </a:xfrm>
          <a:prstGeom prst="triangle">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022592" y="3474720"/>
            <a:ext cx="2011680" cy="320040"/>
          </a:xfrm>
          <a:prstGeom prst="rect">
            <a:avLst/>
          </a:prstGeom>
          <a:noFill/>
        </p:spPr>
        <p:txBody>
          <a:bodyPr wrap="square" lIns="18288" rIns="18288" tIns="18288" bIns="18288" anchor="ctr">
            <a:spAutoFit/>
          </a:bodyPr>
          <a:lstStyle/>
          <a:p>
            <a:pPr algn="r" rtl="0">
              <a:lnSpc>
                <a:spcPct val="100000"/>
              </a:lnSpc>
              <a:spcAft>
                <a:spcPts val="0"/>
              </a:spcAft>
            </a:pPr>
            <a:r>
              <a:rPr sz="1300" b="1" i="0" lang="en-US">
                <a:solidFill>
                  <a:srgbClr val="17263A"/>
                </a:solidFill>
                <a:latin typeface="Aptos"/>
                <a:cs typeface="Aptos"/>
                <a:ea typeface="Aptos"/>
              </a:rPr>
              <a:t>PRIMARY KEY</a:t>
            </a:r>
          </a:p>
        </p:txBody>
      </p:sp>
      <p:sp>
        <p:nvSpPr>
          <p:cNvPr id="30" name="Rounded Rectangle 29"/>
          <p:cNvSpPr/>
          <p:nvPr/>
        </p:nvSpPr>
        <p:spPr>
          <a:xfrm>
            <a:off x="9848088" y="4105656"/>
            <a:ext cx="1078992" cy="310896"/>
          </a:xfrm>
          <a:prstGeom prst="roundRect">
            <a:avLst/>
          </a:prstGeom>
          <a:solidFill>
            <a:srgbClr val="E7EFFD"/>
          </a:solidFill>
          <a:ln w="8890">
            <a:solidFill>
              <a:srgbClr val="E7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89236" y="4110228"/>
            <a:ext cx="996695" cy="301752"/>
          </a:xfrm>
          <a:prstGeom prst="rect">
            <a:avLst/>
          </a:prstGeom>
          <a:noFill/>
        </p:spPr>
        <p:txBody>
          <a:bodyPr wrap="square" lIns="9144" rIns="9144" tIns="9144" bIns="9144" anchor="ctr">
            <a:spAutoFit/>
          </a:bodyPr>
          <a:lstStyle/>
          <a:p>
            <a:pPr algn="ctr" rtl="1">
              <a:lnSpc>
                <a:spcPct val="100000"/>
              </a:lnSpc>
              <a:spcAft>
                <a:spcPts val="0"/>
              </a:spcAft>
            </a:pPr>
            <a:r>
              <a:rPr sz="1150" b="1" i="0" lang="ar-DZ" rtl="1">
                <a:solidFill>
                  <a:srgbClr val="10233D"/>
                </a:solidFill>
                <a:latin typeface="Cairo"/>
                <a:cs typeface="Cairo"/>
                <a:ea typeface="Cairo"/>
              </a:rPr>
              <a:t>العلاقة</a:t>
            </a:r>
          </a:p>
        </p:txBody>
      </p:sp>
      <p:cxnSp>
        <p:nvCxnSpPr>
          <p:cNvPr id="32" name="Connector 31"/>
          <p:cNvCxnSpPr/>
          <p:nvPr/>
        </p:nvCxnSpPr>
        <p:spPr>
          <a:xfrm flipH="1">
            <a:off x="9262872" y="4261104"/>
            <a:ext cx="356616" cy="0"/>
          </a:xfrm>
          <a:prstGeom prst="line">
            <a:avLst/>
          </a:prstGeom>
          <a:ln w="21590">
            <a:solidFill>
              <a:srgbClr val="DCA74C"/>
            </a:solidFill>
          </a:ln>
        </p:spPr>
        <p:style>
          <a:lnRef idx="2">
            <a:schemeClr val="accent1"/>
          </a:lnRef>
          <a:fillRef idx="0">
            <a:schemeClr val="accent1"/>
          </a:fillRef>
          <a:effectRef idx="1">
            <a:schemeClr val="accent1"/>
          </a:effectRef>
          <a:fontRef idx="minor">
            <a:schemeClr val="tx1"/>
          </a:fontRef>
        </p:style>
      </p:cxnSp>
      <p:sp>
        <p:nvSpPr>
          <p:cNvPr id="33" name="Isosceles Triangle 32"/>
          <p:cNvSpPr/>
          <p:nvPr/>
        </p:nvSpPr>
        <p:spPr>
          <a:xfrm rot="16200000">
            <a:off x="9212580" y="4210812"/>
            <a:ext cx="100584" cy="100584"/>
          </a:xfrm>
          <a:prstGeom prst="triangle">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22592" y="4096512"/>
            <a:ext cx="2011680" cy="320040"/>
          </a:xfrm>
          <a:prstGeom prst="rect">
            <a:avLst/>
          </a:prstGeom>
          <a:noFill/>
        </p:spPr>
        <p:txBody>
          <a:bodyPr wrap="square" lIns="18288" rIns="18288" tIns="18288" bIns="18288" anchor="ctr">
            <a:spAutoFit/>
          </a:bodyPr>
          <a:lstStyle/>
          <a:p>
            <a:pPr algn="r" rtl="0">
              <a:lnSpc>
                <a:spcPct val="100000"/>
              </a:lnSpc>
              <a:spcAft>
                <a:spcPts val="0"/>
              </a:spcAft>
            </a:pPr>
            <a:r>
              <a:rPr sz="1300" b="1" i="0" lang="en-US">
                <a:solidFill>
                  <a:srgbClr val="17263A"/>
                </a:solidFill>
                <a:latin typeface="Aptos"/>
                <a:cs typeface="Aptos"/>
                <a:ea typeface="Aptos"/>
              </a:rPr>
              <a:t>FOREIGN KEY</a:t>
            </a:r>
          </a:p>
        </p:txBody>
      </p:sp>
      <p:cxnSp>
        <p:nvCxnSpPr>
          <p:cNvPr id="35" name="Connector 34"/>
          <p:cNvCxnSpPr/>
          <p:nvPr/>
        </p:nvCxnSpPr>
        <p:spPr>
          <a:xfrm>
            <a:off x="6858000" y="4846320"/>
            <a:ext cx="4297680" cy="0"/>
          </a:xfrm>
          <a:prstGeom prst="line">
            <a:avLst/>
          </a:prstGeom>
          <a:ln w="11430">
            <a:solidFill>
              <a:srgbClr val="D5DFE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848856" y="5010912"/>
            <a:ext cx="4416552" cy="265176"/>
          </a:xfrm>
          <a:prstGeom prst="rect">
            <a:avLst/>
          </a:prstGeom>
          <a:noFill/>
        </p:spPr>
        <p:txBody>
          <a:bodyPr wrap="square" lIns="18288" rIns="18288" tIns="18288" bIns="18288" anchor="ctr">
            <a:spAutoFit/>
          </a:bodyPr>
          <a:lstStyle/>
          <a:p>
            <a:pPr algn="r" rtl="1">
              <a:lnSpc>
                <a:spcPct val="100000"/>
              </a:lnSpc>
              <a:spcAft>
                <a:spcPts val="0"/>
              </a:spcAft>
            </a:pPr>
            <a:r>
              <a:rPr sz="1250" b="1" i="0" lang="ar-DZ" rtl="1">
                <a:solidFill>
                  <a:srgbClr val="3167D5"/>
                </a:solidFill>
                <a:latin typeface="Cairo"/>
                <a:cs typeface="Cairo"/>
                <a:ea typeface="Cairo"/>
              </a:rPr>
              <a:t>أنواع أمثلة من الجداول</a:t>
            </a:r>
          </a:p>
        </p:txBody>
      </p:sp>
      <p:sp>
        <p:nvSpPr>
          <p:cNvPr id="37" name="Rounded Rectangle 36"/>
          <p:cNvSpPr/>
          <p:nvPr/>
        </p:nvSpPr>
        <p:spPr>
          <a:xfrm>
            <a:off x="9857232" y="5394960"/>
            <a:ext cx="713232" cy="310896"/>
          </a:xfrm>
          <a:prstGeom prst="roundRect">
            <a:avLst/>
          </a:prstGeom>
          <a:solidFill>
            <a:srgbClr val="10233D"/>
          </a:solidFill>
          <a:ln w="889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898380" y="5399532"/>
            <a:ext cx="630936" cy="301752"/>
          </a:xfrm>
          <a:prstGeom prst="rect">
            <a:avLst/>
          </a:prstGeom>
          <a:noFill/>
        </p:spPr>
        <p:txBody>
          <a:bodyPr wrap="square" lIns="9144" rIns="9144" tIns="9144" bIns="9144" anchor="ctr">
            <a:spAutoFit/>
          </a:bodyPr>
          <a:lstStyle/>
          <a:p>
            <a:pPr algn="ctr" rtl="0">
              <a:lnSpc>
                <a:spcPct val="100000"/>
              </a:lnSpc>
              <a:spcAft>
                <a:spcPts val="0"/>
              </a:spcAft>
            </a:pPr>
            <a:r>
              <a:rPr sz="1000" b="1" i="0" lang="en-US">
                <a:solidFill>
                  <a:srgbClr val="FFFFFF"/>
                </a:solidFill>
                <a:latin typeface="Consolas"/>
                <a:cs typeface="Aptos"/>
                <a:ea typeface="Aptos"/>
              </a:rPr>
              <a:t>INT</a:t>
            </a:r>
          </a:p>
        </p:txBody>
      </p:sp>
      <p:sp>
        <p:nvSpPr>
          <p:cNvPr id="39" name="Rounded Rectangle 38"/>
          <p:cNvSpPr/>
          <p:nvPr/>
        </p:nvSpPr>
        <p:spPr>
          <a:xfrm>
            <a:off x="8796528" y="5394960"/>
            <a:ext cx="960120" cy="310896"/>
          </a:xfrm>
          <a:prstGeom prst="roundRect">
            <a:avLst/>
          </a:prstGeom>
          <a:solidFill>
            <a:srgbClr val="10233D"/>
          </a:solidFill>
          <a:ln w="889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37676" y="5399532"/>
            <a:ext cx="877824" cy="301752"/>
          </a:xfrm>
          <a:prstGeom prst="rect">
            <a:avLst/>
          </a:prstGeom>
          <a:noFill/>
        </p:spPr>
        <p:txBody>
          <a:bodyPr wrap="square" lIns="9144" rIns="9144" tIns="9144" bIns="9144" anchor="ctr">
            <a:spAutoFit/>
          </a:bodyPr>
          <a:lstStyle/>
          <a:p>
            <a:pPr algn="ctr" rtl="0">
              <a:lnSpc>
                <a:spcPct val="100000"/>
              </a:lnSpc>
              <a:spcAft>
                <a:spcPts val="0"/>
              </a:spcAft>
            </a:pPr>
            <a:r>
              <a:rPr sz="950" b="1" i="0" lang="en-US">
                <a:solidFill>
                  <a:srgbClr val="FFFFFF"/>
                </a:solidFill>
                <a:latin typeface="Consolas"/>
                <a:cs typeface="Aptos"/>
                <a:ea typeface="Aptos"/>
              </a:rPr>
              <a:t>NVARCHAR</a:t>
            </a:r>
          </a:p>
        </p:txBody>
      </p:sp>
      <p:sp>
        <p:nvSpPr>
          <p:cNvPr id="41" name="Rounded Rectangle 40"/>
          <p:cNvSpPr/>
          <p:nvPr/>
        </p:nvSpPr>
        <p:spPr>
          <a:xfrm>
            <a:off x="7799831" y="5394960"/>
            <a:ext cx="713232" cy="310896"/>
          </a:xfrm>
          <a:prstGeom prst="roundRect">
            <a:avLst/>
          </a:prstGeom>
          <a:solidFill>
            <a:srgbClr val="10233D"/>
          </a:solidFill>
          <a:ln w="889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840979" y="5399532"/>
            <a:ext cx="630936" cy="301752"/>
          </a:xfrm>
          <a:prstGeom prst="rect">
            <a:avLst/>
          </a:prstGeom>
          <a:noFill/>
        </p:spPr>
        <p:txBody>
          <a:bodyPr wrap="square" lIns="9144" rIns="9144" tIns="9144" bIns="9144" anchor="ctr">
            <a:spAutoFit/>
          </a:bodyPr>
          <a:lstStyle/>
          <a:p>
            <a:pPr algn="ctr" rtl="0">
              <a:lnSpc>
                <a:spcPct val="100000"/>
              </a:lnSpc>
              <a:spcAft>
                <a:spcPts val="0"/>
              </a:spcAft>
            </a:pPr>
            <a:r>
              <a:rPr sz="1000" b="1" i="0" lang="en-US">
                <a:solidFill>
                  <a:srgbClr val="FFFFFF"/>
                </a:solidFill>
                <a:latin typeface="Consolas"/>
                <a:cs typeface="Aptos"/>
                <a:ea typeface="Aptos"/>
              </a:rPr>
              <a:t>DATE</a:t>
            </a:r>
          </a:p>
        </p:txBody>
      </p:sp>
      <p:sp>
        <p:nvSpPr>
          <p:cNvPr id="43" name="Rounded Rectangle 42"/>
          <p:cNvSpPr/>
          <p:nvPr/>
        </p:nvSpPr>
        <p:spPr>
          <a:xfrm>
            <a:off x="658368" y="1444752"/>
            <a:ext cx="5458968" cy="4498848"/>
          </a:xfrm>
          <a:prstGeom prst="roundRect">
            <a:avLst/>
          </a:prstGeom>
          <a:solidFill>
            <a:srgbClr val="10233D"/>
          </a:solidFill>
          <a:ln w="1016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3913632" y="1673352"/>
            <a:ext cx="1810512" cy="310896"/>
          </a:xfrm>
          <a:prstGeom prst="roundRect">
            <a:avLst/>
          </a:prstGeom>
          <a:solidFill>
            <a:srgbClr val="244A78"/>
          </a:solidFill>
          <a:ln w="8890">
            <a:solidFill>
              <a:srgbClr val="24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954780" y="1677924"/>
            <a:ext cx="1728216" cy="301752"/>
          </a:xfrm>
          <a:prstGeom prst="rect">
            <a:avLst/>
          </a:prstGeom>
          <a:noFill/>
        </p:spPr>
        <p:txBody>
          <a:bodyPr wrap="square" lIns="9144" rIns="9144" tIns="9144" bIns="9144" anchor="ctr">
            <a:spAutoFit/>
          </a:bodyPr>
          <a:lstStyle/>
          <a:p>
            <a:pPr algn="ctr" rtl="0">
              <a:lnSpc>
                <a:spcPct val="100000"/>
              </a:lnSpc>
              <a:spcAft>
                <a:spcPts val="0"/>
              </a:spcAft>
            </a:pPr>
            <a:r>
              <a:rPr sz="1019" b="1" i="0" lang="en-US">
                <a:solidFill>
                  <a:srgbClr val="FFFFFF"/>
                </a:solidFill>
                <a:latin typeface="Consolas"/>
                <a:cs typeface="Aptos"/>
                <a:ea typeface="Aptos"/>
              </a:rPr>
              <a:t>SQL  /  My_Data</a:t>
            </a:r>
          </a:p>
        </p:txBody>
      </p:sp>
      <p:sp>
        <p:nvSpPr>
          <p:cNvPr id="46" name="TextBox 45"/>
          <p:cNvSpPr txBox="1"/>
          <p:nvPr/>
        </p:nvSpPr>
        <p:spPr>
          <a:xfrm>
            <a:off x="960120" y="1719072"/>
            <a:ext cx="2670048" cy="274320"/>
          </a:xfrm>
          <a:prstGeom prst="rect">
            <a:avLst/>
          </a:prstGeom>
          <a:noFill/>
        </p:spPr>
        <p:txBody>
          <a:bodyPr wrap="square" lIns="18288" rIns="18288" tIns="18288" bIns="18288" anchor="ctr">
            <a:spAutoFit/>
          </a:bodyPr>
          <a:lstStyle/>
          <a:p>
            <a:pPr algn="r" rtl="1">
              <a:lnSpc>
                <a:spcPct val="100000"/>
              </a:lnSpc>
              <a:spcAft>
                <a:spcPts val="0"/>
              </a:spcAft>
            </a:pPr>
            <a:r>
              <a:rPr sz="1300" b="1" i="0" lang="ar-DZ" rtl="1">
                <a:solidFill>
                  <a:srgbClr val="DCA74C"/>
                </a:solidFill>
                <a:latin typeface="Cairo"/>
                <a:cs typeface="Cairo"/>
                <a:ea typeface="Cairo"/>
              </a:rPr>
              <a:t>مثال من جدول الكتب</a:t>
            </a:r>
          </a:p>
        </p:txBody>
      </p:sp>
      <p:sp>
        <p:nvSpPr>
          <p:cNvPr id="47" name="TextBox 46"/>
          <p:cNvSpPr txBox="1"/>
          <p:nvPr/>
        </p:nvSpPr>
        <p:spPr>
          <a:xfrm>
            <a:off x="950976" y="2212848"/>
            <a:ext cx="4773168" cy="3438144"/>
          </a:xfrm>
          <a:prstGeom prst="rect">
            <a:avLst/>
          </a:prstGeom>
          <a:noFill/>
        </p:spPr>
        <p:txBody>
          <a:bodyPr wrap="square" lIns="18288" rIns="18288" tIns="18288" bIns="18288" anchor="t">
            <a:spAutoFit/>
          </a:bodyPr>
          <a:lstStyle/>
          <a:p>
            <a:pPr algn="l" rtl="0">
              <a:lnSpc>
                <a:spcPct val="95000"/>
              </a:lnSpc>
              <a:spcAft>
                <a:spcPts val="0"/>
              </a:spcAft>
            </a:pPr>
            <a:r>
              <a:rPr sz="1130" b="0" i="0" lang="en-US">
                <a:solidFill>
                  <a:srgbClr val="E5EDF7"/>
                </a:solidFill>
                <a:latin typeface="Consolas"/>
                <a:cs typeface="Aptos"/>
                <a:ea typeface="Aptos"/>
              </a:rPr>
              <a:t>USE [My_Data];</a:t>
            </a:r>
            <a:br/>
            <a:br/>
            <a:r>
              <a:rPr sz="1130" b="0" i="0" lang="en-US">
                <a:solidFill>
                  <a:srgbClr val="E5EDF7"/>
                </a:solidFill>
                <a:latin typeface="Consolas"/>
                <a:cs typeface="Aptos"/>
                <a:ea typeface="Aptos"/>
              </a:rPr>
              <a:t>CREATE TABLE TBL_BOOK (</a:t>
            </a:r>
            <a:br/>
            <a:r>
              <a:rPr sz="1130" b="0" i="0" lang="en-US">
                <a:solidFill>
                  <a:srgbClr val="E5EDF7"/>
                </a:solidFill>
                <a:latin typeface="Consolas"/>
                <a:cs typeface="Aptos"/>
                <a:ea typeface="Aptos"/>
              </a:rPr>
              <a:t>  BookID          INT NOT NULL,</a:t>
            </a:r>
            <a:br/>
            <a:r>
              <a:rPr sz="1130" b="0" i="0" lang="en-US">
                <a:solidFill>
                  <a:srgbClr val="E5EDF7"/>
                </a:solidFill>
                <a:latin typeface="Consolas"/>
                <a:cs typeface="Aptos"/>
                <a:ea typeface="Aptos"/>
              </a:rPr>
              <a:t>  BookTitle       NVARCHAR(50) NOT NULL,</a:t>
            </a:r>
            <a:br/>
            <a:r>
              <a:rPr sz="1130" b="0" i="0" lang="en-US">
                <a:solidFill>
                  <a:srgbClr val="E5EDF7"/>
                </a:solidFill>
                <a:latin typeface="Consolas"/>
                <a:cs typeface="Aptos"/>
                <a:ea typeface="Aptos"/>
              </a:rPr>
              <a:t>  BookDatePrint   DATE NOT NULL,</a:t>
            </a:r>
            <a:br/>
            <a:r>
              <a:rPr sz="1130" b="0" i="0" lang="en-US">
                <a:solidFill>
                  <a:srgbClr val="E5EDF7"/>
                </a:solidFill>
                <a:latin typeface="Consolas"/>
                <a:cs typeface="Aptos"/>
                <a:ea typeface="Aptos"/>
              </a:rPr>
              <a:t>  BookDateEnter   DATE NOT NULL,</a:t>
            </a:r>
            <a:br/>
            <a:r>
              <a:rPr sz="1130" b="0" i="0" lang="en-US">
                <a:solidFill>
                  <a:srgbClr val="E5EDF7"/>
                </a:solidFill>
                <a:latin typeface="Consolas"/>
                <a:cs typeface="Aptos"/>
                <a:ea typeface="Aptos"/>
              </a:rPr>
              <a:t>  BookNumberCopy  INT NOT NULL,</a:t>
            </a:r>
            <a:br/>
            <a:r>
              <a:rPr sz="1130" b="0" i="0" lang="en-US">
                <a:solidFill>
                  <a:srgbClr val="E5EDF7"/>
                </a:solidFill>
                <a:latin typeface="Consolas"/>
                <a:cs typeface="Aptos"/>
                <a:ea typeface="Aptos"/>
              </a:rPr>
              <a:t>  ID_Sinfe        INT NOT NULL,</a:t>
            </a:r>
            <a:br/>
            <a:r>
              <a:rPr sz="1130" b="0" i="0" lang="en-US">
                <a:solidFill>
                  <a:srgbClr val="E5EDF7"/>
                </a:solidFill>
                <a:latin typeface="Consolas"/>
                <a:cs typeface="Aptos"/>
                <a:ea typeface="Aptos"/>
              </a:rPr>
              <a:t>  ID_MOALF        INT NOT NULL,</a:t>
            </a:r>
            <a:br/>
            <a:r>
              <a:rPr sz="1130" b="0" i="0" lang="en-US">
                <a:solidFill>
                  <a:srgbClr val="E5EDF7"/>
                </a:solidFill>
                <a:latin typeface="Consolas"/>
                <a:cs typeface="Aptos"/>
                <a:ea typeface="Aptos"/>
              </a:rPr>
              <a:t>  DAR_ID          INT NOT NULL,</a:t>
            </a:r>
            <a:br/>
            <a:r>
              <a:rPr sz="1130" b="0" i="0" lang="en-US">
                <a:solidFill>
                  <a:srgbClr val="E5EDF7"/>
                </a:solidFill>
                <a:latin typeface="Consolas"/>
                <a:cs typeface="Aptos"/>
                <a:ea typeface="Aptos"/>
              </a:rPr>
              <a:t>  PRIMARY KEY (BookID)</a:t>
            </a:r>
            <a:br/>
            <a:r>
              <a:rPr sz="1130" b="0" i="0" lang="en-US">
                <a:solidFill>
                  <a:srgbClr val="E5EDF7"/>
                </a:solidFill>
                <a:latin typeface="Consolas"/>
                <a:cs typeface="Aptos"/>
                <a:ea typeface="Aptos"/>
              </a:rPr>
              <a:t>);</a:t>
            </a:r>
          </a:p>
        </p:txBody>
      </p:sp>
    </p:spTree>
  </p:cSld>
  <p:clrMapOvr>
    <a:masterClrMapping/>
  </p:clrMapOvr>
  <p:transition spd="med" advClick="1">
    <p:push dir="l"/>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ounded Rectangle 1"/>
          <p:cNvSpPr/>
          <p:nvPr/>
        </p:nvSpPr>
        <p:spPr>
          <a:xfrm>
            <a:off x="530352" y="292608"/>
            <a:ext cx="2423160" cy="310896"/>
          </a:xfrm>
          <a:prstGeom prst="roundRect">
            <a:avLst/>
          </a:prstGeom>
          <a:solidFill>
            <a:srgbClr val="10233D"/>
          </a:solidFill>
          <a:ln w="889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1500" y="297180"/>
            <a:ext cx="2340864" cy="301752"/>
          </a:xfrm>
          <a:prstGeom prst="rect">
            <a:avLst/>
          </a:prstGeom>
          <a:noFill/>
        </p:spPr>
        <p:txBody>
          <a:bodyPr wrap="square" lIns="9144" rIns="9144" tIns="9144" bIns="9144" anchor="ctr">
            <a:spAutoFit/>
          </a:bodyPr>
          <a:lstStyle/>
          <a:p>
            <a:pPr algn="ctr" rtl="0">
              <a:lnSpc>
                <a:spcPct val="100000"/>
              </a:lnSpc>
              <a:spcAft>
                <a:spcPts val="0"/>
              </a:spcAft>
            </a:pPr>
            <a:r>
              <a:rPr sz="1050" b="1" i="0" lang="en-US">
                <a:solidFill>
                  <a:srgbClr val="FFFFFF"/>
                </a:solidFill>
                <a:latin typeface="Aptos"/>
                <a:cs typeface="Aptos"/>
                <a:ea typeface="Aptos"/>
              </a:rPr>
              <a:t>03  /  التنفيذ التقني</a:t>
            </a:r>
          </a:p>
        </p:txBody>
      </p:sp>
      <p:sp>
        <p:nvSpPr>
          <p:cNvPr id="4" name="Rectangle 3"/>
          <p:cNvSpPr/>
          <p:nvPr/>
        </p:nvSpPr>
        <p:spPr>
          <a:xfrm>
            <a:off x="11594592" y="283464"/>
            <a:ext cx="64008" cy="502920"/>
          </a:xfrm>
          <a:prstGeom prst="rect">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063240" y="182880"/>
            <a:ext cx="8229600" cy="557784"/>
          </a:xfrm>
          <a:prstGeom prst="rect">
            <a:avLst/>
          </a:prstGeom>
          <a:noFill/>
        </p:spPr>
        <p:txBody>
          <a:bodyPr wrap="square" lIns="18288" rIns="18288" tIns="18288" bIns="18288" anchor="ctr">
            <a:spAutoFit/>
          </a:bodyPr>
          <a:lstStyle/>
          <a:p>
            <a:pPr algn="r" rtl="1">
              <a:lnSpc>
                <a:spcPct val="100000"/>
              </a:lnSpc>
              <a:spcAft>
                <a:spcPts val="0"/>
              </a:spcAft>
            </a:pPr>
            <a:r>
              <a:rPr sz="2600" b="1" i="0" lang="ar-DZ" rtl="1">
                <a:solidFill>
                  <a:srgbClr val="10233D"/>
                </a:solidFill>
                <a:latin typeface="Cairo"/>
                <a:cs typeface="Cairo"/>
                <a:ea typeface="Cairo"/>
              </a:rPr>
              <a:t>المخطط النهائي لقاعدة البيانات</a:t>
            </a:r>
          </a:p>
        </p:txBody>
      </p:sp>
      <p:sp>
        <p:nvSpPr>
          <p:cNvPr id="6" name="TextBox 5"/>
          <p:cNvSpPr txBox="1"/>
          <p:nvPr/>
        </p:nvSpPr>
        <p:spPr>
          <a:xfrm>
            <a:off x="3063240" y="731520"/>
            <a:ext cx="8229600" cy="310896"/>
          </a:xfrm>
          <a:prstGeom prst="rect">
            <a:avLst/>
          </a:prstGeom>
          <a:noFill/>
        </p:spPr>
        <p:txBody>
          <a:bodyPr wrap="square" lIns="9144" rIns="9144" tIns="9144" bIns="9144" anchor="ctr">
            <a:spAutoFit/>
          </a:bodyPr>
          <a:lstStyle/>
          <a:p>
            <a:pPr algn="r" rtl="1">
              <a:lnSpc>
                <a:spcPct val="100000"/>
              </a:lnSpc>
              <a:spcAft>
                <a:spcPts val="0"/>
              </a:spcAft>
            </a:pPr>
            <a:r>
              <a:rPr sz="1350" b="0" i="0" lang="ar-DZ" rtl="1">
                <a:solidFill>
                  <a:srgbClr val="617187"/>
                </a:solidFill>
                <a:latin typeface="Cairo"/>
                <a:cs typeface="Cairo"/>
                <a:ea typeface="Cairo"/>
              </a:rPr>
              <a:t>إعادة بناء قابلة للتحرير؛ خطوط الربط للعلاقات وحقول FK للمراجع.</a:t>
            </a:r>
          </a:p>
        </p:txBody>
      </p:sp>
      <p:cxnSp>
        <p:nvCxnSpPr>
          <p:cNvPr id="7" name="Connector 6"/>
          <p:cNvCxnSpPr/>
          <p:nvPr/>
        </p:nvCxnSpPr>
        <p:spPr>
          <a:xfrm>
            <a:off x="530352" y="1170432"/>
            <a:ext cx="11128248" cy="0"/>
          </a:xfrm>
          <a:prstGeom prst="line">
            <a:avLst/>
          </a:prstGeom>
          <a:ln w="10160">
            <a:solidFill>
              <a:srgbClr val="D5DFE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30352" y="6382512"/>
            <a:ext cx="11128248" cy="0"/>
          </a:xfrm>
          <a:prstGeom prst="line">
            <a:avLst/>
          </a:prstGeom>
          <a:ln w="8890">
            <a:solidFill>
              <a:srgbClr val="D5DFEA"/>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03504" y="6437376"/>
            <a:ext cx="8778240" cy="210312"/>
          </a:xfrm>
          <a:prstGeom prst="rect">
            <a:avLst/>
          </a:prstGeom>
          <a:noFill/>
        </p:spPr>
        <p:txBody>
          <a:bodyPr wrap="square" lIns="0" rIns="0" tIns="0" bIns="0" anchor="ctr">
            <a:spAutoFit/>
          </a:bodyPr>
          <a:lstStyle/>
          <a:p>
            <a:pPr algn="l" rtl="1">
              <a:lnSpc>
                <a:spcPct val="100000"/>
              </a:lnSpc>
              <a:spcAft>
                <a:spcPts val="0"/>
              </a:spcAft>
            </a:pPr>
            <a:r>
              <a:rPr sz="850" b="0" i="0" lang="ar-DZ" rtl="1">
                <a:solidFill>
                  <a:srgbClr val="617187"/>
                </a:solidFill>
                <a:latin typeface="Cairo"/>
                <a:cs typeface="Cairo"/>
                <a:ea typeface="Cairo"/>
              </a:rPr>
              <a:t>المصدر: المذكرة، الفصل الثالث، ص 70–74</a:t>
            </a:r>
          </a:p>
        </p:txBody>
      </p:sp>
      <p:sp>
        <p:nvSpPr>
          <p:cNvPr id="10" name="TextBox 9"/>
          <p:cNvSpPr txBox="1"/>
          <p:nvPr/>
        </p:nvSpPr>
        <p:spPr>
          <a:xfrm>
            <a:off x="10725912" y="6409944"/>
            <a:ext cx="932688" cy="228600"/>
          </a:xfrm>
          <a:prstGeom prst="rect">
            <a:avLst/>
          </a:prstGeom>
          <a:noFill/>
        </p:spPr>
        <p:txBody>
          <a:bodyPr wrap="square" lIns="0" rIns="0" tIns="0" bIns="0" anchor="ctr">
            <a:spAutoFit/>
          </a:bodyPr>
          <a:lstStyle/>
          <a:p>
            <a:pPr algn="l" rtl="0">
              <a:lnSpc>
                <a:spcPct val="100000"/>
              </a:lnSpc>
              <a:spcAft>
                <a:spcPts val="0"/>
              </a:spcAft>
            </a:pPr>
            <a:r>
              <a:rPr sz="950" b="1" i="0" lang="en-US">
                <a:solidFill>
                  <a:srgbClr val="10233D"/>
                </a:solidFill>
                <a:latin typeface="Aptos"/>
                <a:cs typeface="Aptos"/>
                <a:ea typeface="Aptos"/>
              </a:rPr>
              <a:t>14 / 20</a:t>
            </a:r>
          </a:p>
        </p:txBody>
      </p:sp>
      <p:sp>
        <p:nvSpPr>
          <p:cNvPr id="11" name="Rectangle 10"/>
          <p:cNvSpPr/>
          <p:nvPr/>
        </p:nvSpPr>
        <p:spPr>
          <a:xfrm>
            <a:off x="9400032" y="6519672"/>
            <a:ext cx="800100" cy="32004"/>
          </a:xfrm>
          <a:prstGeom prst="rect">
            <a:avLst/>
          </a:prstGeom>
          <a:solidFill>
            <a:srgbClr val="316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4142232" y="3730752"/>
            <a:ext cx="557784" cy="0"/>
          </a:xfrm>
          <a:prstGeom prst="line">
            <a:avLst/>
          </a:prstGeom>
          <a:ln w="22860">
            <a:solidFill>
              <a:srgbClr val="3167D5"/>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132320" y="3730752"/>
            <a:ext cx="548640" cy="0"/>
          </a:xfrm>
          <a:prstGeom prst="line">
            <a:avLst/>
          </a:prstGeom>
          <a:ln w="22860">
            <a:solidFill>
              <a:srgbClr val="3167D5"/>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1993392" y="2496312"/>
            <a:ext cx="886968" cy="411480"/>
          </a:xfrm>
          <a:prstGeom prst="line">
            <a:avLst/>
          </a:prstGeom>
          <a:ln w="20320">
            <a:solidFill>
              <a:srgbClr val="DCA74C"/>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3913632" y="2496312"/>
            <a:ext cx="685800" cy="411480"/>
          </a:xfrm>
          <a:prstGeom prst="line">
            <a:avLst/>
          </a:prstGeom>
          <a:ln w="20320">
            <a:solidFill>
              <a:srgbClr val="DCA74C"/>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4096512" y="2496312"/>
            <a:ext cx="3191256" cy="411480"/>
          </a:xfrm>
          <a:prstGeom prst="line">
            <a:avLst/>
          </a:prstGeom>
          <a:ln w="20320">
            <a:solidFill>
              <a:srgbClr val="DCA74C"/>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0003536" y="2496312"/>
            <a:ext cx="0" cy="411480"/>
          </a:xfrm>
          <a:prstGeom prst="line">
            <a:avLst/>
          </a:prstGeom>
          <a:ln w="20320">
            <a:solidFill>
              <a:srgbClr val="DCA74C"/>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003536" y="4809744"/>
            <a:ext cx="0" cy="265176"/>
          </a:xfrm>
          <a:prstGeom prst="line">
            <a:avLst/>
          </a:prstGeom>
          <a:ln w="20320">
            <a:solidFill>
              <a:srgbClr val="DCA74C"/>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81228" y="1403604"/>
            <a:ext cx="2450592" cy="1143000"/>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0080" y="1353312"/>
            <a:ext cx="2450592" cy="1143000"/>
          </a:xfrm>
          <a:prstGeom prst="roundRect">
            <a:avLst/>
          </a:prstGeom>
          <a:solidFill>
            <a:srgbClr val="FFFFFF"/>
          </a:solidFill>
          <a:ln w="889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 y="1353312"/>
            <a:ext cx="2450592" cy="256032"/>
          </a:xfrm>
          <a:prstGeom prst="rect">
            <a:avLst/>
          </a:prstGeom>
          <a:solidFill>
            <a:srgbClr val="10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19" y="1376172"/>
            <a:ext cx="2267712" cy="219456"/>
          </a:xfrm>
          <a:prstGeom prst="rect">
            <a:avLst/>
          </a:prstGeom>
          <a:noFill/>
        </p:spPr>
        <p:txBody>
          <a:bodyPr wrap="square" lIns="0" rIns="0" tIns="0" bIns="0" anchor="ctr">
            <a:spAutoFit/>
          </a:bodyPr>
          <a:lstStyle/>
          <a:p>
            <a:pPr algn="l" rtl="0">
              <a:lnSpc>
                <a:spcPct val="100000"/>
              </a:lnSpc>
              <a:spcAft>
                <a:spcPts val="0"/>
              </a:spcAft>
            </a:pPr>
            <a:r>
              <a:rPr sz="1040" b="1" i="0" lang="en-US">
                <a:solidFill>
                  <a:srgbClr val="FFFFFF"/>
                </a:solidFill>
                <a:latin typeface="Consolas"/>
                <a:cs typeface="Aptos"/>
                <a:ea typeface="Aptos"/>
              </a:rPr>
              <a:t>TBL_MOALF</a:t>
            </a:r>
          </a:p>
        </p:txBody>
      </p:sp>
      <p:sp>
        <p:nvSpPr>
          <p:cNvPr id="23" name="TextBox 22"/>
          <p:cNvSpPr txBox="1"/>
          <p:nvPr/>
        </p:nvSpPr>
        <p:spPr>
          <a:xfrm>
            <a:off x="740664" y="1645920"/>
            <a:ext cx="2249424" cy="822959"/>
          </a:xfrm>
          <a:prstGeom prst="rect">
            <a:avLst/>
          </a:prstGeom>
          <a:noFill/>
        </p:spPr>
        <p:txBody>
          <a:bodyPr wrap="square" lIns="0" rIns="0" tIns="0" bIns="0" anchor="t">
            <a:spAutoFit/>
          </a:bodyPr>
          <a:lstStyle/>
          <a:p>
            <a:pPr algn="l" rtl="0">
              <a:lnSpc>
                <a:spcPct val="93000"/>
              </a:lnSpc>
              <a:spcAft>
                <a:spcPts val="0"/>
              </a:spcAft>
            </a:pPr>
            <a:r>
              <a:rPr sz="950" b="0" i="0" lang="en-US">
                <a:solidFill>
                  <a:srgbClr val="17263A"/>
                </a:solidFill>
                <a:latin typeface="Consolas"/>
                <a:cs typeface="Aptos"/>
                <a:ea typeface="Aptos"/>
              </a:rPr>
              <a:t>PK ID_MOALF</a:t>
            </a:r>
            <a:br/>
            <a:r>
              <a:rPr sz="950" b="0" i="0" lang="en-US">
                <a:solidFill>
                  <a:srgbClr val="17263A"/>
                </a:solidFill>
                <a:latin typeface="Consolas"/>
                <a:cs typeface="Aptos"/>
                <a:ea typeface="Aptos"/>
              </a:rPr>
              <a:t>Full_Name_Moalf</a:t>
            </a:r>
            <a:br/>
            <a:r>
              <a:rPr sz="950" b="0" i="0" lang="en-US">
                <a:solidFill>
                  <a:srgbClr val="17263A"/>
                </a:solidFill>
                <a:latin typeface="Consolas"/>
                <a:cs typeface="Aptos"/>
                <a:ea typeface="Aptos"/>
              </a:rPr>
              <a:t>Info_Moalf</a:t>
            </a:r>
          </a:p>
        </p:txBody>
      </p:sp>
      <p:sp>
        <p:nvSpPr>
          <p:cNvPr id="24" name="Rounded Rectangle 23"/>
          <p:cNvSpPr/>
          <p:nvPr/>
        </p:nvSpPr>
        <p:spPr>
          <a:xfrm>
            <a:off x="3470148" y="1403604"/>
            <a:ext cx="2322576" cy="1143000"/>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3429000" y="1353312"/>
            <a:ext cx="2322576" cy="1143000"/>
          </a:xfrm>
          <a:prstGeom prst="roundRect">
            <a:avLst/>
          </a:prstGeom>
          <a:solidFill>
            <a:srgbClr val="FFFFFF"/>
          </a:solidFill>
          <a:ln w="889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429000" y="1353312"/>
            <a:ext cx="2322576" cy="256032"/>
          </a:xfrm>
          <a:prstGeom prst="rect">
            <a:avLst/>
          </a:prstGeom>
          <a:solidFill>
            <a:srgbClr val="10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20440" y="1376172"/>
            <a:ext cx="2139696" cy="219456"/>
          </a:xfrm>
          <a:prstGeom prst="rect">
            <a:avLst/>
          </a:prstGeom>
          <a:noFill/>
        </p:spPr>
        <p:txBody>
          <a:bodyPr wrap="square" lIns="0" rIns="0" tIns="0" bIns="0" anchor="ctr">
            <a:spAutoFit/>
          </a:bodyPr>
          <a:lstStyle/>
          <a:p>
            <a:pPr algn="l" rtl="0">
              <a:lnSpc>
                <a:spcPct val="100000"/>
              </a:lnSpc>
              <a:spcAft>
                <a:spcPts val="0"/>
              </a:spcAft>
            </a:pPr>
            <a:r>
              <a:rPr sz="1040" b="1" i="0" lang="en-US">
                <a:solidFill>
                  <a:srgbClr val="FFFFFF"/>
                </a:solidFill>
                <a:latin typeface="Consolas"/>
                <a:cs typeface="Aptos"/>
                <a:ea typeface="Aptos"/>
              </a:rPr>
              <a:t>TBL_SINFE</a:t>
            </a:r>
          </a:p>
        </p:txBody>
      </p:sp>
      <p:sp>
        <p:nvSpPr>
          <p:cNvPr id="28" name="TextBox 27"/>
          <p:cNvSpPr txBox="1"/>
          <p:nvPr/>
        </p:nvSpPr>
        <p:spPr>
          <a:xfrm>
            <a:off x="3529584" y="1645920"/>
            <a:ext cx="2121408" cy="822959"/>
          </a:xfrm>
          <a:prstGeom prst="rect">
            <a:avLst/>
          </a:prstGeom>
          <a:noFill/>
        </p:spPr>
        <p:txBody>
          <a:bodyPr wrap="square" lIns="0" rIns="0" tIns="0" bIns="0" anchor="t">
            <a:spAutoFit/>
          </a:bodyPr>
          <a:lstStyle/>
          <a:p>
            <a:pPr algn="l" rtl="0">
              <a:lnSpc>
                <a:spcPct val="93000"/>
              </a:lnSpc>
              <a:spcAft>
                <a:spcPts val="0"/>
              </a:spcAft>
            </a:pPr>
            <a:r>
              <a:rPr sz="950" b="0" i="0" lang="en-US">
                <a:solidFill>
                  <a:srgbClr val="17263A"/>
                </a:solidFill>
                <a:latin typeface="Consolas"/>
                <a:cs typeface="Aptos"/>
                <a:ea typeface="Aptos"/>
              </a:rPr>
              <a:t>PK ID_Sinfe</a:t>
            </a:r>
            <a:br/>
            <a:r>
              <a:rPr sz="950" b="0" i="0" lang="en-US">
                <a:solidFill>
                  <a:srgbClr val="17263A"/>
                </a:solidFill>
                <a:latin typeface="Consolas"/>
                <a:cs typeface="Aptos"/>
                <a:ea typeface="Aptos"/>
              </a:rPr>
              <a:t>Sinfe_Name</a:t>
            </a:r>
          </a:p>
        </p:txBody>
      </p:sp>
      <p:sp>
        <p:nvSpPr>
          <p:cNvPr id="29" name="Rounded Rectangle 28"/>
          <p:cNvSpPr/>
          <p:nvPr/>
        </p:nvSpPr>
        <p:spPr>
          <a:xfrm>
            <a:off x="6121908" y="1403604"/>
            <a:ext cx="2423160" cy="1143000"/>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080760" y="1353312"/>
            <a:ext cx="2423160" cy="1143000"/>
          </a:xfrm>
          <a:prstGeom prst="roundRect">
            <a:avLst/>
          </a:prstGeom>
          <a:solidFill>
            <a:srgbClr val="FFFFFF"/>
          </a:solidFill>
          <a:ln w="889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080760" y="1353312"/>
            <a:ext cx="2423160" cy="256032"/>
          </a:xfrm>
          <a:prstGeom prst="rect">
            <a:avLst/>
          </a:prstGeom>
          <a:solidFill>
            <a:srgbClr val="10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72200" y="1376172"/>
            <a:ext cx="2240279" cy="219456"/>
          </a:xfrm>
          <a:prstGeom prst="rect">
            <a:avLst/>
          </a:prstGeom>
          <a:noFill/>
        </p:spPr>
        <p:txBody>
          <a:bodyPr wrap="square" lIns="0" rIns="0" tIns="0" bIns="0" anchor="ctr">
            <a:spAutoFit/>
          </a:bodyPr>
          <a:lstStyle/>
          <a:p>
            <a:pPr algn="l" rtl="0">
              <a:lnSpc>
                <a:spcPct val="100000"/>
              </a:lnSpc>
              <a:spcAft>
                <a:spcPts val="0"/>
              </a:spcAft>
            </a:pPr>
            <a:r>
              <a:rPr sz="1040" b="1" i="0" lang="en-US">
                <a:solidFill>
                  <a:srgbClr val="FFFFFF"/>
                </a:solidFill>
                <a:latin typeface="Consolas"/>
                <a:cs typeface="Aptos"/>
                <a:ea typeface="Aptos"/>
              </a:rPr>
              <a:t>TBL_DAR_NACHER</a:t>
            </a:r>
          </a:p>
        </p:txBody>
      </p:sp>
      <p:sp>
        <p:nvSpPr>
          <p:cNvPr id="33" name="TextBox 32"/>
          <p:cNvSpPr txBox="1"/>
          <p:nvPr/>
        </p:nvSpPr>
        <p:spPr>
          <a:xfrm>
            <a:off x="6181344" y="1645920"/>
            <a:ext cx="2221991" cy="822959"/>
          </a:xfrm>
          <a:prstGeom prst="rect">
            <a:avLst/>
          </a:prstGeom>
          <a:noFill/>
        </p:spPr>
        <p:txBody>
          <a:bodyPr wrap="square" lIns="0" rIns="0" tIns="0" bIns="0" anchor="t">
            <a:spAutoFit/>
          </a:bodyPr>
          <a:lstStyle/>
          <a:p>
            <a:pPr algn="l" rtl="0">
              <a:lnSpc>
                <a:spcPct val="93000"/>
              </a:lnSpc>
              <a:spcAft>
                <a:spcPts val="0"/>
              </a:spcAft>
            </a:pPr>
            <a:r>
              <a:rPr sz="950" b="0" i="0" lang="en-US">
                <a:solidFill>
                  <a:srgbClr val="17263A"/>
                </a:solidFill>
                <a:latin typeface="Consolas"/>
                <a:cs typeface="Aptos"/>
                <a:ea typeface="Aptos"/>
              </a:rPr>
              <a:t>PK DAR_ID</a:t>
            </a:r>
            <a:br/>
            <a:r>
              <a:rPr sz="950" b="0" i="0" lang="en-US">
                <a:solidFill>
                  <a:srgbClr val="17263A"/>
                </a:solidFill>
                <a:latin typeface="Consolas"/>
                <a:cs typeface="Aptos"/>
                <a:ea typeface="Aptos"/>
              </a:rPr>
              <a:t>DAR_NAME</a:t>
            </a:r>
            <a:br/>
            <a:r>
              <a:rPr sz="950" b="0" i="0" lang="en-US">
                <a:solidFill>
                  <a:srgbClr val="17263A"/>
                </a:solidFill>
                <a:latin typeface="Consolas"/>
                <a:cs typeface="Aptos"/>
                <a:ea typeface="Aptos"/>
              </a:rPr>
              <a:t>DAR_ADRESS</a:t>
            </a:r>
          </a:p>
        </p:txBody>
      </p:sp>
      <p:sp>
        <p:nvSpPr>
          <p:cNvPr id="34" name="Rounded Rectangle 33"/>
          <p:cNvSpPr/>
          <p:nvPr/>
        </p:nvSpPr>
        <p:spPr>
          <a:xfrm>
            <a:off x="8929116" y="1403604"/>
            <a:ext cx="2240280" cy="1143000"/>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8887968" y="1353312"/>
            <a:ext cx="2240280" cy="1143000"/>
          </a:xfrm>
          <a:prstGeom prst="roundRect">
            <a:avLst/>
          </a:prstGeom>
          <a:solidFill>
            <a:srgbClr val="FFFFFF"/>
          </a:solidFill>
          <a:ln w="889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887968" y="1353312"/>
            <a:ext cx="2240280" cy="256032"/>
          </a:xfrm>
          <a:prstGeom prst="rect">
            <a:avLst/>
          </a:prstGeom>
          <a:solidFill>
            <a:srgbClr val="10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979408" y="1376172"/>
            <a:ext cx="2057400" cy="219456"/>
          </a:xfrm>
          <a:prstGeom prst="rect">
            <a:avLst/>
          </a:prstGeom>
          <a:noFill/>
        </p:spPr>
        <p:txBody>
          <a:bodyPr wrap="square" lIns="0" rIns="0" tIns="0" bIns="0" anchor="ctr">
            <a:spAutoFit/>
          </a:bodyPr>
          <a:lstStyle/>
          <a:p>
            <a:pPr algn="l" rtl="0">
              <a:lnSpc>
                <a:spcPct val="100000"/>
              </a:lnSpc>
              <a:spcAft>
                <a:spcPts val="0"/>
              </a:spcAft>
            </a:pPr>
            <a:r>
              <a:rPr sz="1040" b="1" i="0" lang="en-US">
                <a:solidFill>
                  <a:srgbClr val="FFFFFF"/>
                </a:solidFill>
                <a:latin typeface="Consolas"/>
                <a:cs typeface="Aptos"/>
                <a:ea typeface="Aptos"/>
              </a:rPr>
              <a:t>TBL_ANNE_INKRAT</a:t>
            </a:r>
          </a:p>
        </p:txBody>
      </p:sp>
      <p:sp>
        <p:nvSpPr>
          <p:cNvPr id="38" name="TextBox 37"/>
          <p:cNvSpPr txBox="1"/>
          <p:nvPr/>
        </p:nvSpPr>
        <p:spPr>
          <a:xfrm>
            <a:off x="8988552" y="1645920"/>
            <a:ext cx="2039112" cy="822959"/>
          </a:xfrm>
          <a:prstGeom prst="rect">
            <a:avLst/>
          </a:prstGeom>
          <a:noFill/>
        </p:spPr>
        <p:txBody>
          <a:bodyPr wrap="square" lIns="0" rIns="0" tIns="0" bIns="0" anchor="t">
            <a:spAutoFit/>
          </a:bodyPr>
          <a:lstStyle/>
          <a:p>
            <a:pPr algn="l" rtl="0">
              <a:lnSpc>
                <a:spcPct val="93000"/>
              </a:lnSpc>
              <a:spcAft>
                <a:spcPts val="0"/>
              </a:spcAft>
            </a:pPr>
            <a:r>
              <a:rPr sz="940" b="0" i="0" lang="en-US">
                <a:solidFill>
                  <a:srgbClr val="17263A"/>
                </a:solidFill>
                <a:latin typeface="Consolas"/>
                <a:cs typeface="Aptos"/>
                <a:ea typeface="Aptos"/>
              </a:rPr>
              <a:t>PK AnneIkratId</a:t>
            </a:r>
            <a:br/>
            <a:r>
              <a:rPr sz="940" b="0" i="0" lang="en-US">
                <a:solidFill>
                  <a:srgbClr val="17263A"/>
                </a:solidFill>
                <a:latin typeface="Consolas"/>
                <a:cs typeface="Aptos"/>
                <a:ea typeface="Aptos"/>
              </a:rPr>
              <a:t>AnneInkirat</a:t>
            </a:r>
          </a:p>
        </p:txBody>
      </p:sp>
      <p:sp>
        <p:nvSpPr>
          <p:cNvPr id="39" name="Rounded Rectangle 38"/>
          <p:cNvSpPr/>
          <p:nvPr/>
        </p:nvSpPr>
        <p:spPr>
          <a:xfrm>
            <a:off x="1092707" y="2958084"/>
            <a:ext cx="3090672" cy="1901952"/>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1051560" y="2907792"/>
            <a:ext cx="3090672" cy="1901952"/>
          </a:xfrm>
          <a:prstGeom prst="roundRect">
            <a:avLst/>
          </a:prstGeom>
          <a:solidFill>
            <a:srgbClr val="FFFFFF"/>
          </a:solidFill>
          <a:ln w="889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051560" y="2907792"/>
            <a:ext cx="3090672" cy="256032"/>
          </a:xfrm>
          <a:prstGeom prst="rect">
            <a:avLst/>
          </a:prstGeom>
          <a:solidFill>
            <a:srgbClr val="10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143000" y="2930652"/>
            <a:ext cx="2907791" cy="219456"/>
          </a:xfrm>
          <a:prstGeom prst="rect">
            <a:avLst/>
          </a:prstGeom>
          <a:noFill/>
        </p:spPr>
        <p:txBody>
          <a:bodyPr wrap="square" lIns="0" rIns="0" tIns="0" bIns="0" anchor="ctr">
            <a:spAutoFit/>
          </a:bodyPr>
          <a:lstStyle/>
          <a:p>
            <a:pPr algn="l" rtl="0">
              <a:lnSpc>
                <a:spcPct val="100000"/>
              </a:lnSpc>
              <a:spcAft>
                <a:spcPts val="0"/>
              </a:spcAft>
            </a:pPr>
            <a:r>
              <a:rPr sz="1040" b="1" i="0" lang="en-US">
                <a:solidFill>
                  <a:srgbClr val="FFFFFF"/>
                </a:solidFill>
                <a:latin typeface="Consolas"/>
                <a:cs typeface="Aptos"/>
                <a:ea typeface="Aptos"/>
              </a:rPr>
              <a:t>TBL_BOOK</a:t>
            </a:r>
          </a:p>
        </p:txBody>
      </p:sp>
      <p:sp>
        <p:nvSpPr>
          <p:cNvPr id="43" name="TextBox 42"/>
          <p:cNvSpPr txBox="1"/>
          <p:nvPr/>
        </p:nvSpPr>
        <p:spPr>
          <a:xfrm>
            <a:off x="1152144" y="3200400"/>
            <a:ext cx="2889503" cy="1581912"/>
          </a:xfrm>
          <a:prstGeom prst="rect">
            <a:avLst/>
          </a:prstGeom>
          <a:noFill/>
        </p:spPr>
        <p:txBody>
          <a:bodyPr wrap="square" lIns="0" rIns="0" tIns="0" bIns="0" anchor="t">
            <a:spAutoFit/>
          </a:bodyPr>
          <a:lstStyle/>
          <a:p>
            <a:pPr algn="l" rtl="0">
              <a:lnSpc>
                <a:spcPct val="93000"/>
              </a:lnSpc>
              <a:spcAft>
                <a:spcPts val="0"/>
              </a:spcAft>
            </a:pPr>
            <a:r>
              <a:rPr sz="940" b="0" i="0" lang="en-US">
                <a:solidFill>
                  <a:srgbClr val="17263A"/>
                </a:solidFill>
                <a:latin typeface="Consolas"/>
                <a:cs typeface="Aptos"/>
                <a:ea typeface="Aptos"/>
              </a:rPr>
              <a:t>PK BookID</a:t>
            </a:r>
            <a:br/>
            <a:r>
              <a:rPr sz="940" b="0" i="0" lang="en-US">
                <a:solidFill>
                  <a:srgbClr val="17263A"/>
                </a:solidFill>
                <a:latin typeface="Consolas"/>
                <a:cs typeface="Aptos"/>
                <a:ea typeface="Aptos"/>
              </a:rPr>
              <a:t>BookTitle</a:t>
            </a:r>
            <a:br/>
            <a:r>
              <a:rPr sz="940" b="0" i="0" lang="en-US">
                <a:solidFill>
                  <a:srgbClr val="17263A"/>
                </a:solidFill>
                <a:latin typeface="Consolas"/>
                <a:cs typeface="Aptos"/>
                <a:ea typeface="Aptos"/>
              </a:rPr>
              <a:t>BookDatePrint</a:t>
            </a:r>
            <a:br/>
            <a:r>
              <a:rPr sz="940" b="0" i="0" lang="en-US">
                <a:solidFill>
                  <a:srgbClr val="17263A"/>
                </a:solidFill>
                <a:latin typeface="Consolas"/>
                <a:cs typeface="Aptos"/>
                <a:ea typeface="Aptos"/>
              </a:rPr>
              <a:t>BookDateEnter</a:t>
            </a:r>
            <a:br/>
            <a:r>
              <a:rPr sz="940" b="0" i="0" lang="en-US">
                <a:solidFill>
                  <a:srgbClr val="17263A"/>
                </a:solidFill>
                <a:latin typeface="Consolas"/>
                <a:cs typeface="Aptos"/>
                <a:ea typeface="Aptos"/>
              </a:rPr>
              <a:t>BookNumberCopy</a:t>
            </a:r>
            <a:br/>
            <a:r>
              <a:rPr sz="940" b="0" i="0" lang="en-US">
                <a:solidFill>
                  <a:srgbClr val="17263A"/>
                </a:solidFill>
                <a:latin typeface="Consolas"/>
                <a:cs typeface="Aptos"/>
                <a:ea typeface="Aptos"/>
              </a:rPr>
              <a:t>FK ID_Sinfe</a:t>
            </a:r>
            <a:br/>
            <a:r>
              <a:rPr sz="940" b="0" i="0" lang="en-US">
                <a:solidFill>
                  <a:srgbClr val="17263A"/>
                </a:solidFill>
                <a:latin typeface="Consolas"/>
                <a:cs typeface="Aptos"/>
                <a:ea typeface="Aptos"/>
              </a:rPr>
              <a:t>FK ID_MOALF</a:t>
            </a:r>
            <a:br/>
            <a:r>
              <a:rPr sz="940" b="0" i="0" lang="en-US">
                <a:solidFill>
                  <a:srgbClr val="17263A"/>
                </a:solidFill>
                <a:latin typeface="Consolas"/>
                <a:cs typeface="Aptos"/>
                <a:ea typeface="Aptos"/>
              </a:rPr>
              <a:t>FK DAR_ID</a:t>
            </a:r>
          </a:p>
        </p:txBody>
      </p:sp>
      <p:sp>
        <p:nvSpPr>
          <p:cNvPr id="44" name="Rounded Rectangle 43"/>
          <p:cNvSpPr/>
          <p:nvPr/>
        </p:nvSpPr>
        <p:spPr>
          <a:xfrm>
            <a:off x="4741164" y="3012948"/>
            <a:ext cx="2432304" cy="1755648"/>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4700016" y="2962656"/>
            <a:ext cx="2432304" cy="1755648"/>
          </a:xfrm>
          <a:prstGeom prst="roundRect">
            <a:avLst/>
          </a:prstGeom>
          <a:solidFill>
            <a:srgbClr val="FFFFFF"/>
          </a:solidFill>
          <a:ln w="889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700016" y="2962656"/>
            <a:ext cx="2432304" cy="256032"/>
          </a:xfrm>
          <a:prstGeom prst="rect">
            <a:avLst/>
          </a:prstGeom>
          <a:solidFill>
            <a:srgbClr val="10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791455" y="2985516"/>
            <a:ext cx="2249424" cy="219456"/>
          </a:xfrm>
          <a:prstGeom prst="rect">
            <a:avLst/>
          </a:prstGeom>
          <a:noFill/>
        </p:spPr>
        <p:txBody>
          <a:bodyPr wrap="square" lIns="0" rIns="0" tIns="0" bIns="0" anchor="ctr">
            <a:spAutoFit/>
          </a:bodyPr>
          <a:lstStyle/>
          <a:p>
            <a:pPr algn="l" rtl="0">
              <a:lnSpc>
                <a:spcPct val="100000"/>
              </a:lnSpc>
              <a:spcAft>
                <a:spcPts val="0"/>
              </a:spcAft>
            </a:pPr>
            <a:r>
              <a:rPr sz="1040" b="1" i="0" lang="en-US">
                <a:solidFill>
                  <a:srgbClr val="FFFFFF"/>
                </a:solidFill>
                <a:latin typeface="Consolas"/>
                <a:cs typeface="Aptos"/>
                <a:ea typeface="Aptos"/>
              </a:rPr>
              <a:t>TBL_IARA</a:t>
            </a:r>
          </a:p>
        </p:txBody>
      </p:sp>
      <p:sp>
        <p:nvSpPr>
          <p:cNvPr id="48" name="TextBox 47"/>
          <p:cNvSpPr txBox="1"/>
          <p:nvPr/>
        </p:nvSpPr>
        <p:spPr>
          <a:xfrm>
            <a:off x="4800600" y="3255264"/>
            <a:ext cx="2231136" cy="1435607"/>
          </a:xfrm>
          <a:prstGeom prst="rect">
            <a:avLst/>
          </a:prstGeom>
          <a:noFill/>
        </p:spPr>
        <p:txBody>
          <a:bodyPr wrap="square" lIns="0" rIns="0" tIns="0" bIns="0" anchor="t">
            <a:spAutoFit/>
          </a:bodyPr>
          <a:lstStyle/>
          <a:p>
            <a:pPr algn="l" rtl="0">
              <a:lnSpc>
                <a:spcPct val="93000"/>
              </a:lnSpc>
              <a:spcAft>
                <a:spcPts val="0"/>
              </a:spcAft>
            </a:pPr>
            <a:r>
              <a:rPr sz="940" b="0" i="0" lang="en-US">
                <a:solidFill>
                  <a:srgbClr val="17263A"/>
                </a:solidFill>
                <a:latin typeface="Consolas"/>
                <a:cs typeface="Aptos"/>
                <a:ea typeface="Aptos"/>
              </a:rPr>
              <a:t>PK IaraID</a:t>
            </a:r>
            <a:br/>
            <a:r>
              <a:rPr sz="940" b="0" i="0" lang="en-US">
                <a:solidFill>
                  <a:srgbClr val="17263A"/>
                </a:solidFill>
                <a:latin typeface="Consolas"/>
                <a:cs typeface="Aptos"/>
                <a:ea typeface="Aptos"/>
              </a:rPr>
              <a:t>FK NumStudent</a:t>
            </a:r>
            <a:br/>
            <a:r>
              <a:rPr sz="940" b="0" i="0" lang="en-US">
                <a:solidFill>
                  <a:srgbClr val="17263A"/>
                </a:solidFill>
                <a:latin typeface="Consolas"/>
                <a:cs typeface="Aptos"/>
                <a:ea typeface="Aptos"/>
              </a:rPr>
              <a:t>FK BookID</a:t>
            </a:r>
            <a:br/>
            <a:r>
              <a:rPr sz="940" b="0" i="0" lang="en-US">
                <a:solidFill>
                  <a:srgbClr val="17263A"/>
                </a:solidFill>
                <a:latin typeface="Consolas"/>
                <a:cs typeface="Aptos"/>
                <a:ea typeface="Aptos"/>
              </a:rPr>
              <a:t>DateIara</a:t>
            </a:r>
            <a:br/>
            <a:r>
              <a:rPr sz="940" b="0" i="0" lang="en-US">
                <a:solidFill>
                  <a:srgbClr val="17263A"/>
                </a:solidFill>
                <a:latin typeface="Consolas"/>
                <a:cs typeface="Aptos"/>
                <a:ea typeface="Aptos"/>
              </a:rPr>
              <a:t>DateIrja</a:t>
            </a:r>
          </a:p>
        </p:txBody>
      </p:sp>
      <p:sp>
        <p:nvSpPr>
          <p:cNvPr id="49" name="Rounded Rectangle 48"/>
          <p:cNvSpPr/>
          <p:nvPr/>
        </p:nvSpPr>
        <p:spPr>
          <a:xfrm>
            <a:off x="7722108" y="2958084"/>
            <a:ext cx="3246120" cy="1901952"/>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7680960" y="2907792"/>
            <a:ext cx="3246120" cy="1901952"/>
          </a:xfrm>
          <a:prstGeom prst="roundRect">
            <a:avLst/>
          </a:prstGeom>
          <a:solidFill>
            <a:srgbClr val="FFFFFF"/>
          </a:solidFill>
          <a:ln w="889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680960" y="2907792"/>
            <a:ext cx="3246120" cy="256032"/>
          </a:xfrm>
          <a:prstGeom prst="rect">
            <a:avLst/>
          </a:prstGeom>
          <a:solidFill>
            <a:srgbClr val="10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772400" y="2930652"/>
            <a:ext cx="3063239" cy="219456"/>
          </a:xfrm>
          <a:prstGeom prst="rect">
            <a:avLst/>
          </a:prstGeom>
          <a:noFill/>
        </p:spPr>
        <p:txBody>
          <a:bodyPr wrap="square" lIns="0" rIns="0" tIns="0" bIns="0" anchor="ctr">
            <a:spAutoFit/>
          </a:bodyPr>
          <a:lstStyle/>
          <a:p>
            <a:pPr algn="l" rtl="0">
              <a:lnSpc>
                <a:spcPct val="100000"/>
              </a:lnSpc>
              <a:spcAft>
                <a:spcPts val="0"/>
              </a:spcAft>
            </a:pPr>
            <a:r>
              <a:rPr sz="1040" b="1" i="0" lang="en-US">
                <a:solidFill>
                  <a:srgbClr val="FFFFFF"/>
                </a:solidFill>
                <a:latin typeface="Consolas"/>
                <a:cs typeface="Aptos"/>
                <a:ea typeface="Aptos"/>
              </a:rPr>
              <a:t>TBL_STUDENT</a:t>
            </a:r>
          </a:p>
        </p:txBody>
      </p:sp>
      <p:sp>
        <p:nvSpPr>
          <p:cNvPr id="53" name="TextBox 52"/>
          <p:cNvSpPr txBox="1"/>
          <p:nvPr/>
        </p:nvSpPr>
        <p:spPr>
          <a:xfrm>
            <a:off x="7781544" y="3200400"/>
            <a:ext cx="3044951" cy="1581912"/>
          </a:xfrm>
          <a:prstGeom prst="rect">
            <a:avLst/>
          </a:prstGeom>
          <a:noFill/>
        </p:spPr>
        <p:txBody>
          <a:bodyPr wrap="square" lIns="0" rIns="0" tIns="0" bIns="0" anchor="t">
            <a:spAutoFit/>
          </a:bodyPr>
          <a:lstStyle/>
          <a:p>
            <a:pPr algn="l" rtl="0">
              <a:lnSpc>
                <a:spcPct val="93000"/>
              </a:lnSpc>
              <a:spcAft>
                <a:spcPts val="0"/>
              </a:spcAft>
            </a:pPr>
            <a:r>
              <a:rPr sz="940" b="0" i="0" lang="en-US">
                <a:solidFill>
                  <a:srgbClr val="17263A"/>
                </a:solidFill>
                <a:latin typeface="Consolas"/>
                <a:cs typeface="Aptos"/>
                <a:ea typeface="Aptos"/>
              </a:rPr>
              <a:t>PK NumStudent</a:t>
            </a:r>
            <a:br/>
            <a:r>
              <a:rPr sz="940" b="0" i="0" lang="en-US">
                <a:solidFill>
                  <a:srgbClr val="17263A"/>
                </a:solidFill>
                <a:latin typeface="Consolas"/>
                <a:cs typeface="Aptos"/>
                <a:ea typeface="Aptos"/>
              </a:rPr>
              <a:t>NomEtPrenom</a:t>
            </a:r>
            <a:br/>
            <a:r>
              <a:rPr sz="940" b="0" i="0" lang="en-US">
                <a:solidFill>
                  <a:srgbClr val="17263A"/>
                </a:solidFill>
                <a:latin typeface="Consolas"/>
                <a:cs typeface="Aptos"/>
                <a:ea typeface="Aptos"/>
              </a:rPr>
              <a:t>Date_N</a:t>
            </a:r>
            <a:br/>
            <a:r>
              <a:rPr sz="940" b="0" i="0" lang="en-US">
                <a:solidFill>
                  <a:srgbClr val="17263A"/>
                </a:solidFill>
                <a:latin typeface="Consolas"/>
                <a:cs typeface="Aptos"/>
                <a:ea typeface="Aptos"/>
              </a:rPr>
              <a:t>LuieN</a:t>
            </a:r>
            <a:br/>
            <a:r>
              <a:rPr sz="940" b="0" i="0" lang="en-US">
                <a:solidFill>
                  <a:srgbClr val="17263A"/>
                </a:solidFill>
                <a:latin typeface="Consolas"/>
                <a:cs typeface="Aptos"/>
                <a:ea typeface="Aptos"/>
              </a:rPr>
              <a:t>Adress_Student</a:t>
            </a:r>
            <a:br/>
            <a:r>
              <a:rPr sz="940" b="0" i="0" lang="en-US">
                <a:solidFill>
                  <a:srgbClr val="17263A"/>
                </a:solidFill>
                <a:latin typeface="Consolas"/>
                <a:cs typeface="Aptos"/>
                <a:ea typeface="Aptos"/>
              </a:rPr>
              <a:t>FK AnneIkratId</a:t>
            </a:r>
          </a:p>
        </p:txBody>
      </p:sp>
      <p:sp>
        <p:nvSpPr>
          <p:cNvPr id="54" name="Rounded Rectangle 53"/>
          <p:cNvSpPr/>
          <p:nvPr/>
        </p:nvSpPr>
        <p:spPr>
          <a:xfrm>
            <a:off x="699516" y="5143500"/>
            <a:ext cx="2980944" cy="960120"/>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658368" y="5093208"/>
            <a:ext cx="2980944" cy="960120"/>
          </a:xfrm>
          <a:prstGeom prst="roundRect">
            <a:avLst/>
          </a:prstGeom>
          <a:solidFill>
            <a:srgbClr val="FFFFFF"/>
          </a:solidFill>
          <a:ln w="889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58368" y="5093208"/>
            <a:ext cx="2980944" cy="256032"/>
          </a:xfrm>
          <a:prstGeom prst="rect">
            <a:avLst/>
          </a:prstGeom>
          <a:solidFill>
            <a:srgbClr val="10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49808" y="5116068"/>
            <a:ext cx="2798063" cy="219456"/>
          </a:xfrm>
          <a:prstGeom prst="rect">
            <a:avLst/>
          </a:prstGeom>
          <a:noFill/>
        </p:spPr>
        <p:txBody>
          <a:bodyPr wrap="square" lIns="0" rIns="0" tIns="0" bIns="0" anchor="ctr">
            <a:spAutoFit/>
          </a:bodyPr>
          <a:lstStyle/>
          <a:p>
            <a:pPr algn="l" rtl="0">
              <a:lnSpc>
                <a:spcPct val="100000"/>
              </a:lnSpc>
              <a:spcAft>
                <a:spcPts val="0"/>
              </a:spcAft>
            </a:pPr>
            <a:r>
              <a:rPr sz="1040" b="1" i="0" lang="en-US">
                <a:solidFill>
                  <a:srgbClr val="FFFFFF"/>
                </a:solidFill>
                <a:latin typeface="Consolas"/>
                <a:cs typeface="Aptos"/>
                <a:ea typeface="Aptos"/>
              </a:rPr>
              <a:t>TBL_LOGIN</a:t>
            </a:r>
          </a:p>
        </p:txBody>
      </p:sp>
      <p:sp>
        <p:nvSpPr>
          <p:cNvPr id="58" name="TextBox 57"/>
          <p:cNvSpPr txBox="1"/>
          <p:nvPr/>
        </p:nvSpPr>
        <p:spPr>
          <a:xfrm>
            <a:off x="758952" y="5385816"/>
            <a:ext cx="2779775" cy="640080"/>
          </a:xfrm>
          <a:prstGeom prst="rect">
            <a:avLst/>
          </a:prstGeom>
          <a:noFill/>
        </p:spPr>
        <p:txBody>
          <a:bodyPr wrap="square" lIns="0" rIns="0" tIns="0" bIns="0" anchor="t">
            <a:spAutoFit/>
          </a:bodyPr>
          <a:lstStyle/>
          <a:p>
            <a:pPr algn="l" rtl="0">
              <a:lnSpc>
                <a:spcPct val="93000"/>
              </a:lnSpc>
              <a:spcAft>
                <a:spcPts val="0"/>
              </a:spcAft>
            </a:pPr>
            <a:r>
              <a:rPr sz="919" b="0" i="0" lang="en-US">
                <a:solidFill>
                  <a:srgbClr val="17263A"/>
                </a:solidFill>
                <a:latin typeface="Consolas"/>
                <a:cs typeface="Aptos"/>
                <a:ea typeface="Aptos"/>
              </a:rPr>
              <a:t>PK ID</a:t>
            </a:r>
            <a:br/>
            <a:r>
              <a:rPr sz="919" b="0" i="0" lang="en-US">
                <a:solidFill>
                  <a:srgbClr val="17263A"/>
                </a:solidFill>
                <a:latin typeface="Consolas"/>
                <a:cs typeface="Aptos"/>
                <a:ea typeface="Aptos"/>
              </a:rPr>
              <a:t>Sys_UserName</a:t>
            </a:r>
            <a:br/>
            <a:r>
              <a:rPr sz="919" b="0" i="0" lang="en-US">
                <a:solidFill>
                  <a:srgbClr val="17263A"/>
                </a:solidFill>
                <a:latin typeface="Consolas"/>
                <a:cs typeface="Aptos"/>
                <a:ea typeface="Aptos"/>
              </a:rPr>
              <a:t>Sys_User_Password</a:t>
            </a:r>
            <a:br/>
            <a:r>
              <a:rPr sz="919" b="0" i="0" lang="en-US">
                <a:solidFill>
                  <a:srgbClr val="17263A"/>
                </a:solidFill>
                <a:latin typeface="Consolas"/>
                <a:cs typeface="Aptos"/>
                <a:ea typeface="Aptos"/>
              </a:rPr>
              <a:t>Sys_User_Type</a:t>
            </a:r>
          </a:p>
        </p:txBody>
      </p:sp>
      <p:sp>
        <p:nvSpPr>
          <p:cNvPr id="59" name="Rounded Rectangle 58"/>
          <p:cNvSpPr/>
          <p:nvPr/>
        </p:nvSpPr>
        <p:spPr>
          <a:xfrm>
            <a:off x="7740396" y="5125212"/>
            <a:ext cx="3218688" cy="978408"/>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7699248" y="5074920"/>
            <a:ext cx="3218688" cy="978408"/>
          </a:xfrm>
          <a:prstGeom prst="roundRect">
            <a:avLst/>
          </a:prstGeom>
          <a:solidFill>
            <a:srgbClr val="FFFFFF"/>
          </a:solidFill>
          <a:ln w="889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699248" y="5074920"/>
            <a:ext cx="3218688" cy="256032"/>
          </a:xfrm>
          <a:prstGeom prst="rect">
            <a:avLst/>
          </a:prstGeom>
          <a:solidFill>
            <a:srgbClr val="10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790688" y="5097780"/>
            <a:ext cx="3035808" cy="219456"/>
          </a:xfrm>
          <a:prstGeom prst="rect">
            <a:avLst/>
          </a:prstGeom>
          <a:noFill/>
        </p:spPr>
        <p:txBody>
          <a:bodyPr wrap="square" lIns="0" rIns="0" tIns="0" bIns="0" anchor="ctr">
            <a:spAutoFit/>
          </a:bodyPr>
          <a:lstStyle/>
          <a:p>
            <a:pPr algn="l" rtl="0">
              <a:lnSpc>
                <a:spcPct val="100000"/>
              </a:lnSpc>
              <a:spcAft>
                <a:spcPts val="0"/>
              </a:spcAft>
            </a:pPr>
            <a:r>
              <a:rPr sz="1040" b="1" i="0" lang="en-US">
                <a:solidFill>
                  <a:srgbClr val="FFFFFF"/>
                </a:solidFill>
                <a:latin typeface="Consolas"/>
                <a:cs typeface="Aptos"/>
                <a:ea typeface="Aptos"/>
              </a:rPr>
              <a:t>TBL_OKOBA</a:t>
            </a:r>
          </a:p>
        </p:txBody>
      </p:sp>
      <p:sp>
        <p:nvSpPr>
          <p:cNvPr id="63" name="TextBox 62"/>
          <p:cNvSpPr txBox="1"/>
          <p:nvPr/>
        </p:nvSpPr>
        <p:spPr>
          <a:xfrm>
            <a:off x="7799831" y="5367528"/>
            <a:ext cx="3017520" cy="658368"/>
          </a:xfrm>
          <a:prstGeom prst="rect">
            <a:avLst/>
          </a:prstGeom>
          <a:noFill/>
        </p:spPr>
        <p:txBody>
          <a:bodyPr wrap="square" lIns="0" rIns="0" tIns="0" bIns="0" anchor="t">
            <a:spAutoFit/>
          </a:bodyPr>
          <a:lstStyle/>
          <a:p>
            <a:pPr algn="l" rtl="0">
              <a:lnSpc>
                <a:spcPct val="93000"/>
              </a:lnSpc>
              <a:spcAft>
                <a:spcPts val="0"/>
              </a:spcAft>
            </a:pPr>
            <a:r>
              <a:rPr sz="930" b="0" i="0" lang="en-US">
                <a:solidFill>
                  <a:srgbClr val="17263A"/>
                </a:solidFill>
                <a:latin typeface="Consolas"/>
                <a:cs typeface="Aptos"/>
                <a:ea typeface="Aptos"/>
              </a:rPr>
              <a:t>PK OkobaID</a:t>
            </a:r>
            <a:br/>
            <a:r>
              <a:rPr sz="930" b="0" i="0" lang="en-US">
                <a:solidFill>
                  <a:srgbClr val="17263A"/>
                </a:solidFill>
                <a:latin typeface="Consolas"/>
                <a:cs typeface="Aptos"/>
                <a:ea typeface="Aptos"/>
              </a:rPr>
              <a:t>DateOkoba</a:t>
            </a:r>
            <a:br/>
            <a:r>
              <a:rPr sz="930" b="0" i="0" lang="en-US">
                <a:solidFill>
                  <a:srgbClr val="17263A"/>
                </a:solidFill>
                <a:latin typeface="Consolas"/>
                <a:cs typeface="Aptos"/>
                <a:ea typeface="Aptos"/>
              </a:rPr>
              <a:t>FK NumStudent</a:t>
            </a:r>
            <a:br/>
            <a:r>
              <a:rPr sz="930" b="0" i="0" lang="en-US">
                <a:solidFill>
                  <a:srgbClr val="17263A"/>
                </a:solidFill>
                <a:latin typeface="Consolas"/>
                <a:cs typeface="Aptos"/>
                <a:ea typeface="Aptos"/>
              </a:rPr>
              <a:t>OkobaDesc</a:t>
            </a:r>
          </a:p>
        </p:txBody>
      </p:sp>
      <p:sp>
        <p:nvSpPr>
          <p:cNvPr id="64" name="Rounded Rectangle 63"/>
          <p:cNvSpPr/>
          <p:nvPr/>
        </p:nvSpPr>
        <p:spPr>
          <a:xfrm>
            <a:off x="3858768" y="5266944"/>
            <a:ext cx="1325880" cy="265176"/>
          </a:xfrm>
          <a:prstGeom prst="roundRect">
            <a:avLst/>
          </a:prstGeom>
          <a:solidFill>
            <a:srgbClr val="10233D"/>
          </a:solidFill>
          <a:ln w="889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899915" y="5271516"/>
            <a:ext cx="1243584" cy="256031"/>
          </a:xfrm>
          <a:prstGeom prst="rect">
            <a:avLst/>
          </a:prstGeom>
          <a:noFill/>
        </p:spPr>
        <p:txBody>
          <a:bodyPr wrap="square" lIns="9144" rIns="9144" tIns="9144" bIns="9144" anchor="ctr">
            <a:spAutoFit/>
          </a:bodyPr>
          <a:lstStyle/>
          <a:p>
            <a:pPr algn="ctr" rtl="1">
              <a:lnSpc>
                <a:spcPct val="100000"/>
              </a:lnSpc>
              <a:spcAft>
                <a:spcPts val="0"/>
              </a:spcAft>
            </a:pPr>
            <a:r>
              <a:rPr sz="950" b="1" i="0" lang="ar-DZ" rtl="1">
                <a:solidFill>
                  <a:srgbClr val="FFFFFF"/>
                </a:solidFill>
                <a:latin typeface="Cairo"/>
                <a:cs typeface="Cairo"/>
                <a:ea typeface="Cairo"/>
              </a:rPr>
              <a:t>PK مفتاح أساسي</a:t>
            </a:r>
          </a:p>
        </p:txBody>
      </p:sp>
      <p:sp>
        <p:nvSpPr>
          <p:cNvPr id="66" name="Rounded Rectangle 65"/>
          <p:cNvSpPr/>
          <p:nvPr/>
        </p:nvSpPr>
        <p:spPr>
          <a:xfrm>
            <a:off x="5303520" y="5266944"/>
            <a:ext cx="1353312" cy="265176"/>
          </a:xfrm>
          <a:prstGeom prst="roundRect">
            <a:avLst/>
          </a:prstGeom>
          <a:solidFill>
            <a:srgbClr val="E7EFFD"/>
          </a:solidFill>
          <a:ln w="8890">
            <a:solidFill>
              <a:srgbClr val="E7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344668" y="5271516"/>
            <a:ext cx="1271016" cy="256031"/>
          </a:xfrm>
          <a:prstGeom prst="rect">
            <a:avLst/>
          </a:prstGeom>
          <a:noFill/>
        </p:spPr>
        <p:txBody>
          <a:bodyPr wrap="square" lIns="9144" rIns="9144" tIns="9144" bIns="9144" anchor="ctr">
            <a:spAutoFit/>
          </a:bodyPr>
          <a:lstStyle/>
          <a:p>
            <a:pPr algn="ctr" rtl="1">
              <a:lnSpc>
                <a:spcPct val="100000"/>
              </a:lnSpc>
              <a:spcAft>
                <a:spcPts val="0"/>
              </a:spcAft>
            </a:pPr>
            <a:r>
              <a:rPr sz="950" b="1" i="0" lang="ar-DZ" rtl="1">
                <a:solidFill>
                  <a:srgbClr val="10233D"/>
                </a:solidFill>
                <a:latin typeface="Cairo"/>
                <a:cs typeface="Cairo"/>
                <a:ea typeface="Cairo"/>
              </a:rPr>
              <a:t>FK مفتاح أجنبي</a:t>
            </a:r>
          </a:p>
        </p:txBody>
      </p:sp>
      <p:sp>
        <p:nvSpPr>
          <p:cNvPr id="68" name="TextBox 67"/>
          <p:cNvSpPr txBox="1"/>
          <p:nvPr/>
        </p:nvSpPr>
        <p:spPr>
          <a:xfrm>
            <a:off x="3803904" y="5687568"/>
            <a:ext cx="2889504" cy="228600"/>
          </a:xfrm>
          <a:prstGeom prst="rect">
            <a:avLst/>
          </a:prstGeom>
          <a:noFill/>
        </p:spPr>
        <p:txBody>
          <a:bodyPr wrap="square" lIns="18288" rIns="18288" tIns="18288" bIns="18288" anchor="ctr">
            <a:spAutoFit/>
          </a:bodyPr>
          <a:lstStyle/>
          <a:p>
            <a:pPr algn="ctr" rtl="1">
              <a:lnSpc>
                <a:spcPct val="100000"/>
              </a:lnSpc>
              <a:spcAft>
                <a:spcPts val="0"/>
              </a:spcAft>
            </a:pPr>
            <a:r>
              <a:rPr sz="930" b="0" i="0" lang="ar-DZ" rtl="1">
                <a:solidFill>
                  <a:srgbClr val="617187"/>
                </a:solidFill>
                <a:latin typeface="Cairo"/>
                <a:cs typeface="Cairo"/>
                <a:ea typeface="Cairo"/>
              </a:rPr>
              <a:t>TBL_LOGIN معروض مستقلًا في مخطط المذكرة.</a:t>
            </a:r>
          </a:p>
        </p:txBody>
      </p:sp>
    </p:spTree>
  </p:cSld>
  <p:clrMapOvr>
    <a:masterClrMapping/>
  </p:clrMapOvr>
  <p:transition spd="med"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ounded Rectangle 1"/>
          <p:cNvSpPr/>
          <p:nvPr/>
        </p:nvSpPr>
        <p:spPr>
          <a:xfrm>
            <a:off x="530352" y="292608"/>
            <a:ext cx="2423160" cy="310896"/>
          </a:xfrm>
          <a:prstGeom prst="roundRect">
            <a:avLst/>
          </a:prstGeom>
          <a:solidFill>
            <a:srgbClr val="10233D"/>
          </a:solidFill>
          <a:ln w="889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1500" y="297180"/>
            <a:ext cx="2340864" cy="301752"/>
          </a:xfrm>
          <a:prstGeom prst="rect">
            <a:avLst/>
          </a:prstGeom>
          <a:noFill/>
        </p:spPr>
        <p:txBody>
          <a:bodyPr wrap="square" lIns="9144" rIns="9144" tIns="9144" bIns="9144" anchor="ctr">
            <a:spAutoFit/>
          </a:bodyPr>
          <a:lstStyle/>
          <a:p>
            <a:pPr algn="ctr" rtl="0">
              <a:lnSpc>
                <a:spcPct val="100000"/>
              </a:lnSpc>
              <a:spcAft>
                <a:spcPts val="0"/>
              </a:spcAft>
            </a:pPr>
            <a:r>
              <a:rPr sz="1050" b="1" i="0" lang="en-US">
                <a:solidFill>
                  <a:srgbClr val="FFFFFF"/>
                </a:solidFill>
                <a:latin typeface="Aptos"/>
                <a:cs typeface="Aptos"/>
                <a:ea typeface="Aptos"/>
              </a:rPr>
              <a:t>03  /  التنفيذ التقني</a:t>
            </a:r>
          </a:p>
        </p:txBody>
      </p:sp>
      <p:sp>
        <p:nvSpPr>
          <p:cNvPr id="4" name="Rectangle 3"/>
          <p:cNvSpPr/>
          <p:nvPr/>
        </p:nvSpPr>
        <p:spPr>
          <a:xfrm>
            <a:off x="11594592" y="283464"/>
            <a:ext cx="64008" cy="502920"/>
          </a:xfrm>
          <a:prstGeom prst="rect">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063240" y="182880"/>
            <a:ext cx="8229600" cy="557784"/>
          </a:xfrm>
          <a:prstGeom prst="rect">
            <a:avLst/>
          </a:prstGeom>
          <a:noFill/>
        </p:spPr>
        <p:txBody>
          <a:bodyPr wrap="square" lIns="18288" rIns="18288" tIns="18288" bIns="18288" anchor="ctr">
            <a:spAutoFit/>
          </a:bodyPr>
          <a:lstStyle/>
          <a:p>
            <a:pPr algn="r" rtl="1">
              <a:lnSpc>
                <a:spcPct val="100000"/>
              </a:lnSpc>
              <a:spcAft>
                <a:spcPts val="0"/>
              </a:spcAft>
            </a:pPr>
            <a:r>
              <a:rPr sz="2600" b="1" i="0" lang="ar-DZ" rtl="1">
                <a:solidFill>
                  <a:srgbClr val="10233D"/>
                </a:solidFill>
                <a:latin typeface="Cairo"/>
                <a:cs typeface="Cairo"/>
                <a:ea typeface="Cairo"/>
              </a:rPr>
              <a:t>البنية التقنية: واجهة Delphi وقاعدة SQL Server</a:t>
            </a:r>
          </a:p>
        </p:txBody>
      </p:sp>
      <p:sp>
        <p:nvSpPr>
          <p:cNvPr id="6" name="TextBox 5"/>
          <p:cNvSpPr txBox="1"/>
          <p:nvPr/>
        </p:nvSpPr>
        <p:spPr>
          <a:xfrm>
            <a:off x="3063240" y="731520"/>
            <a:ext cx="8229600" cy="310896"/>
          </a:xfrm>
          <a:prstGeom prst="rect">
            <a:avLst/>
          </a:prstGeom>
          <a:noFill/>
        </p:spPr>
        <p:txBody>
          <a:bodyPr wrap="square" lIns="9144" rIns="9144" tIns="9144" bIns="9144" anchor="ctr">
            <a:spAutoFit/>
          </a:bodyPr>
          <a:lstStyle/>
          <a:p>
            <a:pPr algn="r" rtl="1">
              <a:lnSpc>
                <a:spcPct val="100000"/>
              </a:lnSpc>
              <a:spcAft>
                <a:spcPts val="0"/>
              </a:spcAft>
            </a:pPr>
            <a:r>
              <a:rPr sz="1350" b="0" i="0" lang="ar-DZ" rtl="1">
                <a:solidFill>
                  <a:srgbClr val="617187"/>
                </a:solidFill>
                <a:latin typeface="Cairo"/>
                <a:cs typeface="Cairo"/>
                <a:ea typeface="Cairo"/>
              </a:rPr>
              <a:t>التقنيات المعتمدة في المذكرة فقط، دون إضافة أطر أو لغات غير مستخدمة.</a:t>
            </a:r>
          </a:p>
        </p:txBody>
      </p:sp>
      <p:cxnSp>
        <p:nvCxnSpPr>
          <p:cNvPr id="7" name="Connector 6"/>
          <p:cNvCxnSpPr/>
          <p:nvPr/>
        </p:nvCxnSpPr>
        <p:spPr>
          <a:xfrm>
            <a:off x="530352" y="1170432"/>
            <a:ext cx="11128248" cy="0"/>
          </a:xfrm>
          <a:prstGeom prst="line">
            <a:avLst/>
          </a:prstGeom>
          <a:ln w="10160">
            <a:solidFill>
              <a:srgbClr val="D5DFE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30352" y="6382512"/>
            <a:ext cx="11128248" cy="0"/>
          </a:xfrm>
          <a:prstGeom prst="line">
            <a:avLst/>
          </a:prstGeom>
          <a:ln w="8890">
            <a:solidFill>
              <a:srgbClr val="D5DFEA"/>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03504" y="6437376"/>
            <a:ext cx="8778240" cy="210312"/>
          </a:xfrm>
          <a:prstGeom prst="rect">
            <a:avLst/>
          </a:prstGeom>
          <a:noFill/>
        </p:spPr>
        <p:txBody>
          <a:bodyPr wrap="square" lIns="0" rIns="0" tIns="0" bIns="0" anchor="ctr">
            <a:spAutoFit/>
          </a:bodyPr>
          <a:lstStyle/>
          <a:p>
            <a:pPr algn="l" rtl="1">
              <a:lnSpc>
                <a:spcPct val="100000"/>
              </a:lnSpc>
              <a:spcAft>
                <a:spcPts val="0"/>
              </a:spcAft>
            </a:pPr>
            <a:r>
              <a:rPr sz="850" b="0" i="0" lang="ar-DZ" rtl="1">
                <a:solidFill>
                  <a:srgbClr val="617187"/>
                </a:solidFill>
                <a:latin typeface="Cairo"/>
                <a:cs typeface="Cairo"/>
                <a:ea typeface="Cairo"/>
              </a:rPr>
              <a:t>المصدر: المذكرة، الفصل الثالث، ص 65–69، 75–76</a:t>
            </a:r>
          </a:p>
        </p:txBody>
      </p:sp>
      <p:sp>
        <p:nvSpPr>
          <p:cNvPr id="10" name="TextBox 9"/>
          <p:cNvSpPr txBox="1"/>
          <p:nvPr/>
        </p:nvSpPr>
        <p:spPr>
          <a:xfrm>
            <a:off x="10725912" y="6409944"/>
            <a:ext cx="932688" cy="228600"/>
          </a:xfrm>
          <a:prstGeom prst="rect">
            <a:avLst/>
          </a:prstGeom>
          <a:noFill/>
        </p:spPr>
        <p:txBody>
          <a:bodyPr wrap="square" lIns="0" rIns="0" tIns="0" bIns="0" anchor="ctr">
            <a:spAutoFit/>
          </a:bodyPr>
          <a:lstStyle/>
          <a:p>
            <a:pPr algn="l" rtl="0">
              <a:lnSpc>
                <a:spcPct val="100000"/>
              </a:lnSpc>
              <a:spcAft>
                <a:spcPts val="0"/>
              </a:spcAft>
            </a:pPr>
            <a:r>
              <a:rPr sz="950" b="1" i="0" lang="en-US">
                <a:solidFill>
                  <a:srgbClr val="10233D"/>
                </a:solidFill>
                <a:latin typeface="Aptos"/>
                <a:cs typeface="Aptos"/>
                <a:ea typeface="Aptos"/>
              </a:rPr>
              <a:t>15 / 20</a:t>
            </a:r>
          </a:p>
        </p:txBody>
      </p:sp>
      <p:sp>
        <p:nvSpPr>
          <p:cNvPr id="11" name="Rectangle 10"/>
          <p:cNvSpPr/>
          <p:nvPr/>
        </p:nvSpPr>
        <p:spPr>
          <a:xfrm>
            <a:off x="9400032" y="6519672"/>
            <a:ext cx="857250" cy="32004"/>
          </a:xfrm>
          <a:prstGeom prst="rect">
            <a:avLst/>
          </a:prstGeom>
          <a:solidFill>
            <a:srgbClr val="316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flipH="1">
            <a:off x="6537960" y="2514600"/>
            <a:ext cx="2057400" cy="0"/>
          </a:xfrm>
          <a:prstGeom prst="line">
            <a:avLst/>
          </a:prstGeom>
          <a:ln w="30480">
            <a:solidFill>
              <a:srgbClr val="DCA74C"/>
            </a:solidFill>
          </a:ln>
        </p:spPr>
        <p:style>
          <a:lnRef idx="2">
            <a:schemeClr val="accent1"/>
          </a:lnRef>
          <a:fillRef idx="0">
            <a:schemeClr val="accent1"/>
          </a:fillRef>
          <a:effectRef idx="1">
            <a:schemeClr val="accent1"/>
          </a:effectRef>
          <a:fontRef idx="minor">
            <a:schemeClr val="tx1"/>
          </a:fontRef>
        </p:style>
      </p:cxnSp>
      <p:sp>
        <p:nvSpPr>
          <p:cNvPr id="13" name="Isosceles Triangle 12"/>
          <p:cNvSpPr/>
          <p:nvPr/>
        </p:nvSpPr>
        <p:spPr>
          <a:xfrm rot="16200000">
            <a:off x="6464808" y="2441448"/>
            <a:ext cx="146304" cy="146304"/>
          </a:xfrm>
          <a:prstGeom prst="triangle">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flipH="1">
            <a:off x="3264408" y="2514600"/>
            <a:ext cx="1892808" cy="0"/>
          </a:xfrm>
          <a:prstGeom prst="line">
            <a:avLst/>
          </a:prstGeom>
          <a:ln w="30480">
            <a:solidFill>
              <a:srgbClr val="3167D5"/>
            </a:solidFill>
          </a:ln>
        </p:spPr>
        <p:style>
          <a:lnRef idx="2">
            <a:schemeClr val="accent1"/>
          </a:lnRef>
          <a:fillRef idx="0">
            <a:schemeClr val="accent1"/>
          </a:fillRef>
          <a:effectRef idx="1">
            <a:schemeClr val="accent1"/>
          </a:effectRef>
          <a:fontRef idx="minor">
            <a:schemeClr val="tx1"/>
          </a:fontRef>
        </p:style>
      </p:cxnSp>
      <p:sp>
        <p:nvSpPr>
          <p:cNvPr id="15" name="Isosceles Triangle 14"/>
          <p:cNvSpPr/>
          <p:nvPr/>
        </p:nvSpPr>
        <p:spPr>
          <a:xfrm rot="16200000">
            <a:off x="3191256" y="2441448"/>
            <a:ext cx="146304" cy="146304"/>
          </a:xfrm>
          <a:prstGeom prst="triangle">
            <a:avLst/>
          </a:prstGeom>
          <a:solidFill>
            <a:srgbClr val="316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276588" y="1769363"/>
            <a:ext cx="2157984" cy="1600200"/>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235440" y="1719072"/>
            <a:ext cx="2157984" cy="1600200"/>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085832" y="1965960"/>
            <a:ext cx="438912" cy="438912"/>
          </a:xfrm>
          <a:prstGeom prst="ellipse">
            <a:avLst/>
          </a:prstGeom>
          <a:solidFill>
            <a:srgbClr val="E7EFFD"/>
          </a:solidFill>
          <a:ln w="12700">
            <a:solidFill>
              <a:srgbClr val="3167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rc 18"/>
          <p:cNvSpPr/>
          <p:nvPr/>
        </p:nvSpPr>
        <p:spPr>
          <a:xfrm>
            <a:off x="9948672" y="2468880"/>
            <a:ext cx="713232" cy="420624"/>
          </a:xfrm>
          <a:prstGeom prst="arc">
            <a:avLst/>
          </a:prstGeom>
          <a:noFill/>
          <a:ln w="20320">
            <a:solidFill>
              <a:srgbClr val="3167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81744" y="2862072"/>
            <a:ext cx="1874519" cy="274320"/>
          </a:xfrm>
          <a:prstGeom prst="rect">
            <a:avLst/>
          </a:prstGeom>
          <a:noFill/>
        </p:spPr>
        <p:txBody>
          <a:bodyPr wrap="square" lIns="18288" rIns="18288" tIns="18288" bIns="18288" anchor="ctr">
            <a:spAutoFit/>
          </a:bodyPr>
          <a:lstStyle/>
          <a:p>
            <a:pPr algn="ctr" rtl="1">
              <a:lnSpc>
                <a:spcPct val="100000"/>
              </a:lnSpc>
              <a:spcAft>
                <a:spcPts val="0"/>
              </a:spcAft>
            </a:pPr>
            <a:r>
              <a:rPr sz="1350" b="1" i="0" lang="ar-DZ" rtl="1">
                <a:solidFill>
                  <a:srgbClr val="10233D"/>
                </a:solidFill>
                <a:latin typeface="Cairo"/>
                <a:cs typeface="Cairo"/>
                <a:ea typeface="Cairo"/>
              </a:rPr>
              <a:t>مستخدم مرخّص</a:t>
            </a:r>
          </a:p>
        </p:txBody>
      </p:sp>
      <p:sp>
        <p:nvSpPr>
          <p:cNvPr id="21" name="Rounded Rectangle 20"/>
          <p:cNvSpPr/>
          <p:nvPr/>
        </p:nvSpPr>
        <p:spPr>
          <a:xfrm>
            <a:off x="5248656" y="1554480"/>
            <a:ext cx="3328416" cy="1938528"/>
          </a:xfrm>
          <a:prstGeom prst="roundRect">
            <a:avLst/>
          </a:prstGeom>
          <a:solidFill>
            <a:srgbClr val="10233D"/>
          </a:solidFill>
          <a:ln w="1016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327648" y="1764792"/>
            <a:ext cx="1243584" cy="274320"/>
          </a:xfrm>
          <a:prstGeom prst="roundRect">
            <a:avLst/>
          </a:prstGeom>
          <a:solidFill>
            <a:srgbClr val="244A78"/>
          </a:solidFill>
          <a:ln w="8890">
            <a:solidFill>
              <a:srgbClr val="24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68796" y="1769363"/>
            <a:ext cx="1161288" cy="265176"/>
          </a:xfrm>
          <a:prstGeom prst="rect">
            <a:avLst/>
          </a:prstGeom>
          <a:noFill/>
        </p:spPr>
        <p:txBody>
          <a:bodyPr wrap="square" lIns="9144" rIns="9144" tIns="9144" bIns="9144" anchor="ctr">
            <a:spAutoFit/>
          </a:bodyPr>
          <a:lstStyle/>
          <a:p>
            <a:pPr algn="ctr" rtl="0">
              <a:lnSpc>
                <a:spcPct val="100000"/>
              </a:lnSpc>
              <a:spcAft>
                <a:spcPts val="0"/>
              </a:spcAft>
            </a:pPr>
            <a:r>
              <a:rPr sz="950" b="1" i="0" lang="en-US">
                <a:solidFill>
                  <a:srgbClr val="FFFFFF"/>
                </a:solidFill>
                <a:latin typeface="Aptos"/>
                <a:cs typeface="Aptos"/>
                <a:ea typeface="Aptos"/>
              </a:rPr>
              <a:t>APPLICATION</a:t>
            </a:r>
          </a:p>
        </p:txBody>
      </p:sp>
      <p:sp>
        <p:nvSpPr>
          <p:cNvPr id="24" name="TextBox 23"/>
          <p:cNvSpPr txBox="1"/>
          <p:nvPr/>
        </p:nvSpPr>
        <p:spPr>
          <a:xfrm>
            <a:off x="5504688" y="2157984"/>
            <a:ext cx="2816352" cy="347472"/>
          </a:xfrm>
          <a:prstGeom prst="rect">
            <a:avLst/>
          </a:prstGeom>
          <a:noFill/>
        </p:spPr>
        <p:txBody>
          <a:bodyPr wrap="square" lIns="18288" rIns="18288" tIns="18288" bIns="18288" anchor="ctr">
            <a:spAutoFit/>
          </a:bodyPr>
          <a:lstStyle/>
          <a:p>
            <a:pPr algn="ctr" rtl="1">
              <a:lnSpc>
                <a:spcPct val="100000"/>
              </a:lnSpc>
              <a:spcAft>
                <a:spcPts val="0"/>
              </a:spcAft>
            </a:pPr>
            <a:r>
              <a:rPr sz="1600" b="1" i="0" lang="ar-DZ" rtl="1">
                <a:solidFill>
                  <a:srgbClr val="DCA74C"/>
                </a:solidFill>
                <a:latin typeface="Cairo"/>
                <a:cs typeface="Cairo"/>
                <a:ea typeface="Cairo"/>
              </a:rPr>
              <a:t>تطبيق سطح مكتب</a:t>
            </a:r>
          </a:p>
        </p:txBody>
      </p:sp>
      <p:sp>
        <p:nvSpPr>
          <p:cNvPr id="25" name="TextBox 24"/>
          <p:cNvSpPr txBox="1"/>
          <p:nvPr/>
        </p:nvSpPr>
        <p:spPr>
          <a:xfrm>
            <a:off x="5486400" y="2569464"/>
            <a:ext cx="2852928" cy="283464"/>
          </a:xfrm>
          <a:prstGeom prst="rect">
            <a:avLst/>
          </a:prstGeom>
          <a:noFill/>
        </p:spPr>
        <p:txBody>
          <a:bodyPr wrap="square" lIns="18288" rIns="18288" tIns="18288" bIns="18288" anchor="ctr">
            <a:spAutoFit/>
          </a:bodyPr>
          <a:lstStyle/>
          <a:p>
            <a:pPr algn="ctr" rtl="0">
              <a:lnSpc>
                <a:spcPct val="100000"/>
              </a:lnSpc>
              <a:spcAft>
                <a:spcPts val="0"/>
              </a:spcAft>
            </a:pPr>
            <a:r>
              <a:rPr sz="1250" b="1" i="0" lang="en-US">
                <a:solidFill>
                  <a:srgbClr val="FFFFFF"/>
                </a:solidFill>
                <a:latin typeface="Aptos"/>
                <a:cs typeface="Aptos"/>
                <a:ea typeface="Aptos"/>
              </a:rPr>
              <a:t>Delphi 10.4  /  RAD Studio</a:t>
            </a:r>
          </a:p>
        </p:txBody>
      </p:sp>
      <p:sp>
        <p:nvSpPr>
          <p:cNvPr id="26" name="TextBox 25"/>
          <p:cNvSpPr txBox="1"/>
          <p:nvPr/>
        </p:nvSpPr>
        <p:spPr>
          <a:xfrm>
            <a:off x="5486400" y="2962656"/>
            <a:ext cx="2852928" cy="292608"/>
          </a:xfrm>
          <a:prstGeom prst="rect">
            <a:avLst/>
          </a:prstGeom>
          <a:noFill/>
        </p:spPr>
        <p:txBody>
          <a:bodyPr wrap="square" lIns="18288" rIns="18288" tIns="18288" bIns="18288" anchor="ctr">
            <a:spAutoFit/>
          </a:bodyPr>
          <a:lstStyle/>
          <a:p>
            <a:pPr algn="ctr" rtl="1">
              <a:lnSpc>
                <a:spcPct val="100000"/>
              </a:lnSpc>
              <a:spcAft>
                <a:spcPts val="0"/>
              </a:spcAft>
            </a:pPr>
            <a:r>
              <a:rPr sz="1150" b="0" i="0" lang="ar-DZ" rtl="1">
                <a:solidFill>
                  <a:srgbClr val="D4E1F0"/>
                </a:solidFill>
                <a:latin typeface="Cairo"/>
                <a:cs typeface="Cairo"/>
                <a:ea typeface="Cairo"/>
              </a:rPr>
              <a:t>إدارة الكتب • الطلبة • الإعارة</a:t>
            </a:r>
          </a:p>
        </p:txBody>
      </p:sp>
      <p:sp>
        <p:nvSpPr>
          <p:cNvPr id="27" name="Rounded Rectangle 26"/>
          <p:cNvSpPr/>
          <p:nvPr/>
        </p:nvSpPr>
        <p:spPr>
          <a:xfrm>
            <a:off x="699516" y="1604772"/>
            <a:ext cx="4462272" cy="1938528"/>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58368" y="1554480"/>
            <a:ext cx="4462272" cy="1938528"/>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87552" y="1764792"/>
            <a:ext cx="1078992" cy="274320"/>
          </a:xfrm>
          <a:prstGeom prst="roundRect">
            <a:avLst/>
          </a:prstGeom>
          <a:solidFill>
            <a:srgbClr val="E7EFFD"/>
          </a:solidFill>
          <a:ln w="8890">
            <a:solidFill>
              <a:srgbClr val="E7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28700" y="1769363"/>
            <a:ext cx="996695" cy="265176"/>
          </a:xfrm>
          <a:prstGeom prst="rect">
            <a:avLst/>
          </a:prstGeom>
          <a:noFill/>
        </p:spPr>
        <p:txBody>
          <a:bodyPr wrap="square" lIns="9144" rIns="9144" tIns="9144" bIns="9144" anchor="ctr">
            <a:spAutoFit/>
          </a:bodyPr>
          <a:lstStyle/>
          <a:p>
            <a:pPr algn="ctr" rtl="0">
              <a:lnSpc>
                <a:spcPct val="100000"/>
              </a:lnSpc>
              <a:spcAft>
                <a:spcPts val="0"/>
              </a:spcAft>
            </a:pPr>
            <a:r>
              <a:rPr sz="950" b="1" i="0" lang="en-US">
                <a:solidFill>
                  <a:srgbClr val="3167D5"/>
                </a:solidFill>
                <a:latin typeface="Aptos"/>
                <a:cs typeface="Aptos"/>
                <a:ea typeface="Aptos"/>
              </a:rPr>
              <a:t>DATABASE</a:t>
            </a:r>
          </a:p>
        </p:txBody>
      </p:sp>
      <p:sp>
        <p:nvSpPr>
          <p:cNvPr id="31" name="TextBox 30"/>
          <p:cNvSpPr txBox="1"/>
          <p:nvPr/>
        </p:nvSpPr>
        <p:spPr>
          <a:xfrm>
            <a:off x="2112264" y="1755648"/>
            <a:ext cx="2688336" cy="292608"/>
          </a:xfrm>
          <a:prstGeom prst="rect">
            <a:avLst/>
          </a:prstGeom>
          <a:noFill/>
        </p:spPr>
        <p:txBody>
          <a:bodyPr wrap="square" lIns="18288" rIns="18288" tIns="18288" bIns="18288" anchor="ctr">
            <a:spAutoFit/>
          </a:bodyPr>
          <a:lstStyle/>
          <a:p>
            <a:pPr algn="r" rtl="0">
              <a:lnSpc>
                <a:spcPct val="100000"/>
              </a:lnSpc>
              <a:spcAft>
                <a:spcPts val="0"/>
              </a:spcAft>
            </a:pPr>
            <a:r>
              <a:rPr sz="1450" b="1" i="0" lang="en-US">
                <a:solidFill>
                  <a:srgbClr val="10233D"/>
                </a:solidFill>
                <a:latin typeface="Aptos"/>
                <a:cs typeface="Aptos"/>
                <a:ea typeface="Aptos"/>
              </a:rPr>
              <a:t>SQL Server 2017 Express</a:t>
            </a:r>
          </a:p>
        </p:txBody>
      </p:sp>
      <p:sp>
        <p:nvSpPr>
          <p:cNvPr id="32" name="Can 31"/>
          <p:cNvSpPr/>
          <p:nvPr/>
        </p:nvSpPr>
        <p:spPr>
          <a:xfrm>
            <a:off x="960120" y="2304288"/>
            <a:ext cx="859536" cy="896112"/>
          </a:xfrm>
          <a:prstGeom prst="can">
            <a:avLst/>
          </a:prstGeom>
          <a:solidFill>
            <a:srgbClr val="3167D5"/>
          </a:solidFill>
          <a:ln w="6350">
            <a:solidFill>
              <a:srgbClr val="3167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a:off x="1005840" y="2587752"/>
            <a:ext cx="768096" cy="0"/>
          </a:xfrm>
          <a:prstGeom prst="line">
            <a:avLst/>
          </a:prstGeom>
          <a:ln w="12700">
            <a:solidFill>
              <a:srgbClr val="B8CCF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005840" y="2834640"/>
            <a:ext cx="768096" cy="0"/>
          </a:xfrm>
          <a:prstGeom prst="line">
            <a:avLst/>
          </a:prstGeom>
          <a:ln w="12700">
            <a:solidFill>
              <a:srgbClr val="B8CCF4"/>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2029968" y="2340864"/>
            <a:ext cx="2715768" cy="384048"/>
          </a:xfrm>
          <a:prstGeom prst="rect">
            <a:avLst/>
          </a:prstGeom>
          <a:noFill/>
        </p:spPr>
        <p:txBody>
          <a:bodyPr wrap="square" lIns="18288" rIns="18288" tIns="18288" bIns="18288" anchor="ctr">
            <a:spAutoFit/>
          </a:bodyPr>
          <a:lstStyle/>
          <a:p>
            <a:pPr algn="l" rtl="0">
              <a:lnSpc>
                <a:spcPct val="100000"/>
              </a:lnSpc>
              <a:spcAft>
                <a:spcPts val="0"/>
              </a:spcAft>
            </a:pPr>
            <a:r>
              <a:rPr sz="1900" b="1" i="0" lang="en-US">
                <a:solidFill>
                  <a:srgbClr val="10233D"/>
                </a:solidFill>
                <a:latin typeface="Consolas"/>
                <a:cs typeface="Aptos"/>
                <a:ea typeface="Aptos"/>
              </a:rPr>
              <a:t>My_Data</a:t>
            </a:r>
          </a:p>
        </p:txBody>
      </p:sp>
      <p:sp>
        <p:nvSpPr>
          <p:cNvPr id="36" name="TextBox 35"/>
          <p:cNvSpPr txBox="1"/>
          <p:nvPr/>
        </p:nvSpPr>
        <p:spPr>
          <a:xfrm>
            <a:off x="2029968" y="2788920"/>
            <a:ext cx="2715768" cy="274320"/>
          </a:xfrm>
          <a:prstGeom prst="rect">
            <a:avLst/>
          </a:prstGeom>
          <a:noFill/>
        </p:spPr>
        <p:txBody>
          <a:bodyPr wrap="square" lIns="18288" rIns="18288" tIns="18288" bIns="18288" anchor="ctr">
            <a:spAutoFit/>
          </a:bodyPr>
          <a:lstStyle/>
          <a:p>
            <a:pPr algn="l" rtl="1">
              <a:lnSpc>
                <a:spcPct val="100000"/>
              </a:lnSpc>
              <a:spcAft>
                <a:spcPts val="0"/>
              </a:spcAft>
            </a:pPr>
            <a:r>
              <a:rPr sz="1250" b="0" i="0" lang="ar-DZ" rtl="1">
                <a:solidFill>
                  <a:srgbClr val="617187"/>
                </a:solidFill>
                <a:latin typeface="Cairo"/>
                <a:cs typeface="Cairo"/>
                <a:ea typeface="Cairo"/>
              </a:rPr>
              <a:t>جداول مترابطة • SQL</a:t>
            </a:r>
          </a:p>
        </p:txBody>
      </p:sp>
      <p:sp>
        <p:nvSpPr>
          <p:cNvPr id="37" name="Rounded Rectangle 36"/>
          <p:cNvSpPr/>
          <p:nvPr/>
        </p:nvSpPr>
        <p:spPr>
          <a:xfrm>
            <a:off x="772668" y="4091939"/>
            <a:ext cx="10716768" cy="1600200"/>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731520" y="4041648"/>
            <a:ext cx="10716768" cy="1600200"/>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567928" y="4242816"/>
            <a:ext cx="2468880" cy="301752"/>
          </a:xfrm>
          <a:prstGeom prst="rect">
            <a:avLst/>
          </a:prstGeom>
          <a:noFill/>
        </p:spPr>
        <p:txBody>
          <a:bodyPr wrap="square" lIns="18288" rIns="18288" tIns="18288" bIns="18288" anchor="ctr">
            <a:spAutoFit/>
          </a:bodyPr>
          <a:lstStyle/>
          <a:p>
            <a:pPr algn="r" rtl="1">
              <a:lnSpc>
                <a:spcPct val="100000"/>
              </a:lnSpc>
              <a:spcAft>
                <a:spcPts val="0"/>
              </a:spcAft>
            </a:pPr>
            <a:r>
              <a:rPr sz="1450" b="1" i="0" lang="ar-DZ" rtl="1">
                <a:solidFill>
                  <a:srgbClr val="10233D"/>
                </a:solidFill>
                <a:latin typeface="Cairo"/>
                <a:cs typeface="Cairo"/>
                <a:ea typeface="Cairo"/>
              </a:rPr>
              <a:t>منطق داخل قاعدة البيانات</a:t>
            </a:r>
          </a:p>
        </p:txBody>
      </p:sp>
      <p:sp>
        <p:nvSpPr>
          <p:cNvPr id="40" name="Rounded Rectangle 39"/>
          <p:cNvSpPr/>
          <p:nvPr/>
        </p:nvSpPr>
        <p:spPr>
          <a:xfrm>
            <a:off x="6382512" y="4224528"/>
            <a:ext cx="1856231" cy="310896"/>
          </a:xfrm>
          <a:prstGeom prst="roundRect">
            <a:avLst/>
          </a:prstGeom>
          <a:solidFill>
            <a:srgbClr val="E7EFFD"/>
          </a:solidFill>
          <a:ln w="8890">
            <a:solidFill>
              <a:srgbClr val="E7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23660" y="4229100"/>
            <a:ext cx="1773935" cy="301752"/>
          </a:xfrm>
          <a:prstGeom prst="rect">
            <a:avLst/>
          </a:prstGeom>
          <a:noFill/>
        </p:spPr>
        <p:txBody>
          <a:bodyPr wrap="square" lIns="9144" rIns="9144" tIns="9144" bIns="9144" anchor="ctr">
            <a:spAutoFit/>
          </a:bodyPr>
          <a:lstStyle/>
          <a:p>
            <a:pPr algn="ctr" rtl="0">
              <a:lnSpc>
                <a:spcPct val="100000"/>
              </a:lnSpc>
              <a:spcAft>
                <a:spcPts val="0"/>
              </a:spcAft>
            </a:pPr>
            <a:r>
              <a:rPr sz="1000" b="1" i="0" lang="en-US">
                <a:solidFill>
                  <a:srgbClr val="10233D"/>
                </a:solidFill>
                <a:latin typeface="Aptos"/>
                <a:cs typeface="Aptos"/>
                <a:ea typeface="Aptos"/>
              </a:rPr>
              <a:t>Stored Procedures</a:t>
            </a:r>
          </a:p>
        </p:txBody>
      </p:sp>
      <p:sp>
        <p:nvSpPr>
          <p:cNvPr id="42" name="TextBox 41"/>
          <p:cNvSpPr txBox="1"/>
          <p:nvPr/>
        </p:nvSpPr>
        <p:spPr>
          <a:xfrm>
            <a:off x="3703320" y="4690872"/>
            <a:ext cx="4297680" cy="320040"/>
          </a:xfrm>
          <a:prstGeom prst="rect">
            <a:avLst/>
          </a:prstGeom>
          <a:noFill/>
        </p:spPr>
        <p:txBody>
          <a:bodyPr wrap="square" lIns="18288" rIns="18288" tIns="18288" bIns="18288" anchor="ctr">
            <a:spAutoFit/>
          </a:bodyPr>
          <a:lstStyle/>
          <a:p>
            <a:pPr algn="ctr" rtl="0">
              <a:lnSpc>
                <a:spcPct val="100000"/>
              </a:lnSpc>
              <a:spcAft>
                <a:spcPts val="0"/>
              </a:spcAft>
            </a:pPr>
            <a:r>
              <a:rPr sz="1220" b="1" i="0" lang="en-US">
                <a:solidFill>
                  <a:srgbClr val="17263A"/>
                </a:solidFill>
                <a:latin typeface="Consolas"/>
                <a:cs typeface="Aptos"/>
                <a:ea typeface="Aptos"/>
              </a:rPr>
              <a:t>AddMoalf  •  UpdateMoalf  •  DeleteMoalf</a:t>
            </a:r>
          </a:p>
        </p:txBody>
      </p:sp>
      <p:sp>
        <p:nvSpPr>
          <p:cNvPr id="43" name="Rounded Rectangle 42"/>
          <p:cNvSpPr/>
          <p:nvPr/>
        </p:nvSpPr>
        <p:spPr>
          <a:xfrm>
            <a:off x="2240280" y="4224528"/>
            <a:ext cx="987552" cy="310896"/>
          </a:xfrm>
          <a:prstGeom prst="roundRect">
            <a:avLst/>
          </a:prstGeom>
          <a:solidFill>
            <a:srgbClr val="F8F0DF"/>
          </a:solidFill>
          <a:ln w="8890">
            <a:solidFill>
              <a:srgbClr val="F8F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281428" y="4229100"/>
            <a:ext cx="905256" cy="301752"/>
          </a:xfrm>
          <a:prstGeom prst="rect">
            <a:avLst/>
          </a:prstGeom>
          <a:noFill/>
        </p:spPr>
        <p:txBody>
          <a:bodyPr wrap="square" lIns="9144" rIns="9144" tIns="9144" bIns="9144" anchor="ctr">
            <a:spAutoFit/>
          </a:bodyPr>
          <a:lstStyle/>
          <a:p>
            <a:pPr algn="ctr" rtl="0">
              <a:lnSpc>
                <a:spcPct val="100000"/>
              </a:lnSpc>
              <a:spcAft>
                <a:spcPts val="0"/>
              </a:spcAft>
            </a:pPr>
            <a:r>
              <a:rPr sz="1050" b="1" i="0" lang="en-US">
                <a:solidFill>
                  <a:srgbClr val="10233D"/>
                </a:solidFill>
                <a:latin typeface="Aptos"/>
                <a:cs typeface="Aptos"/>
                <a:ea typeface="Aptos"/>
              </a:rPr>
              <a:t>Trigger</a:t>
            </a:r>
          </a:p>
        </p:txBody>
      </p:sp>
      <p:sp>
        <p:nvSpPr>
          <p:cNvPr id="45" name="TextBox 44"/>
          <p:cNvSpPr txBox="1"/>
          <p:nvPr/>
        </p:nvSpPr>
        <p:spPr>
          <a:xfrm>
            <a:off x="896112" y="5065776"/>
            <a:ext cx="3639312" cy="310896"/>
          </a:xfrm>
          <a:prstGeom prst="rect">
            <a:avLst/>
          </a:prstGeom>
          <a:noFill/>
        </p:spPr>
        <p:txBody>
          <a:bodyPr wrap="square" lIns="18288" rIns="18288" tIns="18288" bIns="18288" anchor="ctr">
            <a:spAutoFit/>
          </a:bodyPr>
          <a:lstStyle/>
          <a:p>
            <a:pPr algn="ctr" rtl="1">
              <a:lnSpc>
                <a:spcPct val="100000"/>
              </a:lnSpc>
              <a:spcAft>
                <a:spcPts val="0"/>
              </a:spcAft>
            </a:pPr>
            <a:r>
              <a:rPr sz="1070" b="0" i="0" lang="ar-DZ" rtl="1">
                <a:solidFill>
                  <a:srgbClr val="617187"/>
                </a:solidFill>
                <a:latin typeface="Cairo"/>
                <a:cs typeface="Cairo"/>
                <a:ea typeface="Cairo"/>
              </a:rPr>
              <a:t>قادح مذكور في SQL Server؛ لا تفصّل المذكرة وظيفته.</a:t>
            </a:r>
          </a:p>
        </p:txBody>
      </p:sp>
      <p:sp>
        <p:nvSpPr>
          <p:cNvPr id="46" name="TextBox 45"/>
          <p:cNvSpPr txBox="1"/>
          <p:nvPr/>
        </p:nvSpPr>
        <p:spPr>
          <a:xfrm>
            <a:off x="4599432" y="5212080"/>
            <a:ext cx="6236208" cy="265176"/>
          </a:xfrm>
          <a:prstGeom prst="rect">
            <a:avLst/>
          </a:prstGeom>
          <a:noFill/>
        </p:spPr>
        <p:txBody>
          <a:bodyPr wrap="square" lIns="18288" rIns="18288" tIns="18288" bIns="18288" anchor="ctr">
            <a:spAutoFit/>
          </a:bodyPr>
          <a:lstStyle/>
          <a:p>
            <a:pPr algn="r" rtl="1">
              <a:lnSpc>
                <a:spcPct val="100000"/>
              </a:lnSpc>
              <a:spcAft>
                <a:spcPts val="0"/>
              </a:spcAft>
            </a:pPr>
            <a:r>
              <a:rPr sz="1150" b="0" i="0" lang="ar-DZ" rtl="1">
                <a:solidFill>
                  <a:srgbClr val="617187"/>
                </a:solidFill>
                <a:latin typeface="Cairo"/>
                <a:cs typeface="Cairo"/>
                <a:ea typeface="Cairo"/>
              </a:rPr>
              <a:t>الاتصال بين التطبيق وقاعدة البيانات موثق بأوامر SQL وإجراءات مخزنة.</a:t>
            </a:r>
          </a:p>
        </p:txBody>
      </p:sp>
    </p:spTree>
  </p:cSld>
  <p:clrMapOvr>
    <a:masterClrMapping/>
  </p:clrMapOvr>
  <p:transition spd="med" advClick="1">
    <p:push dir="l"/>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ounded Rectangle 1"/>
          <p:cNvSpPr/>
          <p:nvPr/>
        </p:nvSpPr>
        <p:spPr>
          <a:xfrm>
            <a:off x="530352" y="292608"/>
            <a:ext cx="2423160" cy="310896"/>
          </a:xfrm>
          <a:prstGeom prst="roundRect">
            <a:avLst/>
          </a:prstGeom>
          <a:solidFill>
            <a:srgbClr val="10233D"/>
          </a:solidFill>
          <a:ln w="889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1500" y="297180"/>
            <a:ext cx="2340864" cy="301752"/>
          </a:xfrm>
          <a:prstGeom prst="rect">
            <a:avLst/>
          </a:prstGeom>
          <a:noFill/>
        </p:spPr>
        <p:txBody>
          <a:bodyPr wrap="square" lIns="9144" rIns="9144" tIns="9144" bIns="9144" anchor="ctr">
            <a:spAutoFit/>
          </a:bodyPr>
          <a:lstStyle/>
          <a:p>
            <a:pPr algn="ctr" rtl="0">
              <a:lnSpc>
                <a:spcPct val="100000"/>
              </a:lnSpc>
              <a:spcAft>
                <a:spcPts val="0"/>
              </a:spcAft>
            </a:pPr>
            <a:r>
              <a:rPr sz="1050" b="1" i="0" lang="en-US">
                <a:solidFill>
                  <a:srgbClr val="FFFFFF"/>
                </a:solidFill>
                <a:latin typeface="Aptos"/>
                <a:cs typeface="Aptos"/>
                <a:ea typeface="Aptos"/>
              </a:rPr>
              <a:t>04  /  الحماية والاستعمال</a:t>
            </a:r>
          </a:p>
        </p:txBody>
      </p:sp>
      <p:sp>
        <p:nvSpPr>
          <p:cNvPr id="4" name="Rectangle 3"/>
          <p:cNvSpPr/>
          <p:nvPr/>
        </p:nvSpPr>
        <p:spPr>
          <a:xfrm>
            <a:off x="11594592" y="283464"/>
            <a:ext cx="64008" cy="502920"/>
          </a:xfrm>
          <a:prstGeom prst="rect">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063240" y="182880"/>
            <a:ext cx="8229600" cy="557784"/>
          </a:xfrm>
          <a:prstGeom prst="rect">
            <a:avLst/>
          </a:prstGeom>
          <a:noFill/>
        </p:spPr>
        <p:txBody>
          <a:bodyPr wrap="square" lIns="18288" rIns="18288" tIns="18288" bIns="18288" anchor="ctr">
            <a:spAutoFit/>
          </a:bodyPr>
          <a:lstStyle/>
          <a:p>
            <a:pPr algn="r" rtl="1">
              <a:lnSpc>
                <a:spcPct val="100000"/>
              </a:lnSpc>
              <a:spcAft>
                <a:spcPts val="0"/>
              </a:spcAft>
            </a:pPr>
            <a:r>
              <a:rPr sz="2600" b="1" i="0" lang="ar-DZ" rtl="1">
                <a:solidFill>
                  <a:srgbClr val="10233D"/>
                </a:solidFill>
                <a:latin typeface="Cairo"/>
                <a:cs typeface="Cairo"/>
                <a:ea typeface="Cairo"/>
              </a:rPr>
              <a:t>الأمن واستمرارية البيانات</a:t>
            </a:r>
          </a:p>
        </p:txBody>
      </p:sp>
      <p:sp>
        <p:nvSpPr>
          <p:cNvPr id="6" name="TextBox 5"/>
          <p:cNvSpPr txBox="1"/>
          <p:nvPr/>
        </p:nvSpPr>
        <p:spPr>
          <a:xfrm>
            <a:off x="3063240" y="731520"/>
            <a:ext cx="8229600" cy="310896"/>
          </a:xfrm>
          <a:prstGeom prst="rect">
            <a:avLst/>
          </a:prstGeom>
          <a:noFill/>
        </p:spPr>
        <p:txBody>
          <a:bodyPr wrap="square" lIns="9144" rIns="9144" tIns="9144" bIns="9144" anchor="ctr">
            <a:spAutoFit/>
          </a:bodyPr>
          <a:lstStyle/>
          <a:p>
            <a:pPr algn="r" rtl="1">
              <a:lnSpc>
                <a:spcPct val="100000"/>
              </a:lnSpc>
              <a:spcAft>
                <a:spcPts val="0"/>
              </a:spcAft>
            </a:pPr>
            <a:r>
              <a:rPr sz="1350" b="0" i="0" lang="ar-DZ" rtl="1">
                <a:solidFill>
                  <a:srgbClr val="617187"/>
                </a:solidFill>
                <a:latin typeface="Cairo"/>
                <a:cs typeface="Cairo"/>
                <a:ea typeface="Cairo"/>
              </a:rPr>
              <a:t>الحماية تشمل المستخدم والبيانات والعتاد، مع مسار أرشفة واسترجاع موثق.</a:t>
            </a:r>
          </a:p>
        </p:txBody>
      </p:sp>
      <p:cxnSp>
        <p:nvCxnSpPr>
          <p:cNvPr id="7" name="Connector 6"/>
          <p:cNvCxnSpPr/>
          <p:nvPr/>
        </p:nvCxnSpPr>
        <p:spPr>
          <a:xfrm>
            <a:off x="530352" y="1170432"/>
            <a:ext cx="11128248" cy="0"/>
          </a:xfrm>
          <a:prstGeom prst="line">
            <a:avLst/>
          </a:prstGeom>
          <a:ln w="10160">
            <a:solidFill>
              <a:srgbClr val="D5DFE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30352" y="6382512"/>
            <a:ext cx="11128248" cy="0"/>
          </a:xfrm>
          <a:prstGeom prst="line">
            <a:avLst/>
          </a:prstGeom>
          <a:ln w="8890">
            <a:solidFill>
              <a:srgbClr val="D5DFEA"/>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03504" y="6437376"/>
            <a:ext cx="8778240" cy="210312"/>
          </a:xfrm>
          <a:prstGeom prst="rect">
            <a:avLst/>
          </a:prstGeom>
          <a:noFill/>
        </p:spPr>
        <p:txBody>
          <a:bodyPr wrap="square" lIns="0" rIns="0" tIns="0" bIns="0" anchor="ctr">
            <a:spAutoFit/>
          </a:bodyPr>
          <a:lstStyle/>
          <a:p>
            <a:pPr algn="l" rtl="1">
              <a:lnSpc>
                <a:spcPct val="100000"/>
              </a:lnSpc>
              <a:spcAft>
                <a:spcPts val="0"/>
              </a:spcAft>
            </a:pPr>
            <a:r>
              <a:rPr sz="850" b="0" i="0" lang="ar-DZ" rtl="1">
                <a:solidFill>
                  <a:srgbClr val="617187"/>
                </a:solidFill>
                <a:latin typeface="Cairo"/>
                <a:cs typeface="Cairo"/>
                <a:ea typeface="Cairo"/>
              </a:rPr>
              <a:t>المصدر: المذكرة، الفصل الثالث، ص 77–81</a:t>
            </a:r>
          </a:p>
        </p:txBody>
      </p:sp>
      <p:sp>
        <p:nvSpPr>
          <p:cNvPr id="10" name="TextBox 9"/>
          <p:cNvSpPr txBox="1"/>
          <p:nvPr/>
        </p:nvSpPr>
        <p:spPr>
          <a:xfrm>
            <a:off x="10725912" y="6409944"/>
            <a:ext cx="932688" cy="228600"/>
          </a:xfrm>
          <a:prstGeom prst="rect">
            <a:avLst/>
          </a:prstGeom>
          <a:noFill/>
        </p:spPr>
        <p:txBody>
          <a:bodyPr wrap="square" lIns="0" rIns="0" tIns="0" bIns="0" anchor="ctr">
            <a:spAutoFit/>
          </a:bodyPr>
          <a:lstStyle/>
          <a:p>
            <a:pPr algn="l" rtl="0">
              <a:lnSpc>
                <a:spcPct val="100000"/>
              </a:lnSpc>
              <a:spcAft>
                <a:spcPts val="0"/>
              </a:spcAft>
            </a:pPr>
            <a:r>
              <a:rPr sz="950" b="1" i="0" lang="en-US">
                <a:solidFill>
                  <a:srgbClr val="10233D"/>
                </a:solidFill>
                <a:latin typeface="Aptos"/>
                <a:cs typeface="Aptos"/>
                <a:ea typeface="Aptos"/>
              </a:rPr>
              <a:t>16 / 20</a:t>
            </a:r>
          </a:p>
        </p:txBody>
      </p:sp>
      <p:sp>
        <p:nvSpPr>
          <p:cNvPr id="11" name="Rectangle 10"/>
          <p:cNvSpPr/>
          <p:nvPr/>
        </p:nvSpPr>
        <p:spPr>
          <a:xfrm>
            <a:off x="9400032" y="6519672"/>
            <a:ext cx="914400" cy="32004"/>
          </a:xfrm>
          <a:prstGeom prst="rect">
            <a:avLst/>
          </a:prstGeom>
          <a:solidFill>
            <a:srgbClr val="316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911596" y="1440180"/>
            <a:ext cx="5650992" cy="4718304"/>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870448" y="1389888"/>
            <a:ext cx="5650992" cy="4718304"/>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51392" y="1609344"/>
            <a:ext cx="2267712" cy="310896"/>
          </a:xfrm>
          <a:prstGeom prst="rect">
            <a:avLst/>
          </a:prstGeom>
          <a:noFill/>
        </p:spPr>
        <p:txBody>
          <a:bodyPr wrap="square" lIns="18288" rIns="18288" tIns="18288" bIns="18288" anchor="ctr">
            <a:spAutoFit/>
          </a:bodyPr>
          <a:lstStyle/>
          <a:p>
            <a:pPr algn="r" rtl="1">
              <a:lnSpc>
                <a:spcPct val="100000"/>
              </a:lnSpc>
              <a:spcAft>
                <a:spcPts val="0"/>
              </a:spcAft>
            </a:pPr>
            <a:r>
              <a:rPr sz="1600" b="1" i="0" lang="ar-DZ" rtl="1">
                <a:solidFill>
                  <a:srgbClr val="10233D"/>
                </a:solidFill>
                <a:latin typeface="Cairo"/>
                <a:cs typeface="Cairo"/>
                <a:ea typeface="Cairo"/>
              </a:rPr>
              <a:t>ضوابط الحماية</a:t>
            </a:r>
          </a:p>
        </p:txBody>
      </p:sp>
      <p:sp>
        <p:nvSpPr>
          <p:cNvPr id="15" name="Rounded Rectangle 14"/>
          <p:cNvSpPr/>
          <p:nvPr/>
        </p:nvSpPr>
        <p:spPr>
          <a:xfrm>
            <a:off x="6144768" y="2057400"/>
            <a:ext cx="5074920" cy="685800"/>
          </a:xfrm>
          <a:prstGeom prst="roundRect">
            <a:avLst/>
          </a:prstGeom>
          <a:solidFill>
            <a:srgbClr val="F8FAFD"/>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625328" y="2221992"/>
            <a:ext cx="438912" cy="256032"/>
          </a:xfrm>
          <a:prstGeom prst="roundRect">
            <a:avLst/>
          </a:prstGeom>
          <a:solidFill>
            <a:srgbClr val="3167D5"/>
          </a:solidFill>
          <a:ln w="8890">
            <a:solidFill>
              <a:srgbClr val="3167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66476" y="2226564"/>
            <a:ext cx="356616" cy="246888"/>
          </a:xfrm>
          <a:prstGeom prst="rect">
            <a:avLst/>
          </a:prstGeom>
          <a:noFill/>
        </p:spPr>
        <p:txBody>
          <a:bodyPr wrap="square" lIns="9144" rIns="9144" tIns="9144" bIns="9144" anchor="ctr">
            <a:spAutoFit/>
          </a:bodyPr>
          <a:lstStyle/>
          <a:p>
            <a:pPr algn="ctr" rtl="0">
              <a:lnSpc>
                <a:spcPct val="100000"/>
              </a:lnSpc>
              <a:spcAft>
                <a:spcPts val="0"/>
              </a:spcAft>
            </a:pPr>
            <a:r>
              <a:rPr sz="900" b="1" i="0" lang="en-US">
                <a:solidFill>
                  <a:srgbClr val="FFFFFF"/>
                </a:solidFill>
                <a:latin typeface="Aptos"/>
                <a:cs typeface="Aptos"/>
                <a:ea typeface="Aptos"/>
              </a:rPr>
              <a:t>01</a:t>
            </a:r>
          </a:p>
        </p:txBody>
      </p:sp>
      <p:sp>
        <p:nvSpPr>
          <p:cNvPr id="18" name="TextBox 17"/>
          <p:cNvSpPr txBox="1"/>
          <p:nvPr/>
        </p:nvSpPr>
        <p:spPr>
          <a:xfrm>
            <a:off x="9098280" y="2167128"/>
            <a:ext cx="1325880" cy="237744"/>
          </a:xfrm>
          <a:prstGeom prst="rect">
            <a:avLst/>
          </a:prstGeom>
          <a:noFill/>
        </p:spPr>
        <p:txBody>
          <a:bodyPr wrap="square" lIns="18288" rIns="18288" tIns="18288" bIns="18288" anchor="ctr">
            <a:spAutoFit/>
          </a:bodyPr>
          <a:lstStyle/>
          <a:p>
            <a:pPr algn="r" rtl="1">
              <a:lnSpc>
                <a:spcPct val="100000"/>
              </a:lnSpc>
              <a:spcAft>
                <a:spcPts val="0"/>
              </a:spcAft>
            </a:pPr>
            <a:r>
              <a:rPr sz="1250" b="1" i="0" lang="ar-DZ" rtl="1">
                <a:solidFill>
                  <a:srgbClr val="3167D5"/>
                </a:solidFill>
                <a:latin typeface="Cairo"/>
                <a:cs typeface="Cairo"/>
                <a:ea typeface="Cairo"/>
              </a:rPr>
              <a:t>الدخول</a:t>
            </a:r>
          </a:p>
        </p:txBody>
      </p:sp>
      <p:sp>
        <p:nvSpPr>
          <p:cNvPr id="19" name="TextBox 18"/>
          <p:cNvSpPr txBox="1"/>
          <p:nvPr/>
        </p:nvSpPr>
        <p:spPr>
          <a:xfrm>
            <a:off x="6355080" y="2414016"/>
            <a:ext cx="4041648" cy="256032"/>
          </a:xfrm>
          <a:prstGeom prst="rect">
            <a:avLst/>
          </a:prstGeom>
          <a:noFill/>
        </p:spPr>
        <p:txBody>
          <a:bodyPr wrap="square" lIns="18288" rIns="18288" tIns="18288" bIns="18288" anchor="ctr">
            <a:spAutoFit/>
          </a:bodyPr>
          <a:lstStyle/>
          <a:p>
            <a:pPr algn="r" rtl="1">
              <a:lnSpc>
                <a:spcPct val="100000"/>
              </a:lnSpc>
              <a:spcAft>
                <a:spcPts val="0"/>
              </a:spcAft>
            </a:pPr>
            <a:r>
              <a:rPr sz="1040" b="0" i="0" lang="ar-DZ" rtl="1">
                <a:solidFill>
                  <a:srgbClr val="17263A"/>
                </a:solidFill>
                <a:latin typeface="Cairo"/>
                <a:cs typeface="Cairo"/>
                <a:ea typeface="Cairo"/>
              </a:rPr>
              <a:t>كلمة مرور • للمصرّح لهم فقط</a:t>
            </a:r>
          </a:p>
        </p:txBody>
      </p:sp>
      <p:sp>
        <p:nvSpPr>
          <p:cNvPr id="20" name="Rounded Rectangle 19"/>
          <p:cNvSpPr/>
          <p:nvPr/>
        </p:nvSpPr>
        <p:spPr>
          <a:xfrm>
            <a:off x="6144768" y="2898648"/>
            <a:ext cx="5074920" cy="685800"/>
          </a:xfrm>
          <a:prstGeom prst="roundRect">
            <a:avLst/>
          </a:prstGeom>
          <a:solidFill>
            <a:srgbClr val="F8FAFD"/>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625328" y="3063240"/>
            <a:ext cx="438912" cy="256032"/>
          </a:xfrm>
          <a:prstGeom prst="roundRect">
            <a:avLst/>
          </a:prstGeom>
          <a:solidFill>
            <a:srgbClr val="3167D5"/>
          </a:solidFill>
          <a:ln w="8890">
            <a:solidFill>
              <a:srgbClr val="3167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666476" y="3067812"/>
            <a:ext cx="356616" cy="246888"/>
          </a:xfrm>
          <a:prstGeom prst="rect">
            <a:avLst/>
          </a:prstGeom>
          <a:noFill/>
        </p:spPr>
        <p:txBody>
          <a:bodyPr wrap="square" lIns="9144" rIns="9144" tIns="9144" bIns="9144" anchor="ctr">
            <a:spAutoFit/>
          </a:bodyPr>
          <a:lstStyle/>
          <a:p>
            <a:pPr algn="ctr" rtl="0">
              <a:lnSpc>
                <a:spcPct val="100000"/>
              </a:lnSpc>
              <a:spcAft>
                <a:spcPts val="0"/>
              </a:spcAft>
            </a:pPr>
            <a:r>
              <a:rPr sz="900" b="1" i="0" lang="en-US">
                <a:solidFill>
                  <a:srgbClr val="FFFFFF"/>
                </a:solidFill>
                <a:latin typeface="Aptos"/>
                <a:cs typeface="Aptos"/>
                <a:ea typeface="Aptos"/>
              </a:rPr>
              <a:t>02</a:t>
            </a:r>
          </a:p>
        </p:txBody>
      </p:sp>
      <p:sp>
        <p:nvSpPr>
          <p:cNvPr id="23" name="TextBox 22"/>
          <p:cNvSpPr txBox="1"/>
          <p:nvPr/>
        </p:nvSpPr>
        <p:spPr>
          <a:xfrm>
            <a:off x="9098280" y="3008376"/>
            <a:ext cx="1325880" cy="237744"/>
          </a:xfrm>
          <a:prstGeom prst="rect">
            <a:avLst/>
          </a:prstGeom>
          <a:noFill/>
        </p:spPr>
        <p:txBody>
          <a:bodyPr wrap="square" lIns="18288" rIns="18288" tIns="18288" bIns="18288" anchor="ctr">
            <a:spAutoFit/>
          </a:bodyPr>
          <a:lstStyle/>
          <a:p>
            <a:pPr algn="r" rtl="1">
              <a:lnSpc>
                <a:spcPct val="100000"/>
              </a:lnSpc>
              <a:spcAft>
                <a:spcPts val="0"/>
              </a:spcAft>
            </a:pPr>
            <a:r>
              <a:rPr sz="1250" b="1" i="0" lang="ar-DZ" rtl="1">
                <a:solidFill>
                  <a:srgbClr val="3167D5"/>
                </a:solidFill>
                <a:latin typeface="Cairo"/>
                <a:cs typeface="Cairo"/>
                <a:ea typeface="Cairo"/>
              </a:rPr>
              <a:t>المراقبة والتحقق</a:t>
            </a:r>
          </a:p>
        </p:txBody>
      </p:sp>
      <p:sp>
        <p:nvSpPr>
          <p:cNvPr id="24" name="TextBox 23"/>
          <p:cNvSpPr txBox="1"/>
          <p:nvPr/>
        </p:nvSpPr>
        <p:spPr>
          <a:xfrm>
            <a:off x="6355080" y="3255264"/>
            <a:ext cx="4041648" cy="256032"/>
          </a:xfrm>
          <a:prstGeom prst="rect">
            <a:avLst/>
          </a:prstGeom>
          <a:noFill/>
        </p:spPr>
        <p:txBody>
          <a:bodyPr wrap="square" lIns="18288" rIns="18288" tIns="18288" bIns="18288" anchor="ctr">
            <a:spAutoFit/>
          </a:bodyPr>
          <a:lstStyle/>
          <a:p>
            <a:pPr algn="r" rtl="1">
              <a:lnSpc>
                <a:spcPct val="100000"/>
              </a:lnSpc>
              <a:spcAft>
                <a:spcPts val="0"/>
              </a:spcAft>
            </a:pPr>
            <a:r>
              <a:rPr sz="1040" b="0" i="0" lang="ar-DZ" rtl="1">
                <a:solidFill>
                  <a:srgbClr val="17263A"/>
                </a:solidFill>
                <a:latin typeface="Cairo"/>
                <a:cs typeface="Cairo"/>
                <a:ea typeface="Cairo"/>
              </a:rPr>
              <a:t>تنبيه آلي • رفض معرف فارغ/مكرر • تحقق النوع والتاريخ</a:t>
            </a:r>
          </a:p>
        </p:txBody>
      </p:sp>
      <p:sp>
        <p:nvSpPr>
          <p:cNvPr id="25" name="Rounded Rectangle 24"/>
          <p:cNvSpPr/>
          <p:nvPr/>
        </p:nvSpPr>
        <p:spPr>
          <a:xfrm>
            <a:off x="6144768" y="3739896"/>
            <a:ext cx="5074920" cy="685800"/>
          </a:xfrm>
          <a:prstGeom prst="roundRect">
            <a:avLst/>
          </a:prstGeom>
          <a:solidFill>
            <a:srgbClr val="F8FAFD"/>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0625328" y="3904487"/>
            <a:ext cx="438912" cy="256032"/>
          </a:xfrm>
          <a:prstGeom prst="roundRect">
            <a:avLst/>
          </a:prstGeom>
          <a:solidFill>
            <a:srgbClr val="3167D5"/>
          </a:solidFill>
          <a:ln w="8890">
            <a:solidFill>
              <a:srgbClr val="3167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666476" y="3909059"/>
            <a:ext cx="356616" cy="246888"/>
          </a:xfrm>
          <a:prstGeom prst="rect">
            <a:avLst/>
          </a:prstGeom>
          <a:noFill/>
        </p:spPr>
        <p:txBody>
          <a:bodyPr wrap="square" lIns="9144" rIns="9144" tIns="9144" bIns="9144" anchor="ctr">
            <a:spAutoFit/>
          </a:bodyPr>
          <a:lstStyle/>
          <a:p>
            <a:pPr algn="ctr" rtl="0">
              <a:lnSpc>
                <a:spcPct val="100000"/>
              </a:lnSpc>
              <a:spcAft>
                <a:spcPts val="0"/>
              </a:spcAft>
            </a:pPr>
            <a:r>
              <a:rPr sz="900" b="1" i="0" lang="en-US">
                <a:solidFill>
                  <a:srgbClr val="FFFFFF"/>
                </a:solidFill>
                <a:latin typeface="Aptos"/>
                <a:cs typeface="Aptos"/>
                <a:ea typeface="Aptos"/>
              </a:rPr>
              <a:t>03</a:t>
            </a:r>
          </a:p>
        </p:txBody>
      </p:sp>
      <p:sp>
        <p:nvSpPr>
          <p:cNvPr id="28" name="TextBox 27"/>
          <p:cNvSpPr txBox="1"/>
          <p:nvPr/>
        </p:nvSpPr>
        <p:spPr>
          <a:xfrm>
            <a:off x="9098280" y="3849624"/>
            <a:ext cx="1325880" cy="237744"/>
          </a:xfrm>
          <a:prstGeom prst="rect">
            <a:avLst/>
          </a:prstGeom>
          <a:noFill/>
        </p:spPr>
        <p:txBody>
          <a:bodyPr wrap="square" lIns="18288" rIns="18288" tIns="18288" bIns="18288" anchor="ctr">
            <a:spAutoFit/>
          </a:bodyPr>
          <a:lstStyle/>
          <a:p>
            <a:pPr algn="r" rtl="1">
              <a:lnSpc>
                <a:spcPct val="100000"/>
              </a:lnSpc>
              <a:spcAft>
                <a:spcPts val="0"/>
              </a:spcAft>
            </a:pPr>
            <a:r>
              <a:rPr sz="1250" b="1" i="0" lang="ar-DZ" rtl="1">
                <a:solidFill>
                  <a:srgbClr val="3167D5"/>
                </a:solidFill>
                <a:latin typeface="Cairo"/>
                <a:cs typeface="Cairo"/>
                <a:ea typeface="Cairo"/>
              </a:rPr>
              <a:t>العتاد</a:t>
            </a:r>
          </a:p>
        </p:txBody>
      </p:sp>
      <p:sp>
        <p:nvSpPr>
          <p:cNvPr id="29" name="TextBox 28"/>
          <p:cNvSpPr txBox="1"/>
          <p:nvPr/>
        </p:nvSpPr>
        <p:spPr>
          <a:xfrm>
            <a:off x="6355080" y="4096511"/>
            <a:ext cx="4041648" cy="256032"/>
          </a:xfrm>
          <a:prstGeom prst="rect">
            <a:avLst/>
          </a:prstGeom>
          <a:noFill/>
        </p:spPr>
        <p:txBody>
          <a:bodyPr wrap="square" lIns="18288" rIns="18288" tIns="18288" bIns="18288" anchor="ctr">
            <a:spAutoFit/>
          </a:bodyPr>
          <a:lstStyle/>
          <a:p>
            <a:pPr algn="r" rtl="1">
              <a:lnSpc>
                <a:spcPct val="100000"/>
              </a:lnSpc>
              <a:spcAft>
                <a:spcPts val="0"/>
              </a:spcAft>
            </a:pPr>
            <a:r>
              <a:rPr sz="1040" b="0" i="0" lang="ar-DZ" rtl="1">
                <a:solidFill>
                  <a:srgbClr val="17263A"/>
                </a:solidFill>
                <a:latin typeface="Cairo"/>
                <a:cs typeface="Cairo"/>
                <a:ea typeface="Cairo"/>
              </a:rPr>
              <a:t>UPS • استعمال سليم • مستخدمون مؤهلون</a:t>
            </a:r>
          </a:p>
        </p:txBody>
      </p:sp>
      <p:sp>
        <p:nvSpPr>
          <p:cNvPr id="30" name="Rounded Rectangle 29"/>
          <p:cNvSpPr/>
          <p:nvPr/>
        </p:nvSpPr>
        <p:spPr>
          <a:xfrm>
            <a:off x="6144768" y="4581144"/>
            <a:ext cx="5074920" cy="685800"/>
          </a:xfrm>
          <a:prstGeom prst="roundRect">
            <a:avLst/>
          </a:prstGeom>
          <a:solidFill>
            <a:srgbClr val="F8FAFD"/>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0625328" y="4745736"/>
            <a:ext cx="438912" cy="256032"/>
          </a:xfrm>
          <a:prstGeom prst="roundRect">
            <a:avLst/>
          </a:prstGeom>
          <a:solidFill>
            <a:srgbClr val="3167D5"/>
          </a:solidFill>
          <a:ln w="8890">
            <a:solidFill>
              <a:srgbClr val="3167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666476" y="4750307"/>
            <a:ext cx="356616" cy="246888"/>
          </a:xfrm>
          <a:prstGeom prst="rect">
            <a:avLst/>
          </a:prstGeom>
          <a:noFill/>
        </p:spPr>
        <p:txBody>
          <a:bodyPr wrap="square" lIns="9144" rIns="9144" tIns="9144" bIns="9144" anchor="ctr">
            <a:spAutoFit/>
          </a:bodyPr>
          <a:lstStyle/>
          <a:p>
            <a:pPr algn="ctr" rtl="0">
              <a:lnSpc>
                <a:spcPct val="100000"/>
              </a:lnSpc>
              <a:spcAft>
                <a:spcPts val="0"/>
              </a:spcAft>
            </a:pPr>
            <a:r>
              <a:rPr sz="900" b="1" i="0" lang="en-US">
                <a:solidFill>
                  <a:srgbClr val="FFFFFF"/>
                </a:solidFill>
                <a:latin typeface="Aptos"/>
                <a:cs typeface="Aptos"/>
                <a:ea typeface="Aptos"/>
              </a:rPr>
              <a:t>04</a:t>
            </a:r>
          </a:p>
        </p:txBody>
      </p:sp>
      <p:sp>
        <p:nvSpPr>
          <p:cNvPr id="33" name="TextBox 32"/>
          <p:cNvSpPr txBox="1"/>
          <p:nvPr/>
        </p:nvSpPr>
        <p:spPr>
          <a:xfrm>
            <a:off x="9098280" y="4690872"/>
            <a:ext cx="1325880" cy="237744"/>
          </a:xfrm>
          <a:prstGeom prst="rect">
            <a:avLst/>
          </a:prstGeom>
          <a:noFill/>
        </p:spPr>
        <p:txBody>
          <a:bodyPr wrap="square" lIns="18288" rIns="18288" tIns="18288" bIns="18288" anchor="ctr">
            <a:spAutoFit/>
          </a:bodyPr>
          <a:lstStyle/>
          <a:p>
            <a:pPr algn="r" rtl="1">
              <a:lnSpc>
                <a:spcPct val="100000"/>
              </a:lnSpc>
              <a:spcAft>
                <a:spcPts val="0"/>
              </a:spcAft>
            </a:pPr>
            <a:r>
              <a:rPr sz="1250" b="1" i="0" lang="ar-DZ" rtl="1">
                <a:solidFill>
                  <a:srgbClr val="3167D5"/>
                </a:solidFill>
                <a:latin typeface="Cairo"/>
                <a:cs typeface="Cairo"/>
                <a:ea typeface="Cairo"/>
              </a:rPr>
              <a:t>البرامج</a:t>
            </a:r>
          </a:p>
        </p:txBody>
      </p:sp>
      <p:sp>
        <p:nvSpPr>
          <p:cNvPr id="34" name="TextBox 33"/>
          <p:cNvSpPr txBox="1"/>
          <p:nvPr/>
        </p:nvSpPr>
        <p:spPr>
          <a:xfrm>
            <a:off x="6355080" y="4937759"/>
            <a:ext cx="4041648" cy="256032"/>
          </a:xfrm>
          <a:prstGeom prst="rect">
            <a:avLst/>
          </a:prstGeom>
          <a:noFill/>
        </p:spPr>
        <p:txBody>
          <a:bodyPr wrap="square" lIns="18288" rIns="18288" tIns="18288" bIns="18288" anchor="ctr">
            <a:spAutoFit/>
          </a:bodyPr>
          <a:lstStyle/>
          <a:p>
            <a:pPr algn="r" rtl="1">
              <a:lnSpc>
                <a:spcPct val="100000"/>
              </a:lnSpc>
              <a:spcAft>
                <a:spcPts val="0"/>
              </a:spcAft>
            </a:pPr>
            <a:r>
              <a:rPr sz="1040" b="0" i="0" lang="ar-DZ" rtl="1">
                <a:solidFill>
                  <a:srgbClr val="17263A"/>
                </a:solidFill>
                <a:latin typeface="Cairo"/>
                <a:cs typeface="Cairo"/>
                <a:ea typeface="Cairo"/>
              </a:rPr>
              <a:t>مضاد فيروسات • فحص الحوامل • حفظ بأكثر من وسيط</a:t>
            </a:r>
          </a:p>
        </p:txBody>
      </p:sp>
      <p:sp>
        <p:nvSpPr>
          <p:cNvPr id="35" name="Rounded Rectangle 34"/>
          <p:cNvSpPr/>
          <p:nvPr/>
        </p:nvSpPr>
        <p:spPr>
          <a:xfrm>
            <a:off x="658368" y="1389888"/>
            <a:ext cx="4846320" cy="4718304"/>
          </a:xfrm>
          <a:prstGeom prst="roundRect">
            <a:avLst/>
          </a:prstGeom>
          <a:solidFill>
            <a:srgbClr val="10233D"/>
          </a:solidFill>
          <a:ln w="1016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32688" y="1627632"/>
            <a:ext cx="2048256" cy="310896"/>
          </a:xfrm>
          <a:prstGeom prst="roundRect">
            <a:avLst/>
          </a:prstGeom>
          <a:solidFill>
            <a:srgbClr val="244A78"/>
          </a:solidFill>
          <a:ln w="8890">
            <a:solidFill>
              <a:srgbClr val="24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3836" y="1632204"/>
            <a:ext cx="1965960" cy="301752"/>
          </a:xfrm>
          <a:prstGeom prst="rect">
            <a:avLst/>
          </a:prstGeom>
          <a:noFill/>
        </p:spPr>
        <p:txBody>
          <a:bodyPr wrap="square" lIns="9144" rIns="9144" tIns="9144" bIns="9144" anchor="ctr">
            <a:spAutoFit/>
          </a:bodyPr>
          <a:lstStyle/>
          <a:p>
            <a:pPr algn="ctr" rtl="0">
              <a:lnSpc>
                <a:spcPct val="100000"/>
              </a:lnSpc>
              <a:spcAft>
                <a:spcPts val="0"/>
              </a:spcAft>
            </a:pPr>
            <a:r>
              <a:rPr sz="1000" b="1" i="0" lang="en-US">
                <a:solidFill>
                  <a:srgbClr val="FFFFFF"/>
                </a:solidFill>
                <a:latin typeface="Consolas"/>
                <a:cs typeface="Aptos"/>
                <a:ea typeface="Aptos"/>
              </a:rPr>
              <a:t>BACKUP  →  RESTORE</a:t>
            </a:r>
          </a:p>
        </p:txBody>
      </p:sp>
      <p:sp>
        <p:nvSpPr>
          <p:cNvPr id="38" name="TextBox 37"/>
          <p:cNvSpPr txBox="1"/>
          <p:nvPr/>
        </p:nvSpPr>
        <p:spPr>
          <a:xfrm>
            <a:off x="932688" y="2011680"/>
            <a:ext cx="4169663" cy="347472"/>
          </a:xfrm>
          <a:prstGeom prst="rect">
            <a:avLst/>
          </a:prstGeom>
          <a:noFill/>
        </p:spPr>
        <p:txBody>
          <a:bodyPr wrap="square" lIns="18288" rIns="18288" tIns="18288" bIns="18288" anchor="ctr">
            <a:spAutoFit/>
          </a:bodyPr>
          <a:lstStyle/>
          <a:p>
            <a:pPr algn="r" rtl="1">
              <a:lnSpc>
                <a:spcPct val="100000"/>
              </a:lnSpc>
              <a:spcAft>
                <a:spcPts val="0"/>
              </a:spcAft>
            </a:pPr>
            <a:r>
              <a:rPr sz="1700" b="1" i="0" lang="ar-DZ" rtl="1">
                <a:solidFill>
                  <a:srgbClr val="FFFFFF"/>
                </a:solidFill>
                <a:latin typeface="Cairo"/>
                <a:cs typeface="Cairo"/>
                <a:ea typeface="Cairo"/>
              </a:rPr>
              <a:t>أرشفة واسترجاع My_Data</a:t>
            </a:r>
          </a:p>
        </p:txBody>
      </p:sp>
      <p:sp>
        <p:nvSpPr>
          <p:cNvPr id="39" name="Rounded Rectangle 38"/>
          <p:cNvSpPr/>
          <p:nvPr/>
        </p:nvSpPr>
        <p:spPr>
          <a:xfrm>
            <a:off x="4526280" y="2606040"/>
            <a:ext cx="338328" cy="274320"/>
          </a:xfrm>
          <a:prstGeom prst="roundRect">
            <a:avLst/>
          </a:prstGeom>
          <a:solidFill>
            <a:srgbClr val="DCA74C"/>
          </a:solidFill>
          <a:ln w="8890">
            <a:solidFill>
              <a:srgbClr val="DCA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67428" y="2610612"/>
            <a:ext cx="256032" cy="265176"/>
          </a:xfrm>
          <a:prstGeom prst="rect">
            <a:avLst/>
          </a:prstGeom>
          <a:noFill/>
        </p:spPr>
        <p:txBody>
          <a:bodyPr wrap="square" lIns="9144" rIns="9144" tIns="9144" bIns="9144" anchor="ctr">
            <a:spAutoFit/>
          </a:bodyPr>
          <a:lstStyle/>
          <a:p>
            <a:pPr algn="ctr" rtl="0">
              <a:lnSpc>
                <a:spcPct val="100000"/>
              </a:lnSpc>
              <a:spcAft>
                <a:spcPts val="0"/>
              </a:spcAft>
            </a:pPr>
            <a:r>
              <a:rPr sz="900" b="1" i="0" lang="en-US">
                <a:solidFill>
                  <a:srgbClr val="10233D"/>
                </a:solidFill>
                <a:latin typeface="Aptos"/>
                <a:cs typeface="Aptos"/>
                <a:ea typeface="Aptos"/>
              </a:rPr>
              <a:t>1</a:t>
            </a:r>
          </a:p>
        </p:txBody>
      </p:sp>
      <p:cxnSp>
        <p:nvCxnSpPr>
          <p:cNvPr id="41" name="Connector 40"/>
          <p:cNvCxnSpPr/>
          <p:nvPr/>
        </p:nvCxnSpPr>
        <p:spPr>
          <a:xfrm>
            <a:off x="4690872" y="2907792"/>
            <a:ext cx="0" cy="219456"/>
          </a:xfrm>
          <a:prstGeom prst="line">
            <a:avLst/>
          </a:prstGeom>
          <a:ln w="15240">
            <a:solidFill>
              <a:srgbClr val="4A6B93"/>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1143000" y="2587752"/>
            <a:ext cx="3154680" cy="310896"/>
          </a:xfrm>
          <a:prstGeom prst="rect">
            <a:avLst/>
          </a:prstGeom>
          <a:noFill/>
        </p:spPr>
        <p:txBody>
          <a:bodyPr wrap="square" lIns="18288" rIns="18288" tIns="18288" bIns="18288" anchor="ctr">
            <a:spAutoFit/>
          </a:bodyPr>
          <a:lstStyle/>
          <a:p>
            <a:pPr algn="r" rtl="1">
              <a:lnSpc>
                <a:spcPct val="100000"/>
              </a:lnSpc>
              <a:spcAft>
                <a:spcPts val="0"/>
              </a:spcAft>
            </a:pPr>
            <a:r>
              <a:rPr sz="1300" b="0" i="0" lang="ar-DZ" rtl="1">
                <a:solidFill>
                  <a:srgbClr val="E3ECF7"/>
                </a:solidFill>
                <a:latin typeface="Cairo"/>
                <a:cs typeface="Cairo"/>
                <a:ea typeface="Cairo"/>
              </a:rPr>
              <a:t>نسخ احتياطي من Delphi</a:t>
            </a:r>
          </a:p>
        </p:txBody>
      </p:sp>
      <p:sp>
        <p:nvSpPr>
          <p:cNvPr id="43" name="Rounded Rectangle 42"/>
          <p:cNvSpPr/>
          <p:nvPr/>
        </p:nvSpPr>
        <p:spPr>
          <a:xfrm>
            <a:off x="4526280" y="3191256"/>
            <a:ext cx="338328" cy="274320"/>
          </a:xfrm>
          <a:prstGeom prst="roundRect">
            <a:avLst/>
          </a:prstGeom>
          <a:solidFill>
            <a:srgbClr val="DCA74C"/>
          </a:solidFill>
          <a:ln w="8890">
            <a:solidFill>
              <a:srgbClr val="DCA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67428" y="3195828"/>
            <a:ext cx="256032" cy="265176"/>
          </a:xfrm>
          <a:prstGeom prst="rect">
            <a:avLst/>
          </a:prstGeom>
          <a:noFill/>
        </p:spPr>
        <p:txBody>
          <a:bodyPr wrap="square" lIns="9144" rIns="9144" tIns="9144" bIns="9144" anchor="ctr">
            <a:spAutoFit/>
          </a:bodyPr>
          <a:lstStyle/>
          <a:p>
            <a:pPr algn="ctr" rtl="0">
              <a:lnSpc>
                <a:spcPct val="100000"/>
              </a:lnSpc>
              <a:spcAft>
                <a:spcPts val="0"/>
              </a:spcAft>
            </a:pPr>
            <a:r>
              <a:rPr sz="900" b="1" i="0" lang="en-US">
                <a:solidFill>
                  <a:srgbClr val="10233D"/>
                </a:solidFill>
                <a:latin typeface="Aptos"/>
                <a:cs typeface="Aptos"/>
                <a:ea typeface="Aptos"/>
              </a:rPr>
              <a:t>2</a:t>
            </a:r>
          </a:p>
        </p:txBody>
      </p:sp>
      <p:cxnSp>
        <p:nvCxnSpPr>
          <p:cNvPr id="45" name="Connector 44"/>
          <p:cNvCxnSpPr/>
          <p:nvPr/>
        </p:nvCxnSpPr>
        <p:spPr>
          <a:xfrm>
            <a:off x="4690872" y="3493008"/>
            <a:ext cx="0" cy="219456"/>
          </a:xfrm>
          <a:prstGeom prst="line">
            <a:avLst/>
          </a:prstGeom>
          <a:ln w="15240">
            <a:solidFill>
              <a:srgbClr val="4A6B93"/>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1143000" y="3172968"/>
            <a:ext cx="3154680" cy="310896"/>
          </a:xfrm>
          <a:prstGeom prst="rect">
            <a:avLst/>
          </a:prstGeom>
          <a:noFill/>
        </p:spPr>
        <p:txBody>
          <a:bodyPr wrap="square" lIns="18288" rIns="18288" tIns="18288" bIns="18288" anchor="ctr">
            <a:spAutoFit/>
          </a:bodyPr>
          <a:lstStyle/>
          <a:p>
            <a:pPr algn="r" rtl="1">
              <a:lnSpc>
                <a:spcPct val="100000"/>
              </a:lnSpc>
              <a:spcAft>
                <a:spcPts val="0"/>
              </a:spcAft>
            </a:pPr>
            <a:r>
              <a:rPr sz="1300" b="1" i="0" lang="ar-DZ" rtl="1">
                <a:solidFill>
                  <a:srgbClr val="E3ECF7"/>
                </a:solidFill>
                <a:latin typeface="Cairo"/>
                <a:cs typeface="Cairo"/>
                <a:ea typeface="Cairo"/>
              </a:rPr>
              <a:t>My_Data.bak</a:t>
            </a:r>
          </a:p>
        </p:txBody>
      </p:sp>
      <p:sp>
        <p:nvSpPr>
          <p:cNvPr id="47" name="Rounded Rectangle 46"/>
          <p:cNvSpPr/>
          <p:nvPr/>
        </p:nvSpPr>
        <p:spPr>
          <a:xfrm>
            <a:off x="4526280" y="3776472"/>
            <a:ext cx="338328" cy="274320"/>
          </a:xfrm>
          <a:prstGeom prst="roundRect">
            <a:avLst/>
          </a:prstGeom>
          <a:solidFill>
            <a:srgbClr val="DCA74C"/>
          </a:solidFill>
          <a:ln w="8890">
            <a:solidFill>
              <a:srgbClr val="DCA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67428" y="3781044"/>
            <a:ext cx="256032" cy="265176"/>
          </a:xfrm>
          <a:prstGeom prst="rect">
            <a:avLst/>
          </a:prstGeom>
          <a:noFill/>
        </p:spPr>
        <p:txBody>
          <a:bodyPr wrap="square" lIns="9144" rIns="9144" tIns="9144" bIns="9144" anchor="ctr">
            <a:spAutoFit/>
          </a:bodyPr>
          <a:lstStyle/>
          <a:p>
            <a:pPr algn="ctr" rtl="0">
              <a:lnSpc>
                <a:spcPct val="100000"/>
              </a:lnSpc>
              <a:spcAft>
                <a:spcPts val="0"/>
              </a:spcAft>
            </a:pPr>
            <a:r>
              <a:rPr sz="900" b="1" i="0" lang="en-US">
                <a:solidFill>
                  <a:srgbClr val="10233D"/>
                </a:solidFill>
                <a:latin typeface="Aptos"/>
                <a:cs typeface="Aptos"/>
                <a:ea typeface="Aptos"/>
              </a:rPr>
              <a:t>3</a:t>
            </a:r>
          </a:p>
        </p:txBody>
      </p:sp>
      <p:cxnSp>
        <p:nvCxnSpPr>
          <p:cNvPr id="49" name="Connector 48"/>
          <p:cNvCxnSpPr/>
          <p:nvPr/>
        </p:nvCxnSpPr>
        <p:spPr>
          <a:xfrm>
            <a:off x="4690872" y="4078224"/>
            <a:ext cx="0" cy="219456"/>
          </a:xfrm>
          <a:prstGeom prst="line">
            <a:avLst/>
          </a:prstGeom>
          <a:ln w="15240">
            <a:solidFill>
              <a:srgbClr val="4A6B93"/>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1143000" y="3758184"/>
            <a:ext cx="3154680" cy="310896"/>
          </a:xfrm>
          <a:prstGeom prst="rect">
            <a:avLst/>
          </a:prstGeom>
          <a:noFill/>
        </p:spPr>
        <p:txBody>
          <a:bodyPr wrap="square" lIns="18288" rIns="18288" tIns="18288" bIns="18288" anchor="ctr">
            <a:spAutoFit/>
          </a:bodyPr>
          <a:lstStyle/>
          <a:p>
            <a:pPr algn="r" rtl="0">
              <a:lnSpc>
                <a:spcPct val="100000"/>
              </a:lnSpc>
              <a:spcAft>
                <a:spcPts val="0"/>
              </a:spcAft>
            </a:pPr>
            <a:r>
              <a:rPr sz="1300" b="0" i="0" lang="en-US">
                <a:solidFill>
                  <a:srgbClr val="E3ECF7"/>
                </a:solidFill>
                <a:latin typeface="Consolas"/>
                <a:cs typeface="Aptos"/>
                <a:ea typeface="Aptos"/>
              </a:rPr>
              <a:t>RESTORE DATABASE</a:t>
            </a:r>
          </a:p>
        </p:txBody>
      </p:sp>
      <p:sp>
        <p:nvSpPr>
          <p:cNvPr id="51" name="Rounded Rectangle 50"/>
          <p:cNvSpPr/>
          <p:nvPr/>
        </p:nvSpPr>
        <p:spPr>
          <a:xfrm>
            <a:off x="4526280" y="4361688"/>
            <a:ext cx="338328" cy="274320"/>
          </a:xfrm>
          <a:prstGeom prst="roundRect">
            <a:avLst/>
          </a:prstGeom>
          <a:solidFill>
            <a:srgbClr val="DCA74C"/>
          </a:solidFill>
          <a:ln w="8890">
            <a:solidFill>
              <a:srgbClr val="DCA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567428" y="4366259"/>
            <a:ext cx="256032" cy="265176"/>
          </a:xfrm>
          <a:prstGeom prst="rect">
            <a:avLst/>
          </a:prstGeom>
          <a:noFill/>
        </p:spPr>
        <p:txBody>
          <a:bodyPr wrap="square" lIns="9144" rIns="9144" tIns="9144" bIns="9144" anchor="ctr">
            <a:spAutoFit/>
          </a:bodyPr>
          <a:lstStyle/>
          <a:p>
            <a:pPr algn="ctr" rtl="0">
              <a:lnSpc>
                <a:spcPct val="100000"/>
              </a:lnSpc>
              <a:spcAft>
                <a:spcPts val="0"/>
              </a:spcAft>
            </a:pPr>
            <a:r>
              <a:rPr sz="900" b="1" i="0" lang="en-US">
                <a:solidFill>
                  <a:srgbClr val="10233D"/>
                </a:solidFill>
                <a:latin typeface="Aptos"/>
                <a:cs typeface="Aptos"/>
                <a:ea typeface="Aptos"/>
              </a:rPr>
              <a:t>4</a:t>
            </a:r>
          </a:p>
        </p:txBody>
      </p:sp>
      <p:sp>
        <p:nvSpPr>
          <p:cNvPr id="53" name="TextBox 52"/>
          <p:cNvSpPr txBox="1"/>
          <p:nvPr/>
        </p:nvSpPr>
        <p:spPr>
          <a:xfrm>
            <a:off x="1143000" y="4343400"/>
            <a:ext cx="3154680" cy="310896"/>
          </a:xfrm>
          <a:prstGeom prst="rect">
            <a:avLst/>
          </a:prstGeom>
          <a:noFill/>
        </p:spPr>
        <p:txBody>
          <a:bodyPr wrap="square" lIns="18288" rIns="18288" tIns="18288" bIns="18288" anchor="ctr">
            <a:spAutoFit/>
          </a:bodyPr>
          <a:lstStyle/>
          <a:p>
            <a:pPr algn="r" rtl="1">
              <a:lnSpc>
                <a:spcPct val="100000"/>
              </a:lnSpc>
              <a:spcAft>
                <a:spcPts val="0"/>
              </a:spcAft>
            </a:pPr>
            <a:r>
              <a:rPr sz="1300" b="0" i="0" lang="ar-DZ" rtl="1">
                <a:solidFill>
                  <a:srgbClr val="E3ECF7"/>
                </a:solidFill>
                <a:latin typeface="Cairo"/>
                <a:cs typeface="Cairo"/>
                <a:ea typeface="Cairo"/>
              </a:rPr>
              <a:t>إعادة الاتصال والتأكيد</a:t>
            </a:r>
          </a:p>
        </p:txBody>
      </p:sp>
      <p:sp>
        <p:nvSpPr>
          <p:cNvPr id="54" name="TextBox 53"/>
          <p:cNvSpPr txBox="1"/>
          <p:nvPr/>
        </p:nvSpPr>
        <p:spPr>
          <a:xfrm>
            <a:off x="932688" y="5120640"/>
            <a:ext cx="4096512" cy="246888"/>
          </a:xfrm>
          <a:prstGeom prst="rect">
            <a:avLst/>
          </a:prstGeom>
          <a:noFill/>
        </p:spPr>
        <p:txBody>
          <a:bodyPr wrap="square" lIns="18288" rIns="18288" tIns="18288" bIns="18288" anchor="ctr">
            <a:spAutoFit/>
          </a:bodyPr>
          <a:lstStyle/>
          <a:p>
            <a:pPr algn="r" rtl="1">
              <a:lnSpc>
                <a:spcPct val="100000"/>
              </a:lnSpc>
              <a:spcAft>
                <a:spcPts val="0"/>
              </a:spcAft>
            </a:pPr>
            <a:r>
              <a:rPr sz="1100" b="1" i="0" lang="ar-DZ" rtl="1">
                <a:solidFill>
                  <a:srgbClr val="DCA74C"/>
                </a:solidFill>
                <a:latin typeface="Cairo"/>
                <a:cs typeface="Cairo"/>
                <a:ea typeface="Cairo"/>
              </a:rPr>
              <a:t>المسار الوارد في الشيفرة</a:t>
            </a:r>
          </a:p>
        </p:txBody>
      </p:sp>
      <p:sp>
        <p:nvSpPr>
          <p:cNvPr id="55" name="Rounded Rectangle 54"/>
          <p:cNvSpPr/>
          <p:nvPr/>
        </p:nvSpPr>
        <p:spPr>
          <a:xfrm>
            <a:off x="932688" y="5449824"/>
            <a:ext cx="4224528" cy="393192"/>
          </a:xfrm>
          <a:prstGeom prst="roundRect">
            <a:avLst/>
          </a:prstGeom>
          <a:solidFill>
            <a:srgbClr val="18365C"/>
          </a:solidFill>
          <a:ln w="8890">
            <a:solidFill>
              <a:srgbClr val="3457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78992" y="5504688"/>
            <a:ext cx="3922776" cy="265176"/>
          </a:xfrm>
          <a:prstGeom prst="rect">
            <a:avLst/>
          </a:prstGeom>
          <a:noFill/>
        </p:spPr>
        <p:txBody>
          <a:bodyPr wrap="square" lIns="18288" rIns="18288" tIns="18288" bIns="18288" anchor="ctr">
            <a:spAutoFit/>
          </a:bodyPr>
          <a:lstStyle/>
          <a:p>
            <a:pPr algn="l" rtl="0">
              <a:lnSpc>
                <a:spcPct val="100000"/>
              </a:lnSpc>
              <a:spcAft>
                <a:spcPts val="0"/>
              </a:spcAft>
            </a:pPr>
            <a:r>
              <a:rPr sz="1100" b="0" i="0" lang="en-US">
                <a:solidFill>
                  <a:srgbClr val="FFFFFF"/>
                </a:solidFill>
                <a:latin typeface="Consolas"/>
                <a:cs typeface="Aptos"/>
                <a:ea typeface="Aptos"/>
              </a:rPr>
              <a:t>C:\Backup\My_Data.bak</a:t>
            </a:r>
          </a:p>
        </p:txBody>
      </p:sp>
    </p:spTree>
  </p:cSld>
  <p:clrMapOvr>
    <a:masterClrMapping/>
  </p:clrMapOvr>
  <p:transition spd="med" advClick="1">
    <p:wipe dir="l"/>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ounded Rectangle 1"/>
          <p:cNvSpPr/>
          <p:nvPr/>
        </p:nvSpPr>
        <p:spPr>
          <a:xfrm>
            <a:off x="530352" y="292608"/>
            <a:ext cx="2423160" cy="310896"/>
          </a:xfrm>
          <a:prstGeom prst="roundRect">
            <a:avLst/>
          </a:prstGeom>
          <a:solidFill>
            <a:srgbClr val="10233D"/>
          </a:solidFill>
          <a:ln w="889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1500" y="297180"/>
            <a:ext cx="2340864" cy="301752"/>
          </a:xfrm>
          <a:prstGeom prst="rect">
            <a:avLst/>
          </a:prstGeom>
          <a:noFill/>
        </p:spPr>
        <p:txBody>
          <a:bodyPr wrap="square" lIns="9144" rIns="9144" tIns="9144" bIns="9144" anchor="ctr">
            <a:spAutoFit/>
          </a:bodyPr>
          <a:lstStyle/>
          <a:p>
            <a:pPr algn="ctr" rtl="0">
              <a:lnSpc>
                <a:spcPct val="100000"/>
              </a:lnSpc>
              <a:spcAft>
                <a:spcPts val="0"/>
              </a:spcAft>
            </a:pPr>
            <a:r>
              <a:rPr sz="1050" b="1" i="0" lang="en-US">
                <a:solidFill>
                  <a:srgbClr val="FFFFFF"/>
                </a:solidFill>
                <a:latin typeface="Aptos"/>
                <a:cs typeface="Aptos"/>
                <a:ea typeface="Aptos"/>
              </a:rPr>
              <a:t>04  /  الحماية والاستعمال</a:t>
            </a:r>
          </a:p>
        </p:txBody>
      </p:sp>
      <p:sp>
        <p:nvSpPr>
          <p:cNvPr id="4" name="Rectangle 3"/>
          <p:cNvSpPr/>
          <p:nvPr/>
        </p:nvSpPr>
        <p:spPr>
          <a:xfrm>
            <a:off x="11594592" y="283464"/>
            <a:ext cx="64008" cy="502920"/>
          </a:xfrm>
          <a:prstGeom prst="rect">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063240" y="182880"/>
            <a:ext cx="8229600" cy="557784"/>
          </a:xfrm>
          <a:prstGeom prst="rect">
            <a:avLst/>
          </a:prstGeom>
          <a:noFill/>
        </p:spPr>
        <p:txBody>
          <a:bodyPr wrap="square" lIns="18288" rIns="18288" tIns="18288" bIns="18288" anchor="ctr">
            <a:spAutoFit/>
          </a:bodyPr>
          <a:lstStyle/>
          <a:p>
            <a:pPr algn="r" rtl="1">
              <a:lnSpc>
                <a:spcPct val="100000"/>
              </a:lnSpc>
              <a:spcAft>
                <a:spcPts val="0"/>
              </a:spcAft>
            </a:pPr>
            <a:r>
              <a:rPr sz="2600" b="1" i="0" lang="ar-DZ" rtl="1">
                <a:solidFill>
                  <a:srgbClr val="10233D"/>
                </a:solidFill>
                <a:latin typeface="Cairo"/>
                <a:cs typeface="Cairo"/>
                <a:ea typeface="Cairo"/>
              </a:rPr>
              <a:t>الواجهة: من تسجيل الدخول إلى الشاشة الرئيسية</a:t>
            </a:r>
          </a:p>
        </p:txBody>
      </p:sp>
      <p:sp>
        <p:nvSpPr>
          <p:cNvPr id="6" name="TextBox 5"/>
          <p:cNvSpPr txBox="1"/>
          <p:nvPr/>
        </p:nvSpPr>
        <p:spPr>
          <a:xfrm>
            <a:off x="3063240" y="731520"/>
            <a:ext cx="8229600" cy="310896"/>
          </a:xfrm>
          <a:prstGeom prst="rect">
            <a:avLst/>
          </a:prstGeom>
          <a:noFill/>
        </p:spPr>
        <p:txBody>
          <a:bodyPr wrap="square" lIns="9144" rIns="9144" tIns="9144" bIns="9144" anchor="ctr">
            <a:spAutoFit/>
          </a:bodyPr>
          <a:lstStyle/>
          <a:p>
            <a:pPr algn="r" rtl="1">
              <a:lnSpc>
                <a:spcPct val="100000"/>
              </a:lnSpc>
              <a:spcAft>
                <a:spcPts val="0"/>
              </a:spcAft>
            </a:pPr>
            <a:r>
              <a:rPr sz="1350" b="0" i="0" lang="ar-DZ" rtl="1">
                <a:solidFill>
                  <a:srgbClr val="617187"/>
                </a:solidFill>
                <a:latin typeface="Cairo"/>
                <a:cs typeface="Cairo"/>
                <a:ea typeface="Cairo"/>
              </a:rPr>
              <a:t>لقطات أصلية من المذكرة، مع إطار وعناوين توضيحية دون تغيير محتوى الشاشات.</a:t>
            </a:r>
          </a:p>
        </p:txBody>
      </p:sp>
      <p:cxnSp>
        <p:nvCxnSpPr>
          <p:cNvPr id="7" name="Connector 6"/>
          <p:cNvCxnSpPr/>
          <p:nvPr/>
        </p:nvCxnSpPr>
        <p:spPr>
          <a:xfrm>
            <a:off x="530352" y="1170432"/>
            <a:ext cx="11128248" cy="0"/>
          </a:xfrm>
          <a:prstGeom prst="line">
            <a:avLst/>
          </a:prstGeom>
          <a:ln w="10160">
            <a:solidFill>
              <a:srgbClr val="D5DFE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30352" y="6382512"/>
            <a:ext cx="11128248" cy="0"/>
          </a:xfrm>
          <a:prstGeom prst="line">
            <a:avLst/>
          </a:prstGeom>
          <a:ln w="8890">
            <a:solidFill>
              <a:srgbClr val="D5DFEA"/>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03504" y="6437376"/>
            <a:ext cx="8778240" cy="210312"/>
          </a:xfrm>
          <a:prstGeom prst="rect">
            <a:avLst/>
          </a:prstGeom>
          <a:noFill/>
        </p:spPr>
        <p:txBody>
          <a:bodyPr wrap="square" lIns="0" rIns="0" tIns="0" bIns="0" anchor="ctr">
            <a:spAutoFit/>
          </a:bodyPr>
          <a:lstStyle/>
          <a:p>
            <a:pPr algn="l" rtl="1">
              <a:lnSpc>
                <a:spcPct val="100000"/>
              </a:lnSpc>
              <a:spcAft>
                <a:spcPts val="0"/>
              </a:spcAft>
            </a:pPr>
            <a:r>
              <a:rPr sz="850" b="0" i="0" lang="ar-DZ" rtl="1">
                <a:solidFill>
                  <a:srgbClr val="617187"/>
                </a:solidFill>
                <a:latin typeface="Cairo"/>
                <a:cs typeface="Cairo"/>
                <a:ea typeface="Cairo"/>
              </a:rPr>
              <a:t>المصدر: المذكرة، الفصل الثالث، ص 82 (صور البرنامج)</a:t>
            </a:r>
          </a:p>
        </p:txBody>
      </p:sp>
      <p:sp>
        <p:nvSpPr>
          <p:cNvPr id="10" name="TextBox 9"/>
          <p:cNvSpPr txBox="1"/>
          <p:nvPr/>
        </p:nvSpPr>
        <p:spPr>
          <a:xfrm>
            <a:off x="10725912" y="6409944"/>
            <a:ext cx="932688" cy="228600"/>
          </a:xfrm>
          <a:prstGeom prst="rect">
            <a:avLst/>
          </a:prstGeom>
          <a:noFill/>
        </p:spPr>
        <p:txBody>
          <a:bodyPr wrap="square" lIns="0" rIns="0" tIns="0" bIns="0" anchor="ctr">
            <a:spAutoFit/>
          </a:bodyPr>
          <a:lstStyle/>
          <a:p>
            <a:pPr algn="l" rtl="0">
              <a:lnSpc>
                <a:spcPct val="100000"/>
              </a:lnSpc>
              <a:spcAft>
                <a:spcPts val="0"/>
              </a:spcAft>
            </a:pPr>
            <a:r>
              <a:rPr sz="950" b="1" i="0" lang="en-US">
                <a:solidFill>
                  <a:srgbClr val="10233D"/>
                </a:solidFill>
                <a:latin typeface="Aptos"/>
                <a:cs typeface="Aptos"/>
                <a:ea typeface="Aptos"/>
              </a:rPr>
              <a:t>17 / 20</a:t>
            </a:r>
          </a:p>
        </p:txBody>
      </p:sp>
      <p:sp>
        <p:nvSpPr>
          <p:cNvPr id="11" name="Rectangle 10"/>
          <p:cNvSpPr/>
          <p:nvPr/>
        </p:nvSpPr>
        <p:spPr>
          <a:xfrm>
            <a:off x="9400032" y="6519672"/>
            <a:ext cx="971550" cy="32004"/>
          </a:xfrm>
          <a:prstGeom prst="rect">
            <a:avLst/>
          </a:prstGeom>
          <a:solidFill>
            <a:srgbClr val="316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81228" y="1513332"/>
            <a:ext cx="6711696" cy="4553712"/>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0080" y="1463040"/>
            <a:ext cx="6711696" cy="4553712"/>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95528" y="1627632"/>
            <a:ext cx="6400800" cy="283464"/>
          </a:xfrm>
          <a:prstGeom prst="roundRect">
            <a:avLst/>
          </a:prstGeom>
          <a:solidFill>
            <a:srgbClr val="10233D"/>
          </a:solidFill>
          <a:ln w="635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1832" y="1728216"/>
            <a:ext cx="73152" cy="73152"/>
          </a:xfrm>
          <a:prstGeom prst="ellipse">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24712" y="1728216"/>
            <a:ext cx="73152" cy="73152"/>
          </a:xfrm>
          <a:prstGeom prst="ellipse">
            <a:avLst/>
          </a:prstGeom>
          <a:solidFill>
            <a:srgbClr val="8295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307592" y="1728216"/>
            <a:ext cx="73152" cy="73152"/>
          </a:xfrm>
          <a:prstGeom prst="ellipse">
            <a:avLst/>
          </a:prstGeom>
          <a:solidFill>
            <a:srgbClr val="5E72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app_home.jpg"/>
          <p:cNvPicPr>
            <a:picLocks noChangeAspect="1"/>
          </p:cNvPicPr>
          <p:nvPr/>
        </p:nvPicPr>
        <p:blipFill>
          <a:blip r:embed="rId2"/>
          <a:stretch>
            <a:fillRect/>
          </a:stretch>
        </p:blipFill>
        <p:spPr>
          <a:xfrm>
            <a:off x="795528" y="1975104"/>
            <a:ext cx="6400800" cy="3931920"/>
          </a:xfrm>
          <a:prstGeom prst="rect">
            <a:avLst/>
          </a:prstGeom>
        </p:spPr>
      </p:pic>
      <p:sp>
        <p:nvSpPr>
          <p:cNvPr id="19" name="Rounded Rectangle 18"/>
          <p:cNvSpPr/>
          <p:nvPr/>
        </p:nvSpPr>
        <p:spPr>
          <a:xfrm>
            <a:off x="7676388" y="1513332"/>
            <a:ext cx="3877056" cy="2697480"/>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635240" y="1463040"/>
            <a:ext cx="3877056" cy="2697480"/>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790688" y="1627632"/>
            <a:ext cx="3566160" cy="256032"/>
          </a:xfrm>
          <a:prstGeom prst="roundRect">
            <a:avLst/>
          </a:prstGeom>
          <a:solidFill>
            <a:srgbClr val="10233D"/>
          </a:solidFill>
          <a:ln w="635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927848" y="1709928"/>
            <a:ext cx="68580" cy="68580"/>
          </a:xfrm>
          <a:prstGeom prst="ellipse">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110727" y="1709928"/>
            <a:ext cx="68580" cy="68580"/>
          </a:xfrm>
          <a:prstGeom prst="ellipse">
            <a:avLst/>
          </a:prstGeom>
          <a:solidFill>
            <a:srgbClr val="8295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293608" y="1709928"/>
            <a:ext cx="68580" cy="68580"/>
          </a:xfrm>
          <a:prstGeom prst="ellipse">
            <a:avLst/>
          </a:prstGeom>
          <a:solidFill>
            <a:srgbClr val="5E72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app_login.jpg"/>
          <p:cNvPicPr>
            <a:picLocks noChangeAspect="1"/>
          </p:cNvPicPr>
          <p:nvPr/>
        </p:nvPicPr>
        <p:blipFill>
          <a:blip r:embed="rId3"/>
          <a:stretch>
            <a:fillRect/>
          </a:stretch>
        </p:blipFill>
        <p:spPr>
          <a:xfrm>
            <a:off x="7790688" y="1938528"/>
            <a:ext cx="3566160" cy="2240280"/>
          </a:xfrm>
          <a:prstGeom prst="rect">
            <a:avLst/>
          </a:prstGeom>
        </p:spPr>
      </p:pic>
      <p:sp>
        <p:nvSpPr>
          <p:cNvPr id="26" name="Rounded Rectangle 25"/>
          <p:cNvSpPr/>
          <p:nvPr/>
        </p:nvSpPr>
        <p:spPr>
          <a:xfrm>
            <a:off x="7635240" y="4370832"/>
            <a:ext cx="3877056" cy="740664"/>
          </a:xfrm>
          <a:prstGeom prst="roundRect">
            <a:avLst/>
          </a:prstGeom>
          <a:solidFill>
            <a:srgbClr val="E7EFFD"/>
          </a:solidFill>
          <a:ln w="10160">
            <a:solidFill>
              <a:srgbClr val="E7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76688" y="4462272"/>
            <a:ext cx="1170432" cy="219456"/>
          </a:xfrm>
          <a:prstGeom prst="rect">
            <a:avLst/>
          </a:prstGeom>
          <a:noFill/>
        </p:spPr>
        <p:txBody>
          <a:bodyPr wrap="square" lIns="18288" rIns="18288" tIns="18288" bIns="18288" anchor="ctr">
            <a:spAutoFit/>
          </a:bodyPr>
          <a:lstStyle/>
          <a:p>
            <a:pPr algn="r" rtl="1">
              <a:lnSpc>
                <a:spcPct val="100000"/>
              </a:lnSpc>
              <a:spcAft>
                <a:spcPts val="0"/>
              </a:spcAft>
            </a:pPr>
            <a:r>
              <a:rPr sz="1200" b="1" i="0" lang="ar-DZ" rtl="1">
                <a:solidFill>
                  <a:srgbClr val="3167D5"/>
                </a:solidFill>
                <a:latin typeface="Cairo"/>
                <a:cs typeface="Cairo"/>
                <a:ea typeface="Cairo"/>
              </a:rPr>
              <a:t>الدخول</a:t>
            </a:r>
          </a:p>
        </p:txBody>
      </p:sp>
      <p:sp>
        <p:nvSpPr>
          <p:cNvPr id="28" name="TextBox 27"/>
          <p:cNvSpPr txBox="1"/>
          <p:nvPr/>
        </p:nvSpPr>
        <p:spPr>
          <a:xfrm>
            <a:off x="7909560" y="4745736"/>
            <a:ext cx="3346704" cy="237744"/>
          </a:xfrm>
          <a:prstGeom prst="rect">
            <a:avLst/>
          </a:prstGeom>
          <a:noFill/>
        </p:spPr>
        <p:txBody>
          <a:bodyPr wrap="square" lIns="18288" rIns="18288" tIns="18288" bIns="18288" anchor="ctr">
            <a:spAutoFit/>
          </a:bodyPr>
          <a:lstStyle/>
          <a:p>
            <a:pPr algn="r" rtl="1">
              <a:lnSpc>
                <a:spcPct val="100000"/>
              </a:lnSpc>
              <a:spcAft>
                <a:spcPts val="0"/>
              </a:spcAft>
            </a:pPr>
            <a:r>
              <a:rPr sz="1150" b="0" i="0" lang="ar-DZ" rtl="1">
                <a:solidFill>
                  <a:srgbClr val="17263A"/>
                </a:solidFill>
                <a:latin typeface="Cairo"/>
                <a:cs typeface="Cairo"/>
                <a:ea typeface="Cairo"/>
              </a:rPr>
              <a:t>اسم المستخدم • كلمة المرور</a:t>
            </a:r>
          </a:p>
        </p:txBody>
      </p:sp>
      <p:sp>
        <p:nvSpPr>
          <p:cNvPr id="29" name="Rounded Rectangle 28"/>
          <p:cNvSpPr/>
          <p:nvPr/>
        </p:nvSpPr>
        <p:spPr>
          <a:xfrm>
            <a:off x="7635240" y="5285232"/>
            <a:ext cx="3877056" cy="740664"/>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28632" y="5376672"/>
            <a:ext cx="1618488" cy="219456"/>
          </a:xfrm>
          <a:prstGeom prst="rect">
            <a:avLst/>
          </a:prstGeom>
          <a:noFill/>
        </p:spPr>
        <p:txBody>
          <a:bodyPr wrap="square" lIns="18288" rIns="18288" tIns="18288" bIns="18288" anchor="ctr">
            <a:spAutoFit/>
          </a:bodyPr>
          <a:lstStyle/>
          <a:p>
            <a:pPr algn="r" rtl="1">
              <a:lnSpc>
                <a:spcPct val="100000"/>
              </a:lnSpc>
              <a:spcAft>
                <a:spcPts val="0"/>
              </a:spcAft>
            </a:pPr>
            <a:r>
              <a:rPr sz="1200" b="1" i="0" lang="ar-DZ" rtl="1">
                <a:solidFill>
                  <a:srgbClr val="3167D5"/>
                </a:solidFill>
                <a:latin typeface="Cairo"/>
                <a:cs typeface="Cairo"/>
                <a:ea typeface="Cairo"/>
              </a:rPr>
              <a:t>الشاشة الرئيسية</a:t>
            </a:r>
          </a:p>
        </p:txBody>
      </p:sp>
      <p:sp>
        <p:nvSpPr>
          <p:cNvPr id="31" name="TextBox 30"/>
          <p:cNvSpPr txBox="1"/>
          <p:nvPr/>
        </p:nvSpPr>
        <p:spPr>
          <a:xfrm>
            <a:off x="7909560" y="5660136"/>
            <a:ext cx="3346704" cy="237744"/>
          </a:xfrm>
          <a:prstGeom prst="rect">
            <a:avLst/>
          </a:prstGeom>
          <a:noFill/>
        </p:spPr>
        <p:txBody>
          <a:bodyPr wrap="square" lIns="18288" rIns="18288" tIns="18288" bIns="18288" anchor="ctr">
            <a:spAutoFit/>
          </a:bodyPr>
          <a:lstStyle/>
          <a:p>
            <a:pPr algn="r" rtl="1">
              <a:lnSpc>
                <a:spcPct val="100000"/>
              </a:lnSpc>
              <a:spcAft>
                <a:spcPts val="0"/>
              </a:spcAft>
            </a:pPr>
            <a:r>
              <a:rPr sz="1130" b="0" i="0" lang="ar-DZ" rtl="1">
                <a:solidFill>
                  <a:srgbClr val="17263A"/>
                </a:solidFill>
                <a:latin typeface="Cairo"/>
                <a:cs typeface="Cairo"/>
                <a:ea typeface="Cairo"/>
              </a:rPr>
              <a:t>اختصارات الوصول لوظائف التسيير</a:t>
            </a:r>
          </a:p>
        </p:txBody>
      </p:sp>
    </p:spTree>
  </p:cSld>
  <p:clrMapOvr>
    <a:masterClrMapping/>
  </p:clrMapOvr>
  <p:transition spd="med"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ounded Rectangle 1"/>
          <p:cNvSpPr/>
          <p:nvPr/>
        </p:nvSpPr>
        <p:spPr>
          <a:xfrm>
            <a:off x="530352" y="292608"/>
            <a:ext cx="2423160" cy="310896"/>
          </a:xfrm>
          <a:prstGeom prst="roundRect">
            <a:avLst/>
          </a:prstGeom>
          <a:solidFill>
            <a:srgbClr val="10233D"/>
          </a:solidFill>
          <a:ln w="889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1500" y="297180"/>
            <a:ext cx="2340864" cy="301752"/>
          </a:xfrm>
          <a:prstGeom prst="rect">
            <a:avLst/>
          </a:prstGeom>
          <a:noFill/>
        </p:spPr>
        <p:txBody>
          <a:bodyPr wrap="square" lIns="9144" rIns="9144" tIns="9144" bIns="9144" anchor="ctr">
            <a:spAutoFit/>
          </a:bodyPr>
          <a:lstStyle/>
          <a:p>
            <a:pPr algn="ctr" rtl="0">
              <a:lnSpc>
                <a:spcPct val="100000"/>
              </a:lnSpc>
              <a:spcAft>
                <a:spcPts val="0"/>
              </a:spcAft>
            </a:pPr>
            <a:r>
              <a:rPr sz="1050" b="1" i="0" lang="en-US">
                <a:solidFill>
                  <a:srgbClr val="FFFFFF"/>
                </a:solidFill>
                <a:latin typeface="Aptos"/>
                <a:cs typeface="Aptos"/>
                <a:ea typeface="Aptos"/>
              </a:rPr>
              <a:t>04  /  الحماية والاستعمال</a:t>
            </a:r>
          </a:p>
        </p:txBody>
      </p:sp>
      <p:sp>
        <p:nvSpPr>
          <p:cNvPr id="4" name="Rectangle 3"/>
          <p:cNvSpPr/>
          <p:nvPr/>
        </p:nvSpPr>
        <p:spPr>
          <a:xfrm>
            <a:off x="11594592" y="283464"/>
            <a:ext cx="64008" cy="502920"/>
          </a:xfrm>
          <a:prstGeom prst="rect">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063240" y="182880"/>
            <a:ext cx="8229600" cy="557784"/>
          </a:xfrm>
          <a:prstGeom prst="rect">
            <a:avLst/>
          </a:prstGeom>
          <a:noFill/>
        </p:spPr>
        <p:txBody>
          <a:bodyPr wrap="square" lIns="18288" rIns="18288" tIns="18288" bIns="18288" anchor="ctr">
            <a:spAutoFit/>
          </a:bodyPr>
          <a:lstStyle/>
          <a:p>
            <a:pPr algn="r" rtl="1">
              <a:lnSpc>
                <a:spcPct val="100000"/>
              </a:lnSpc>
              <a:spcAft>
                <a:spcPts val="0"/>
              </a:spcAft>
            </a:pPr>
            <a:r>
              <a:rPr sz="2600" b="1" i="0" lang="ar-DZ" rtl="1">
                <a:solidFill>
                  <a:srgbClr val="10233D"/>
                </a:solidFill>
                <a:latin typeface="Cairo"/>
                <a:cs typeface="Cairo"/>
                <a:ea typeface="Cairo"/>
              </a:rPr>
              <a:t>سير عمليات الواجهة بعد تسجيل الدخول</a:t>
            </a:r>
          </a:p>
        </p:txBody>
      </p:sp>
      <p:sp>
        <p:nvSpPr>
          <p:cNvPr id="6" name="TextBox 5"/>
          <p:cNvSpPr txBox="1"/>
          <p:nvPr/>
        </p:nvSpPr>
        <p:spPr>
          <a:xfrm>
            <a:off x="3063240" y="731520"/>
            <a:ext cx="8229600" cy="310896"/>
          </a:xfrm>
          <a:prstGeom prst="rect">
            <a:avLst/>
          </a:prstGeom>
          <a:noFill/>
        </p:spPr>
        <p:txBody>
          <a:bodyPr wrap="square" lIns="9144" rIns="9144" tIns="9144" bIns="9144" anchor="ctr">
            <a:spAutoFit/>
          </a:bodyPr>
          <a:lstStyle/>
          <a:p>
            <a:pPr algn="r" rtl="1">
              <a:lnSpc>
                <a:spcPct val="100000"/>
              </a:lnSpc>
              <a:spcAft>
                <a:spcPts val="0"/>
              </a:spcAft>
            </a:pPr>
            <a:r>
              <a:rPr sz="1350" b="0" i="0" lang="ar-DZ" rtl="1">
                <a:solidFill>
                  <a:srgbClr val="617187"/>
                </a:solidFill>
                <a:latin typeface="Cairo"/>
                <a:cs typeface="Cairo"/>
                <a:ea typeface="Cairo"/>
              </a:rPr>
              <a:t>إعادة رسم مخطط الواجهة الأصلي كهيكل قابل للتحرير.</a:t>
            </a:r>
          </a:p>
        </p:txBody>
      </p:sp>
      <p:cxnSp>
        <p:nvCxnSpPr>
          <p:cNvPr id="7" name="Connector 6"/>
          <p:cNvCxnSpPr/>
          <p:nvPr/>
        </p:nvCxnSpPr>
        <p:spPr>
          <a:xfrm>
            <a:off x="530352" y="1170432"/>
            <a:ext cx="11128248" cy="0"/>
          </a:xfrm>
          <a:prstGeom prst="line">
            <a:avLst/>
          </a:prstGeom>
          <a:ln w="10160">
            <a:solidFill>
              <a:srgbClr val="D5DFE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30352" y="6382512"/>
            <a:ext cx="11128248" cy="0"/>
          </a:xfrm>
          <a:prstGeom prst="line">
            <a:avLst/>
          </a:prstGeom>
          <a:ln w="8890">
            <a:solidFill>
              <a:srgbClr val="D5DFEA"/>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03504" y="6437376"/>
            <a:ext cx="8778240" cy="210312"/>
          </a:xfrm>
          <a:prstGeom prst="rect">
            <a:avLst/>
          </a:prstGeom>
          <a:noFill/>
        </p:spPr>
        <p:txBody>
          <a:bodyPr wrap="square" lIns="0" rIns="0" tIns="0" bIns="0" anchor="ctr">
            <a:spAutoFit/>
          </a:bodyPr>
          <a:lstStyle/>
          <a:p>
            <a:pPr algn="l" rtl="1">
              <a:lnSpc>
                <a:spcPct val="100000"/>
              </a:lnSpc>
              <a:spcAft>
                <a:spcPts val="0"/>
              </a:spcAft>
            </a:pPr>
            <a:r>
              <a:rPr sz="850" b="0" i="0" lang="ar-DZ" rtl="1">
                <a:solidFill>
                  <a:srgbClr val="617187"/>
                </a:solidFill>
                <a:latin typeface="Cairo"/>
                <a:cs typeface="Cairo"/>
                <a:ea typeface="Cairo"/>
              </a:rPr>
              <a:t>المصدر: المذكرة، الفصل الثالث، ص 81–82</a:t>
            </a:r>
          </a:p>
        </p:txBody>
      </p:sp>
      <p:sp>
        <p:nvSpPr>
          <p:cNvPr id="10" name="TextBox 9"/>
          <p:cNvSpPr txBox="1"/>
          <p:nvPr/>
        </p:nvSpPr>
        <p:spPr>
          <a:xfrm>
            <a:off x="10725912" y="6409944"/>
            <a:ext cx="932688" cy="228600"/>
          </a:xfrm>
          <a:prstGeom prst="rect">
            <a:avLst/>
          </a:prstGeom>
          <a:noFill/>
        </p:spPr>
        <p:txBody>
          <a:bodyPr wrap="square" lIns="0" rIns="0" tIns="0" bIns="0" anchor="ctr">
            <a:spAutoFit/>
          </a:bodyPr>
          <a:lstStyle/>
          <a:p>
            <a:pPr algn="l" rtl="0">
              <a:lnSpc>
                <a:spcPct val="100000"/>
              </a:lnSpc>
              <a:spcAft>
                <a:spcPts val="0"/>
              </a:spcAft>
            </a:pPr>
            <a:r>
              <a:rPr sz="950" b="1" i="0" lang="en-US">
                <a:solidFill>
                  <a:srgbClr val="10233D"/>
                </a:solidFill>
                <a:latin typeface="Aptos"/>
                <a:cs typeface="Aptos"/>
                <a:ea typeface="Aptos"/>
              </a:rPr>
              <a:t>18 / 20</a:t>
            </a:r>
          </a:p>
        </p:txBody>
      </p:sp>
      <p:sp>
        <p:nvSpPr>
          <p:cNvPr id="11" name="Rectangle 10"/>
          <p:cNvSpPr/>
          <p:nvPr/>
        </p:nvSpPr>
        <p:spPr>
          <a:xfrm>
            <a:off x="9400032" y="6519672"/>
            <a:ext cx="1028700" cy="32004"/>
          </a:xfrm>
          <a:prstGeom prst="rect">
            <a:avLst/>
          </a:prstGeom>
          <a:solidFill>
            <a:srgbClr val="316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700016" y="1389888"/>
            <a:ext cx="2779776" cy="594360"/>
          </a:xfrm>
          <a:prstGeom prst="roundRect">
            <a:avLst/>
          </a:prstGeom>
          <a:solidFill>
            <a:srgbClr val="10233D"/>
          </a:solidFill>
          <a:ln w="1016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46320" y="1536192"/>
            <a:ext cx="2487168" cy="301752"/>
          </a:xfrm>
          <a:prstGeom prst="rect">
            <a:avLst/>
          </a:prstGeom>
          <a:noFill/>
        </p:spPr>
        <p:txBody>
          <a:bodyPr wrap="square" lIns="18288" rIns="18288" tIns="18288" bIns="18288" anchor="ctr">
            <a:spAutoFit/>
          </a:bodyPr>
          <a:lstStyle/>
          <a:p>
            <a:pPr algn="ctr" rtl="1">
              <a:lnSpc>
                <a:spcPct val="100000"/>
              </a:lnSpc>
              <a:spcAft>
                <a:spcPts val="0"/>
              </a:spcAft>
            </a:pPr>
            <a:r>
              <a:rPr sz="1800" b="1" i="0" lang="ar-DZ" rtl="1">
                <a:solidFill>
                  <a:srgbClr val="FFFFFF"/>
                </a:solidFill>
                <a:latin typeface="Cairo"/>
                <a:cs typeface="Cairo"/>
                <a:ea typeface="Cairo"/>
              </a:rPr>
              <a:t>تسجيل الدخول</a:t>
            </a:r>
          </a:p>
        </p:txBody>
      </p:sp>
      <p:cxnSp>
        <p:nvCxnSpPr>
          <p:cNvPr id="14" name="Connector 13"/>
          <p:cNvCxnSpPr/>
          <p:nvPr/>
        </p:nvCxnSpPr>
        <p:spPr>
          <a:xfrm>
            <a:off x="6089904" y="1984248"/>
            <a:ext cx="0" cy="329184"/>
          </a:xfrm>
          <a:prstGeom prst="line">
            <a:avLst/>
          </a:prstGeom>
          <a:ln w="21590">
            <a:solidFill>
              <a:srgbClr val="3167D5"/>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389888" y="2313432"/>
            <a:ext cx="9473184" cy="0"/>
          </a:xfrm>
          <a:prstGeom prst="line">
            <a:avLst/>
          </a:prstGeom>
          <a:ln w="21590">
            <a:solidFill>
              <a:srgbClr val="3167D5"/>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316736" y="2313432"/>
            <a:ext cx="0" cy="274320"/>
          </a:xfrm>
          <a:prstGeom prst="line">
            <a:avLst/>
          </a:prstGeom>
          <a:ln w="19050">
            <a:solidFill>
              <a:srgbClr val="DCA74C"/>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44068" y="2638044"/>
            <a:ext cx="1627632" cy="603504"/>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02920" y="2587752"/>
            <a:ext cx="1627632" cy="603504"/>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5216" y="2706624"/>
            <a:ext cx="1463040" cy="347472"/>
          </a:xfrm>
          <a:prstGeom prst="rect">
            <a:avLst/>
          </a:prstGeom>
          <a:noFill/>
        </p:spPr>
        <p:txBody>
          <a:bodyPr wrap="square" lIns="18288" rIns="18288" tIns="18288" bIns="18288" anchor="ctr">
            <a:spAutoFit/>
          </a:bodyPr>
          <a:lstStyle/>
          <a:p>
            <a:pPr algn="ctr" rtl="1">
              <a:lnSpc>
                <a:spcPct val="100000"/>
              </a:lnSpc>
              <a:spcAft>
                <a:spcPts val="0"/>
              </a:spcAft>
            </a:pPr>
            <a:r>
              <a:rPr sz="1250" b="1" i="0" lang="ar-DZ" rtl="1">
                <a:solidFill>
                  <a:srgbClr val="10233D"/>
                </a:solidFill>
                <a:latin typeface="Cairo"/>
                <a:cs typeface="Cairo"/>
                <a:ea typeface="Cairo"/>
              </a:rPr>
              <a:t>الإعدادات</a:t>
            </a:r>
          </a:p>
        </p:txBody>
      </p:sp>
      <p:cxnSp>
        <p:nvCxnSpPr>
          <p:cNvPr id="20" name="Connector 19"/>
          <p:cNvCxnSpPr/>
          <p:nvPr/>
        </p:nvCxnSpPr>
        <p:spPr>
          <a:xfrm>
            <a:off x="1316736" y="3191256"/>
            <a:ext cx="0" cy="210312"/>
          </a:xfrm>
          <a:prstGeom prst="line">
            <a:avLst/>
          </a:prstGeom>
          <a:ln w="12700">
            <a:solidFill>
              <a:srgbClr val="D5DFEA"/>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02920" y="3401568"/>
            <a:ext cx="1627632" cy="475488"/>
          </a:xfrm>
          <a:prstGeom prst="roundRect">
            <a:avLst/>
          </a:prstGeom>
          <a:solidFill>
            <a:srgbClr val="F9FBFE"/>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 y="3474720"/>
            <a:ext cx="1481328" cy="301752"/>
          </a:xfrm>
          <a:prstGeom prst="rect">
            <a:avLst/>
          </a:prstGeom>
          <a:noFill/>
        </p:spPr>
        <p:txBody>
          <a:bodyPr wrap="square" lIns="18288" rIns="18288" tIns="18288" bIns="18288" anchor="ctr">
            <a:spAutoFit/>
          </a:bodyPr>
          <a:lstStyle/>
          <a:p>
            <a:pPr algn="ctr" rtl="1">
              <a:lnSpc>
                <a:spcPct val="100000"/>
              </a:lnSpc>
              <a:spcAft>
                <a:spcPts val="0"/>
              </a:spcAft>
            </a:pPr>
            <a:r>
              <a:rPr sz="1090" b="0" i="0" lang="ar-DZ" rtl="1">
                <a:solidFill>
                  <a:srgbClr val="17263A"/>
                </a:solidFill>
                <a:latin typeface="Cairo"/>
                <a:cs typeface="Cairo"/>
                <a:ea typeface="Cairo"/>
              </a:rPr>
              <a:t>الأرشفة والاسترجاع</a:t>
            </a:r>
          </a:p>
        </p:txBody>
      </p:sp>
      <p:cxnSp>
        <p:nvCxnSpPr>
          <p:cNvPr id="23" name="Connector 22"/>
          <p:cNvCxnSpPr/>
          <p:nvPr/>
        </p:nvCxnSpPr>
        <p:spPr>
          <a:xfrm>
            <a:off x="1316736" y="3191256"/>
            <a:ext cx="0" cy="859535"/>
          </a:xfrm>
          <a:prstGeom prst="line">
            <a:avLst/>
          </a:prstGeom>
          <a:ln w="12700">
            <a:solidFill>
              <a:srgbClr val="D5DFEA"/>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02920" y="4050791"/>
            <a:ext cx="1627632" cy="475488"/>
          </a:xfrm>
          <a:prstGeom prst="roundRect">
            <a:avLst/>
          </a:prstGeom>
          <a:solidFill>
            <a:srgbClr val="F9FBFE"/>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6072" y="4123944"/>
            <a:ext cx="1481328" cy="301752"/>
          </a:xfrm>
          <a:prstGeom prst="rect">
            <a:avLst/>
          </a:prstGeom>
          <a:noFill/>
        </p:spPr>
        <p:txBody>
          <a:bodyPr wrap="square" lIns="18288" rIns="18288" tIns="18288" bIns="18288" anchor="ctr">
            <a:spAutoFit/>
          </a:bodyPr>
          <a:lstStyle/>
          <a:p>
            <a:pPr algn="ctr" rtl="1">
              <a:lnSpc>
                <a:spcPct val="100000"/>
              </a:lnSpc>
              <a:spcAft>
                <a:spcPts val="0"/>
              </a:spcAft>
            </a:pPr>
            <a:r>
              <a:rPr sz="1090" b="0" i="0" lang="ar-DZ" rtl="1">
                <a:solidFill>
                  <a:srgbClr val="17263A"/>
                </a:solidFill>
                <a:latin typeface="Cairo"/>
                <a:cs typeface="Cairo"/>
                <a:ea typeface="Cairo"/>
              </a:rPr>
              <a:t>تغيير خلفية البرنامج</a:t>
            </a:r>
          </a:p>
        </p:txBody>
      </p:sp>
      <p:cxnSp>
        <p:nvCxnSpPr>
          <p:cNvPr id="26" name="Connector 25"/>
          <p:cNvCxnSpPr/>
          <p:nvPr/>
        </p:nvCxnSpPr>
        <p:spPr>
          <a:xfrm>
            <a:off x="1316736" y="3191256"/>
            <a:ext cx="0" cy="1508760"/>
          </a:xfrm>
          <a:prstGeom prst="line">
            <a:avLst/>
          </a:prstGeom>
          <a:ln w="12700">
            <a:solidFill>
              <a:srgbClr val="D5DFEA"/>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02920" y="4700016"/>
            <a:ext cx="1627632" cy="475488"/>
          </a:xfrm>
          <a:prstGeom prst="roundRect">
            <a:avLst/>
          </a:prstGeom>
          <a:solidFill>
            <a:srgbClr val="F9FBFE"/>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76072" y="4773168"/>
            <a:ext cx="1481328" cy="301752"/>
          </a:xfrm>
          <a:prstGeom prst="rect">
            <a:avLst/>
          </a:prstGeom>
          <a:noFill/>
        </p:spPr>
        <p:txBody>
          <a:bodyPr wrap="square" lIns="18288" rIns="18288" tIns="18288" bIns="18288" anchor="ctr">
            <a:spAutoFit/>
          </a:bodyPr>
          <a:lstStyle/>
          <a:p>
            <a:pPr algn="ctr" rtl="1">
              <a:lnSpc>
                <a:spcPct val="100000"/>
              </a:lnSpc>
              <a:spcAft>
                <a:spcPts val="0"/>
              </a:spcAft>
            </a:pPr>
            <a:r>
              <a:rPr sz="1090" b="0" i="0" lang="ar-DZ" rtl="1">
                <a:solidFill>
                  <a:srgbClr val="17263A"/>
                </a:solidFill>
                <a:latin typeface="Cairo"/>
                <a:cs typeface="Cairo"/>
                <a:ea typeface="Cairo"/>
              </a:rPr>
              <a:t>تغيير كلمة المرور</a:t>
            </a:r>
          </a:p>
        </p:txBody>
      </p:sp>
      <p:cxnSp>
        <p:nvCxnSpPr>
          <p:cNvPr id="29" name="Connector 28"/>
          <p:cNvCxnSpPr/>
          <p:nvPr/>
        </p:nvCxnSpPr>
        <p:spPr>
          <a:xfrm>
            <a:off x="3227832" y="2313432"/>
            <a:ext cx="0" cy="274320"/>
          </a:xfrm>
          <a:prstGeom prst="line">
            <a:avLst/>
          </a:prstGeom>
          <a:ln w="19050">
            <a:solidFill>
              <a:srgbClr val="DCA74C"/>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2455164" y="2638044"/>
            <a:ext cx="1627632" cy="603504"/>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2414016" y="2587752"/>
            <a:ext cx="1627632" cy="603504"/>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496312" y="2706624"/>
            <a:ext cx="1463040" cy="347472"/>
          </a:xfrm>
          <a:prstGeom prst="rect">
            <a:avLst/>
          </a:prstGeom>
          <a:noFill/>
        </p:spPr>
        <p:txBody>
          <a:bodyPr wrap="square" lIns="18288" rIns="18288" tIns="18288" bIns="18288" anchor="ctr">
            <a:spAutoFit/>
          </a:bodyPr>
          <a:lstStyle/>
          <a:p>
            <a:pPr algn="ctr" rtl="1">
              <a:lnSpc>
                <a:spcPct val="100000"/>
              </a:lnSpc>
              <a:spcAft>
                <a:spcPts val="0"/>
              </a:spcAft>
            </a:pPr>
            <a:r>
              <a:rPr sz="1250" b="1" i="0" lang="ar-DZ" rtl="1">
                <a:solidFill>
                  <a:srgbClr val="10233D"/>
                </a:solidFill>
                <a:latin typeface="Cairo"/>
                <a:cs typeface="Cairo"/>
                <a:ea typeface="Cairo"/>
              </a:rPr>
              <a:t>المستخدمون</a:t>
            </a:r>
          </a:p>
        </p:txBody>
      </p:sp>
      <p:cxnSp>
        <p:nvCxnSpPr>
          <p:cNvPr id="33" name="Connector 32"/>
          <p:cNvCxnSpPr/>
          <p:nvPr/>
        </p:nvCxnSpPr>
        <p:spPr>
          <a:xfrm>
            <a:off x="3227832" y="3191256"/>
            <a:ext cx="0" cy="210312"/>
          </a:xfrm>
          <a:prstGeom prst="line">
            <a:avLst/>
          </a:prstGeom>
          <a:ln w="12700">
            <a:solidFill>
              <a:srgbClr val="D5DFEA"/>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2414016" y="3401568"/>
            <a:ext cx="1627632" cy="475488"/>
          </a:xfrm>
          <a:prstGeom prst="roundRect">
            <a:avLst/>
          </a:prstGeom>
          <a:solidFill>
            <a:srgbClr val="F9FBFE"/>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487168" y="3474720"/>
            <a:ext cx="1481328" cy="301752"/>
          </a:xfrm>
          <a:prstGeom prst="rect">
            <a:avLst/>
          </a:prstGeom>
          <a:noFill/>
        </p:spPr>
        <p:txBody>
          <a:bodyPr wrap="square" lIns="18288" rIns="18288" tIns="18288" bIns="18288" anchor="ctr">
            <a:spAutoFit/>
          </a:bodyPr>
          <a:lstStyle/>
          <a:p>
            <a:pPr algn="ctr" rtl="1">
              <a:lnSpc>
                <a:spcPct val="100000"/>
              </a:lnSpc>
              <a:spcAft>
                <a:spcPts val="0"/>
              </a:spcAft>
            </a:pPr>
            <a:r>
              <a:rPr sz="1090" b="0" i="0" lang="ar-DZ" rtl="1">
                <a:solidFill>
                  <a:srgbClr val="17263A"/>
                </a:solidFill>
                <a:latin typeface="Cairo"/>
                <a:cs typeface="Cairo"/>
                <a:ea typeface="Cairo"/>
              </a:rPr>
              <a:t>إدارة المستخدمين</a:t>
            </a:r>
          </a:p>
        </p:txBody>
      </p:sp>
      <p:cxnSp>
        <p:nvCxnSpPr>
          <p:cNvPr id="36" name="Connector 35"/>
          <p:cNvCxnSpPr/>
          <p:nvPr/>
        </p:nvCxnSpPr>
        <p:spPr>
          <a:xfrm>
            <a:off x="5138928" y="2313432"/>
            <a:ext cx="0" cy="274320"/>
          </a:xfrm>
          <a:prstGeom prst="line">
            <a:avLst/>
          </a:prstGeom>
          <a:ln w="19050">
            <a:solidFill>
              <a:srgbClr val="DCA74C"/>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4366260" y="2638044"/>
            <a:ext cx="1627632" cy="603504"/>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4325112" y="2587752"/>
            <a:ext cx="1627632" cy="603504"/>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407408" y="2706624"/>
            <a:ext cx="1463040" cy="347472"/>
          </a:xfrm>
          <a:prstGeom prst="rect">
            <a:avLst/>
          </a:prstGeom>
          <a:noFill/>
        </p:spPr>
        <p:txBody>
          <a:bodyPr wrap="square" lIns="18288" rIns="18288" tIns="18288" bIns="18288" anchor="ctr">
            <a:spAutoFit/>
          </a:bodyPr>
          <a:lstStyle/>
          <a:p>
            <a:pPr algn="ctr" rtl="1">
              <a:lnSpc>
                <a:spcPct val="100000"/>
              </a:lnSpc>
              <a:spcAft>
                <a:spcPts val="0"/>
              </a:spcAft>
            </a:pPr>
            <a:r>
              <a:rPr sz="1250" b="1" i="0" lang="ar-DZ" rtl="1">
                <a:solidFill>
                  <a:srgbClr val="10233D"/>
                </a:solidFill>
                <a:latin typeface="Cairo"/>
                <a:cs typeface="Cairo"/>
                <a:ea typeface="Cairo"/>
              </a:rPr>
              <a:t>الإعارة والاسترجاع</a:t>
            </a:r>
          </a:p>
        </p:txBody>
      </p:sp>
      <p:cxnSp>
        <p:nvCxnSpPr>
          <p:cNvPr id="40" name="Connector 39"/>
          <p:cNvCxnSpPr/>
          <p:nvPr/>
        </p:nvCxnSpPr>
        <p:spPr>
          <a:xfrm>
            <a:off x="5138928" y="3191256"/>
            <a:ext cx="0" cy="210312"/>
          </a:xfrm>
          <a:prstGeom prst="line">
            <a:avLst/>
          </a:prstGeom>
          <a:ln w="12700">
            <a:solidFill>
              <a:srgbClr val="D5DFEA"/>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4325112" y="3401568"/>
            <a:ext cx="1627632" cy="475488"/>
          </a:xfrm>
          <a:prstGeom prst="roundRect">
            <a:avLst/>
          </a:prstGeom>
          <a:solidFill>
            <a:srgbClr val="F9FBFE"/>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398264" y="3474720"/>
            <a:ext cx="1481328" cy="301752"/>
          </a:xfrm>
          <a:prstGeom prst="rect">
            <a:avLst/>
          </a:prstGeom>
          <a:noFill/>
        </p:spPr>
        <p:txBody>
          <a:bodyPr wrap="square" lIns="18288" rIns="18288" tIns="18288" bIns="18288" anchor="ctr">
            <a:spAutoFit/>
          </a:bodyPr>
          <a:lstStyle/>
          <a:p>
            <a:pPr algn="ctr" rtl="1">
              <a:lnSpc>
                <a:spcPct val="100000"/>
              </a:lnSpc>
              <a:spcAft>
                <a:spcPts val="0"/>
              </a:spcAft>
            </a:pPr>
            <a:r>
              <a:rPr sz="1090" b="0" i="0" lang="ar-DZ" rtl="1">
                <a:solidFill>
                  <a:srgbClr val="17263A"/>
                </a:solidFill>
                <a:latin typeface="Cairo"/>
                <a:cs typeface="Cairo"/>
                <a:ea typeface="Cairo"/>
              </a:rPr>
              <a:t>الإعارة</a:t>
            </a:r>
          </a:p>
        </p:txBody>
      </p:sp>
      <p:cxnSp>
        <p:nvCxnSpPr>
          <p:cNvPr id="43" name="Connector 42"/>
          <p:cNvCxnSpPr/>
          <p:nvPr/>
        </p:nvCxnSpPr>
        <p:spPr>
          <a:xfrm>
            <a:off x="5138928" y="3191256"/>
            <a:ext cx="0" cy="859535"/>
          </a:xfrm>
          <a:prstGeom prst="line">
            <a:avLst/>
          </a:prstGeom>
          <a:ln w="12700">
            <a:solidFill>
              <a:srgbClr val="D5DFEA"/>
            </a:solidFill>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4325112" y="4050791"/>
            <a:ext cx="1627632" cy="475488"/>
          </a:xfrm>
          <a:prstGeom prst="roundRect">
            <a:avLst/>
          </a:prstGeom>
          <a:solidFill>
            <a:srgbClr val="F9FBFE"/>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398264" y="4123944"/>
            <a:ext cx="1481328" cy="301752"/>
          </a:xfrm>
          <a:prstGeom prst="rect">
            <a:avLst/>
          </a:prstGeom>
          <a:noFill/>
        </p:spPr>
        <p:txBody>
          <a:bodyPr wrap="square" lIns="18288" rIns="18288" tIns="18288" bIns="18288" anchor="ctr">
            <a:spAutoFit/>
          </a:bodyPr>
          <a:lstStyle/>
          <a:p>
            <a:pPr algn="ctr" rtl="1">
              <a:lnSpc>
                <a:spcPct val="100000"/>
              </a:lnSpc>
              <a:spcAft>
                <a:spcPts val="0"/>
              </a:spcAft>
            </a:pPr>
            <a:r>
              <a:rPr sz="1090" b="0" i="0" lang="ar-DZ" rtl="1">
                <a:solidFill>
                  <a:srgbClr val="17263A"/>
                </a:solidFill>
                <a:latin typeface="Cairo"/>
                <a:cs typeface="Cairo"/>
                <a:ea typeface="Cairo"/>
              </a:rPr>
              <a:t>العقوبة</a:t>
            </a:r>
          </a:p>
        </p:txBody>
      </p:sp>
      <p:cxnSp>
        <p:nvCxnSpPr>
          <p:cNvPr id="46" name="Connector 45"/>
          <p:cNvCxnSpPr/>
          <p:nvPr/>
        </p:nvCxnSpPr>
        <p:spPr>
          <a:xfrm>
            <a:off x="7050024" y="2313432"/>
            <a:ext cx="0" cy="274320"/>
          </a:xfrm>
          <a:prstGeom prst="line">
            <a:avLst/>
          </a:prstGeom>
          <a:ln w="19050">
            <a:solidFill>
              <a:srgbClr val="DCA74C"/>
            </a:solidFill>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6277356" y="2638044"/>
            <a:ext cx="1627632" cy="603504"/>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6236208" y="2587752"/>
            <a:ext cx="1627632" cy="603504"/>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318504" y="2706624"/>
            <a:ext cx="1463040" cy="347472"/>
          </a:xfrm>
          <a:prstGeom prst="rect">
            <a:avLst/>
          </a:prstGeom>
          <a:noFill/>
        </p:spPr>
        <p:txBody>
          <a:bodyPr wrap="square" lIns="18288" rIns="18288" tIns="18288" bIns="18288" anchor="ctr">
            <a:spAutoFit/>
          </a:bodyPr>
          <a:lstStyle/>
          <a:p>
            <a:pPr algn="ctr" rtl="1">
              <a:lnSpc>
                <a:spcPct val="100000"/>
              </a:lnSpc>
              <a:spcAft>
                <a:spcPts val="0"/>
              </a:spcAft>
            </a:pPr>
            <a:r>
              <a:rPr sz="1250" b="1" i="0" lang="ar-DZ" rtl="1">
                <a:solidFill>
                  <a:srgbClr val="10233D"/>
                </a:solidFill>
                <a:latin typeface="Cairo"/>
                <a:cs typeface="Cairo"/>
                <a:ea typeface="Cairo"/>
              </a:rPr>
              <a:t>إدارة الكتب</a:t>
            </a:r>
          </a:p>
        </p:txBody>
      </p:sp>
      <p:cxnSp>
        <p:nvCxnSpPr>
          <p:cNvPr id="50" name="Connector 49"/>
          <p:cNvCxnSpPr/>
          <p:nvPr/>
        </p:nvCxnSpPr>
        <p:spPr>
          <a:xfrm>
            <a:off x="7050024" y="3191256"/>
            <a:ext cx="0" cy="210312"/>
          </a:xfrm>
          <a:prstGeom prst="line">
            <a:avLst/>
          </a:prstGeom>
          <a:ln w="12700">
            <a:solidFill>
              <a:srgbClr val="D5DFEA"/>
            </a:solidFill>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6236208" y="3401568"/>
            <a:ext cx="1627632" cy="475488"/>
          </a:xfrm>
          <a:prstGeom prst="roundRect">
            <a:avLst/>
          </a:prstGeom>
          <a:solidFill>
            <a:srgbClr val="F9FBFE"/>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09360" y="3474720"/>
            <a:ext cx="1481328" cy="301752"/>
          </a:xfrm>
          <a:prstGeom prst="rect">
            <a:avLst/>
          </a:prstGeom>
          <a:noFill/>
        </p:spPr>
        <p:txBody>
          <a:bodyPr wrap="square" lIns="18288" rIns="18288" tIns="18288" bIns="18288" anchor="ctr">
            <a:spAutoFit/>
          </a:bodyPr>
          <a:lstStyle/>
          <a:p>
            <a:pPr algn="ctr" rtl="1">
              <a:lnSpc>
                <a:spcPct val="100000"/>
              </a:lnSpc>
              <a:spcAft>
                <a:spcPts val="0"/>
              </a:spcAft>
            </a:pPr>
            <a:r>
              <a:rPr sz="1090" b="0" i="0" lang="ar-DZ" rtl="1">
                <a:solidFill>
                  <a:srgbClr val="17263A"/>
                </a:solidFill>
                <a:latin typeface="Cairo"/>
                <a:cs typeface="Cairo"/>
                <a:ea typeface="Cairo"/>
              </a:rPr>
              <a:t>إدارة الأصناف</a:t>
            </a:r>
          </a:p>
        </p:txBody>
      </p:sp>
      <p:cxnSp>
        <p:nvCxnSpPr>
          <p:cNvPr id="53" name="Connector 52"/>
          <p:cNvCxnSpPr/>
          <p:nvPr/>
        </p:nvCxnSpPr>
        <p:spPr>
          <a:xfrm>
            <a:off x="7050024" y="3191256"/>
            <a:ext cx="0" cy="859535"/>
          </a:xfrm>
          <a:prstGeom prst="line">
            <a:avLst/>
          </a:prstGeom>
          <a:ln w="12700">
            <a:solidFill>
              <a:srgbClr val="D5DFEA"/>
            </a:solidFill>
          </a:ln>
        </p:spPr>
        <p:style>
          <a:lnRef idx="2">
            <a:schemeClr val="accent1"/>
          </a:lnRef>
          <a:fillRef idx="0">
            <a:schemeClr val="accent1"/>
          </a:fillRef>
          <a:effectRef idx="1">
            <a:schemeClr val="accent1"/>
          </a:effectRef>
          <a:fontRef idx="minor">
            <a:schemeClr val="tx1"/>
          </a:fontRef>
        </p:style>
      </p:cxnSp>
      <p:sp>
        <p:nvSpPr>
          <p:cNvPr id="54" name="Rounded Rectangle 53"/>
          <p:cNvSpPr/>
          <p:nvPr/>
        </p:nvSpPr>
        <p:spPr>
          <a:xfrm>
            <a:off x="6236208" y="4050791"/>
            <a:ext cx="1627632" cy="475488"/>
          </a:xfrm>
          <a:prstGeom prst="roundRect">
            <a:avLst/>
          </a:prstGeom>
          <a:solidFill>
            <a:srgbClr val="F9FBFE"/>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309360" y="4123944"/>
            <a:ext cx="1481328" cy="301752"/>
          </a:xfrm>
          <a:prstGeom prst="rect">
            <a:avLst/>
          </a:prstGeom>
          <a:noFill/>
        </p:spPr>
        <p:txBody>
          <a:bodyPr wrap="square" lIns="18288" rIns="18288" tIns="18288" bIns="18288" anchor="ctr">
            <a:spAutoFit/>
          </a:bodyPr>
          <a:lstStyle/>
          <a:p>
            <a:pPr algn="ctr" rtl="1">
              <a:lnSpc>
                <a:spcPct val="100000"/>
              </a:lnSpc>
              <a:spcAft>
                <a:spcPts val="0"/>
              </a:spcAft>
            </a:pPr>
            <a:r>
              <a:rPr sz="1090" b="0" i="0" lang="ar-DZ" rtl="1">
                <a:solidFill>
                  <a:srgbClr val="17263A"/>
                </a:solidFill>
                <a:latin typeface="Cairo"/>
                <a:cs typeface="Cairo"/>
                <a:ea typeface="Cairo"/>
              </a:rPr>
              <a:t>إدارة المؤلف</a:t>
            </a:r>
          </a:p>
        </p:txBody>
      </p:sp>
      <p:cxnSp>
        <p:nvCxnSpPr>
          <p:cNvPr id="56" name="Connector 55"/>
          <p:cNvCxnSpPr/>
          <p:nvPr/>
        </p:nvCxnSpPr>
        <p:spPr>
          <a:xfrm>
            <a:off x="7050024" y="3191256"/>
            <a:ext cx="0" cy="1508760"/>
          </a:xfrm>
          <a:prstGeom prst="line">
            <a:avLst/>
          </a:prstGeom>
          <a:ln w="12700">
            <a:solidFill>
              <a:srgbClr val="D5DFEA"/>
            </a:solidFill>
          </a:ln>
        </p:spPr>
        <p:style>
          <a:lnRef idx="2">
            <a:schemeClr val="accent1"/>
          </a:lnRef>
          <a:fillRef idx="0">
            <a:schemeClr val="accent1"/>
          </a:fillRef>
          <a:effectRef idx="1">
            <a:schemeClr val="accent1"/>
          </a:effectRef>
          <a:fontRef idx="minor">
            <a:schemeClr val="tx1"/>
          </a:fontRef>
        </p:style>
      </p:cxnSp>
      <p:sp>
        <p:nvSpPr>
          <p:cNvPr id="57" name="Rounded Rectangle 56"/>
          <p:cNvSpPr/>
          <p:nvPr/>
        </p:nvSpPr>
        <p:spPr>
          <a:xfrm>
            <a:off x="6236208" y="4700016"/>
            <a:ext cx="1627632" cy="475488"/>
          </a:xfrm>
          <a:prstGeom prst="roundRect">
            <a:avLst/>
          </a:prstGeom>
          <a:solidFill>
            <a:srgbClr val="F9FBFE"/>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309360" y="4773168"/>
            <a:ext cx="1481328" cy="301752"/>
          </a:xfrm>
          <a:prstGeom prst="rect">
            <a:avLst/>
          </a:prstGeom>
          <a:noFill/>
        </p:spPr>
        <p:txBody>
          <a:bodyPr wrap="square" lIns="18288" rIns="18288" tIns="18288" bIns="18288" anchor="ctr">
            <a:spAutoFit/>
          </a:bodyPr>
          <a:lstStyle/>
          <a:p>
            <a:pPr algn="ctr" rtl="1">
              <a:lnSpc>
                <a:spcPct val="100000"/>
              </a:lnSpc>
              <a:spcAft>
                <a:spcPts val="0"/>
              </a:spcAft>
            </a:pPr>
            <a:r>
              <a:rPr sz="1090" b="0" i="0" lang="ar-DZ" rtl="1">
                <a:solidFill>
                  <a:srgbClr val="17263A"/>
                </a:solidFill>
                <a:latin typeface="Cairo"/>
                <a:cs typeface="Cairo"/>
                <a:ea typeface="Cairo"/>
              </a:rPr>
              <a:t>إدارة دور النشر</a:t>
            </a:r>
          </a:p>
        </p:txBody>
      </p:sp>
      <p:cxnSp>
        <p:nvCxnSpPr>
          <p:cNvPr id="59" name="Connector 58"/>
          <p:cNvCxnSpPr/>
          <p:nvPr/>
        </p:nvCxnSpPr>
        <p:spPr>
          <a:xfrm>
            <a:off x="8961120" y="2313432"/>
            <a:ext cx="0" cy="274320"/>
          </a:xfrm>
          <a:prstGeom prst="line">
            <a:avLst/>
          </a:prstGeom>
          <a:ln w="19050">
            <a:solidFill>
              <a:srgbClr val="DCA74C"/>
            </a:solidFill>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8188452" y="2638044"/>
            <a:ext cx="1627632" cy="603504"/>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8147304" y="2587752"/>
            <a:ext cx="1627632" cy="603504"/>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229600" y="2706624"/>
            <a:ext cx="1463040" cy="347472"/>
          </a:xfrm>
          <a:prstGeom prst="rect">
            <a:avLst/>
          </a:prstGeom>
          <a:noFill/>
        </p:spPr>
        <p:txBody>
          <a:bodyPr wrap="square" lIns="18288" rIns="18288" tIns="18288" bIns="18288" anchor="ctr">
            <a:spAutoFit/>
          </a:bodyPr>
          <a:lstStyle/>
          <a:p>
            <a:pPr algn="ctr" rtl="1">
              <a:lnSpc>
                <a:spcPct val="100000"/>
              </a:lnSpc>
              <a:spcAft>
                <a:spcPts val="0"/>
              </a:spcAft>
            </a:pPr>
            <a:r>
              <a:rPr sz="1250" b="1" i="0" lang="ar-DZ" rtl="1">
                <a:solidFill>
                  <a:srgbClr val="10233D"/>
                </a:solidFill>
                <a:latin typeface="Cairo"/>
                <a:cs typeface="Cairo"/>
                <a:ea typeface="Cairo"/>
              </a:rPr>
              <a:t>إدارة المنخرطين</a:t>
            </a:r>
          </a:p>
        </p:txBody>
      </p:sp>
      <p:cxnSp>
        <p:nvCxnSpPr>
          <p:cNvPr id="63" name="Connector 62"/>
          <p:cNvCxnSpPr/>
          <p:nvPr/>
        </p:nvCxnSpPr>
        <p:spPr>
          <a:xfrm>
            <a:off x="8961120" y="3191256"/>
            <a:ext cx="0" cy="210312"/>
          </a:xfrm>
          <a:prstGeom prst="line">
            <a:avLst/>
          </a:prstGeom>
          <a:ln w="12700">
            <a:solidFill>
              <a:srgbClr val="D5DFEA"/>
            </a:solidFill>
          </a:ln>
        </p:spPr>
        <p:style>
          <a:lnRef idx="2">
            <a:schemeClr val="accent1"/>
          </a:lnRef>
          <a:fillRef idx="0">
            <a:schemeClr val="accent1"/>
          </a:fillRef>
          <a:effectRef idx="1">
            <a:schemeClr val="accent1"/>
          </a:effectRef>
          <a:fontRef idx="minor">
            <a:schemeClr val="tx1"/>
          </a:fontRef>
        </p:style>
      </p:cxnSp>
      <p:sp>
        <p:nvSpPr>
          <p:cNvPr id="64" name="Rounded Rectangle 63"/>
          <p:cNvSpPr/>
          <p:nvPr/>
        </p:nvSpPr>
        <p:spPr>
          <a:xfrm>
            <a:off x="8147304" y="3401568"/>
            <a:ext cx="1627632" cy="475488"/>
          </a:xfrm>
          <a:prstGeom prst="roundRect">
            <a:avLst/>
          </a:prstGeom>
          <a:solidFill>
            <a:srgbClr val="F9FBFE"/>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220456" y="3474720"/>
            <a:ext cx="1481328" cy="301752"/>
          </a:xfrm>
          <a:prstGeom prst="rect">
            <a:avLst/>
          </a:prstGeom>
          <a:noFill/>
        </p:spPr>
        <p:txBody>
          <a:bodyPr wrap="square" lIns="18288" rIns="18288" tIns="18288" bIns="18288" anchor="ctr">
            <a:spAutoFit/>
          </a:bodyPr>
          <a:lstStyle/>
          <a:p>
            <a:pPr algn="ctr" rtl="1">
              <a:lnSpc>
                <a:spcPct val="100000"/>
              </a:lnSpc>
              <a:spcAft>
                <a:spcPts val="0"/>
              </a:spcAft>
            </a:pPr>
            <a:r>
              <a:rPr sz="1090" b="0" i="0" lang="ar-DZ" rtl="1">
                <a:solidFill>
                  <a:srgbClr val="17263A"/>
                </a:solidFill>
                <a:latin typeface="Cairo"/>
                <a:cs typeface="Cairo"/>
                <a:ea typeface="Cairo"/>
              </a:rPr>
              <a:t>سنة الانخراط</a:t>
            </a:r>
          </a:p>
        </p:txBody>
      </p:sp>
      <p:cxnSp>
        <p:nvCxnSpPr>
          <p:cNvPr id="66" name="Connector 65"/>
          <p:cNvCxnSpPr/>
          <p:nvPr/>
        </p:nvCxnSpPr>
        <p:spPr>
          <a:xfrm>
            <a:off x="10872216" y="2313432"/>
            <a:ext cx="0" cy="274320"/>
          </a:xfrm>
          <a:prstGeom prst="line">
            <a:avLst/>
          </a:prstGeom>
          <a:ln w="19050">
            <a:solidFill>
              <a:srgbClr val="DCA74C"/>
            </a:solidFill>
          </a:ln>
        </p:spPr>
        <p:style>
          <a:lnRef idx="2">
            <a:schemeClr val="accent1"/>
          </a:lnRef>
          <a:fillRef idx="0">
            <a:schemeClr val="accent1"/>
          </a:fillRef>
          <a:effectRef idx="1">
            <a:schemeClr val="accent1"/>
          </a:effectRef>
          <a:fontRef idx="minor">
            <a:schemeClr val="tx1"/>
          </a:fontRef>
        </p:style>
      </p:cxnSp>
      <p:sp>
        <p:nvSpPr>
          <p:cNvPr id="67" name="Rounded Rectangle 66"/>
          <p:cNvSpPr/>
          <p:nvPr/>
        </p:nvSpPr>
        <p:spPr>
          <a:xfrm>
            <a:off x="10099548" y="2638044"/>
            <a:ext cx="1627632" cy="603504"/>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10058400" y="2587752"/>
            <a:ext cx="1627632" cy="603504"/>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0140696" y="2706624"/>
            <a:ext cx="1463040" cy="347472"/>
          </a:xfrm>
          <a:prstGeom prst="rect">
            <a:avLst/>
          </a:prstGeom>
          <a:noFill/>
        </p:spPr>
        <p:txBody>
          <a:bodyPr wrap="square" lIns="18288" rIns="18288" tIns="18288" bIns="18288" anchor="ctr">
            <a:spAutoFit/>
          </a:bodyPr>
          <a:lstStyle/>
          <a:p>
            <a:pPr algn="ctr" rtl="1">
              <a:lnSpc>
                <a:spcPct val="100000"/>
              </a:lnSpc>
              <a:spcAft>
                <a:spcPts val="0"/>
              </a:spcAft>
            </a:pPr>
            <a:r>
              <a:rPr sz="1250" b="1" i="0" lang="ar-DZ" rtl="1">
                <a:solidFill>
                  <a:srgbClr val="10233D"/>
                </a:solidFill>
                <a:latin typeface="Cairo"/>
                <a:cs typeface="Cairo"/>
                <a:ea typeface="Cairo"/>
              </a:rPr>
              <a:t>ملف</a:t>
            </a:r>
          </a:p>
        </p:txBody>
      </p:sp>
      <p:cxnSp>
        <p:nvCxnSpPr>
          <p:cNvPr id="70" name="Connector 69"/>
          <p:cNvCxnSpPr/>
          <p:nvPr/>
        </p:nvCxnSpPr>
        <p:spPr>
          <a:xfrm>
            <a:off x="10872216" y="3191256"/>
            <a:ext cx="0" cy="210312"/>
          </a:xfrm>
          <a:prstGeom prst="line">
            <a:avLst/>
          </a:prstGeom>
          <a:ln w="12700">
            <a:solidFill>
              <a:srgbClr val="D5DFEA"/>
            </a:solidFill>
          </a:ln>
        </p:spPr>
        <p:style>
          <a:lnRef idx="2">
            <a:schemeClr val="accent1"/>
          </a:lnRef>
          <a:fillRef idx="0">
            <a:schemeClr val="accent1"/>
          </a:fillRef>
          <a:effectRef idx="1">
            <a:schemeClr val="accent1"/>
          </a:effectRef>
          <a:fontRef idx="minor">
            <a:schemeClr val="tx1"/>
          </a:fontRef>
        </p:style>
      </p:cxnSp>
      <p:sp>
        <p:nvSpPr>
          <p:cNvPr id="71" name="Rounded Rectangle 70"/>
          <p:cNvSpPr/>
          <p:nvPr/>
        </p:nvSpPr>
        <p:spPr>
          <a:xfrm>
            <a:off x="10058400" y="3401568"/>
            <a:ext cx="1627632" cy="475488"/>
          </a:xfrm>
          <a:prstGeom prst="roundRect">
            <a:avLst/>
          </a:prstGeom>
          <a:solidFill>
            <a:srgbClr val="F9FBFE"/>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0131552" y="3474720"/>
            <a:ext cx="1481328" cy="301752"/>
          </a:xfrm>
          <a:prstGeom prst="rect">
            <a:avLst/>
          </a:prstGeom>
          <a:noFill/>
        </p:spPr>
        <p:txBody>
          <a:bodyPr wrap="square" lIns="18288" rIns="18288" tIns="18288" bIns="18288" anchor="ctr">
            <a:spAutoFit/>
          </a:bodyPr>
          <a:lstStyle/>
          <a:p>
            <a:pPr algn="ctr" rtl="1">
              <a:lnSpc>
                <a:spcPct val="100000"/>
              </a:lnSpc>
              <a:spcAft>
                <a:spcPts val="0"/>
              </a:spcAft>
            </a:pPr>
            <a:r>
              <a:rPr sz="1090" b="0" i="0" lang="ar-DZ" rtl="1">
                <a:solidFill>
                  <a:srgbClr val="17263A"/>
                </a:solidFill>
                <a:latin typeface="Cairo"/>
                <a:cs typeface="Cairo"/>
                <a:ea typeface="Cairo"/>
              </a:rPr>
              <a:t>تسجيل الخروج</a:t>
            </a:r>
          </a:p>
        </p:txBody>
      </p:sp>
      <p:sp>
        <p:nvSpPr>
          <p:cNvPr id="73" name="Rounded Rectangle 72"/>
          <p:cNvSpPr/>
          <p:nvPr/>
        </p:nvSpPr>
        <p:spPr>
          <a:xfrm>
            <a:off x="822960" y="5577840"/>
            <a:ext cx="10515600" cy="320040"/>
          </a:xfrm>
          <a:prstGeom prst="roundRect">
            <a:avLst/>
          </a:prstGeom>
          <a:solidFill>
            <a:srgbClr val="F8F0DF"/>
          </a:solidFill>
          <a:ln w="8890">
            <a:solidFill>
              <a:srgbClr val="F8F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59536" y="5582412"/>
            <a:ext cx="10442448" cy="310896"/>
          </a:xfrm>
          <a:prstGeom prst="rect">
            <a:avLst/>
          </a:prstGeom>
          <a:noFill/>
        </p:spPr>
        <p:txBody>
          <a:bodyPr wrap="square" lIns="9144" rIns="9144" tIns="9144" bIns="9144" anchor="ctr">
            <a:spAutoFit/>
          </a:bodyPr>
          <a:lstStyle/>
          <a:p>
            <a:pPr algn="ctr" rtl="1">
              <a:lnSpc>
                <a:spcPct val="100000"/>
              </a:lnSpc>
              <a:spcAft>
                <a:spcPts val="0"/>
              </a:spcAft>
            </a:pPr>
            <a:r>
              <a:rPr sz="1120" b="1" i="0" lang="ar-DZ" rtl="1">
                <a:solidFill>
                  <a:srgbClr val="10233D"/>
                </a:solidFill>
                <a:latin typeface="Cairo"/>
                <a:cs typeface="Cairo"/>
                <a:ea typeface="Cairo"/>
              </a:rPr>
              <a:t>إجراء الإعارة الموثق: البحث عن الكتاب  ←  تدوين الإعارة  ←  تسليم الكتاب مع بطاقة الطالب</a:t>
            </a:r>
          </a:p>
        </p:txBody>
      </p:sp>
    </p:spTree>
  </p:cSld>
  <p:clrMapOvr>
    <a:masterClrMapping/>
  </p:clrMapOvr>
  <p:transition spd="med"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ounded Rectangle 1"/>
          <p:cNvSpPr/>
          <p:nvPr/>
        </p:nvSpPr>
        <p:spPr>
          <a:xfrm>
            <a:off x="530352" y="292608"/>
            <a:ext cx="2423160" cy="310896"/>
          </a:xfrm>
          <a:prstGeom prst="roundRect">
            <a:avLst/>
          </a:prstGeom>
          <a:solidFill>
            <a:srgbClr val="10233D"/>
          </a:solidFill>
          <a:ln w="889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1500" y="297180"/>
            <a:ext cx="2340864" cy="301752"/>
          </a:xfrm>
          <a:prstGeom prst="rect">
            <a:avLst/>
          </a:prstGeom>
          <a:noFill/>
        </p:spPr>
        <p:txBody>
          <a:bodyPr wrap="square" lIns="9144" rIns="9144" tIns="9144" bIns="9144" anchor="ctr">
            <a:spAutoFit/>
          </a:bodyPr>
          <a:lstStyle/>
          <a:p>
            <a:pPr algn="ctr" rtl="0">
              <a:lnSpc>
                <a:spcPct val="100000"/>
              </a:lnSpc>
              <a:spcAft>
                <a:spcPts val="0"/>
              </a:spcAft>
            </a:pPr>
            <a:r>
              <a:rPr sz="1050" b="1" i="0" lang="en-US">
                <a:solidFill>
                  <a:srgbClr val="FFFFFF"/>
                </a:solidFill>
                <a:latin typeface="Aptos"/>
                <a:cs typeface="Aptos"/>
                <a:ea typeface="Aptos"/>
              </a:rPr>
              <a:t>04  /  الحماية والاستعمال</a:t>
            </a:r>
          </a:p>
        </p:txBody>
      </p:sp>
      <p:sp>
        <p:nvSpPr>
          <p:cNvPr id="4" name="Rectangle 3"/>
          <p:cNvSpPr/>
          <p:nvPr/>
        </p:nvSpPr>
        <p:spPr>
          <a:xfrm>
            <a:off x="11594592" y="283464"/>
            <a:ext cx="64008" cy="502920"/>
          </a:xfrm>
          <a:prstGeom prst="rect">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063240" y="182880"/>
            <a:ext cx="8229600" cy="557784"/>
          </a:xfrm>
          <a:prstGeom prst="rect">
            <a:avLst/>
          </a:prstGeom>
          <a:noFill/>
        </p:spPr>
        <p:txBody>
          <a:bodyPr wrap="square" lIns="18288" rIns="18288" tIns="18288" bIns="18288" anchor="ctr">
            <a:spAutoFit/>
          </a:bodyPr>
          <a:lstStyle/>
          <a:p>
            <a:pPr algn="r" rtl="1">
              <a:lnSpc>
                <a:spcPct val="100000"/>
              </a:lnSpc>
              <a:spcAft>
                <a:spcPts val="0"/>
              </a:spcAft>
            </a:pPr>
            <a:r>
              <a:rPr sz="2600" b="1" i="0" lang="ar-DZ" rtl="1">
                <a:solidFill>
                  <a:srgbClr val="10233D"/>
                </a:solidFill>
                <a:latin typeface="Cairo"/>
                <a:cs typeface="Cairo"/>
                <a:ea typeface="Cairo"/>
              </a:rPr>
              <a:t>ماذا حقق المشروع؟</a:t>
            </a:r>
          </a:p>
        </p:txBody>
      </p:sp>
      <p:sp>
        <p:nvSpPr>
          <p:cNvPr id="6" name="TextBox 5"/>
          <p:cNvSpPr txBox="1"/>
          <p:nvPr/>
        </p:nvSpPr>
        <p:spPr>
          <a:xfrm>
            <a:off x="3063240" y="731520"/>
            <a:ext cx="8229600" cy="310896"/>
          </a:xfrm>
          <a:prstGeom prst="rect">
            <a:avLst/>
          </a:prstGeom>
          <a:noFill/>
        </p:spPr>
        <p:txBody>
          <a:bodyPr wrap="square" lIns="9144" rIns="9144" tIns="9144" bIns="9144" anchor="ctr">
            <a:spAutoFit/>
          </a:bodyPr>
          <a:lstStyle/>
          <a:p>
            <a:pPr algn="r" rtl="1">
              <a:lnSpc>
                <a:spcPct val="100000"/>
              </a:lnSpc>
              <a:spcAft>
                <a:spcPts val="0"/>
              </a:spcAft>
            </a:pPr>
            <a:r>
              <a:rPr sz="1350" b="0" i="0" lang="ar-DZ" rtl="1">
                <a:solidFill>
                  <a:srgbClr val="617187"/>
                </a:solidFill>
                <a:latin typeface="Cairo"/>
                <a:cs typeface="Cairo"/>
                <a:ea typeface="Cairo"/>
              </a:rPr>
              <a:t>مخرجات قابلة للتحقق في المذكرة، وأثر مستهدف لا تدعمه أرقام قبل/بعد.</a:t>
            </a:r>
          </a:p>
        </p:txBody>
      </p:sp>
      <p:cxnSp>
        <p:nvCxnSpPr>
          <p:cNvPr id="7" name="Connector 6"/>
          <p:cNvCxnSpPr/>
          <p:nvPr/>
        </p:nvCxnSpPr>
        <p:spPr>
          <a:xfrm>
            <a:off x="530352" y="1170432"/>
            <a:ext cx="11128248" cy="0"/>
          </a:xfrm>
          <a:prstGeom prst="line">
            <a:avLst/>
          </a:prstGeom>
          <a:ln w="10160">
            <a:solidFill>
              <a:srgbClr val="D5DFE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30352" y="6382512"/>
            <a:ext cx="11128248" cy="0"/>
          </a:xfrm>
          <a:prstGeom prst="line">
            <a:avLst/>
          </a:prstGeom>
          <a:ln w="8890">
            <a:solidFill>
              <a:srgbClr val="D5DFEA"/>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03504" y="6437376"/>
            <a:ext cx="8778240" cy="210312"/>
          </a:xfrm>
          <a:prstGeom prst="rect">
            <a:avLst/>
          </a:prstGeom>
          <a:noFill/>
        </p:spPr>
        <p:txBody>
          <a:bodyPr wrap="square" lIns="0" rIns="0" tIns="0" bIns="0" anchor="ctr">
            <a:spAutoFit/>
          </a:bodyPr>
          <a:lstStyle/>
          <a:p>
            <a:pPr algn="l" rtl="1">
              <a:lnSpc>
                <a:spcPct val="100000"/>
              </a:lnSpc>
              <a:spcAft>
                <a:spcPts val="0"/>
              </a:spcAft>
            </a:pPr>
            <a:r>
              <a:rPr sz="850" b="0" i="0" lang="ar-DZ" rtl="1">
                <a:solidFill>
                  <a:srgbClr val="617187"/>
                </a:solidFill>
                <a:latin typeface="Cairo"/>
                <a:cs typeface="Cairo"/>
                <a:ea typeface="Cairo"/>
              </a:rPr>
              <a:t>المصدر: المذكرة، الخاتمة، ص 85؛ الفصل الثالث، ص 70–82</a:t>
            </a:r>
          </a:p>
        </p:txBody>
      </p:sp>
      <p:sp>
        <p:nvSpPr>
          <p:cNvPr id="10" name="TextBox 9"/>
          <p:cNvSpPr txBox="1"/>
          <p:nvPr/>
        </p:nvSpPr>
        <p:spPr>
          <a:xfrm>
            <a:off x="10725912" y="6409944"/>
            <a:ext cx="932688" cy="228600"/>
          </a:xfrm>
          <a:prstGeom prst="rect">
            <a:avLst/>
          </a:prstGeom>
          <a:noFill/>
        </p:spPr>
        <p:txBody>
          <a:bodyPr wrap="square" lIns="0" rIns="0" tIns="0" bIns="0" anchor="ctr">
            <a:spAutoFit/>
          </a:bodyPr>
          <a:lstStyle/>
          <a:p>
            <a:pPr algn="l" rtl="0">
              <a:lnSpc>
                <a:spcPct val="100000"/>
              </a:lnSpc>
              <a:spcAft>
                <a:spcPts val="0"/>
              </a:spcAft>
            </a:pPr>
            <a:r>
              <a:rPr sz="950" b="1" i="0" lang="en-US">
                <a:solidFill>
                  <a:srgbClr val="10233D"/>
                </a:solidFill>
                <a:latin typeface="Aptos"/>
                <a:cs typeface="Aptos"/>
                <a:ea typeface="Aptos"/>
              </a:rPr>
              <a:t>19 / 20</a:t>
            </a:r>
          </a:p>
        </p:txBody>
      </p:sp>
      <p:sp>
        <p:nvSpPr>
          <p:cNvPr id="11" name="Rectangle 10"/>
          <p:cNvSpPr/>
          <p:nvPr/>
        </p:nvSpPr>
        <p:spPr>
          <a:xfrm>
            <a:off x="9400032" y="6519672"/>
            <a:ext cx="1085850" cy="32004"/>
          </a:xfrm>
          <a:prstGeom prst="rect">
            <a:avLst/>
          </a:prstGeom>
          <a:solidFill>
            <a:srgbClr val="316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36208" y="1463040"/>
            <a:ext cx="5285232" cy="4526280"/>
          </a:xfrm>
          <a:prstGeom prst="roundRect">
            <a:avLst/>
          </a:prstGeom>
          <a:solidFill>
            <a:srgbClr val="10233D"/>
          </a:solidFill>
          <a:ln w="10160">
            <a:solidFill>
              <a:srgbClr val="10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482328" y="1700784"/>
            <a:ext cx="1664208" cy="301752"/>
          </a:xfrm>
          <a:prstGeom prst="roundRect">
            <a:avLst/>
          </a:prstGeom>
          <a:solidFill>
            <a:srgbClr val="244A78"/>
          </a:solidFill>
          <a:ln w="8890">
            <a:solidFill>
              <a:srgbClr val="24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23476" y="1705356"/>
            <a:ext cx="1581912" cy="292608"/>
          </a:xfrm>
          <a:prstGeom prst="rect">
            <a:avLst/>
          </a:prstGeom>
          <a:noFill/>
        </p:spPr>
        <p:txBody>
          <a:bodyPr wrap="square" lIns="9144" rIns="9144" tIns="9144" bIns="9144" anchor="ctr">
            <a:spAutoFit/>
          </a:bodyPr>
          <a:lstStyle/>
          <a:p>
            <a:pPr algn="ctr" rtl="1">
              <a:lnSpc>
                <a:spcPct val="100000"/>
              </a:lnSpc>
              <a:spcAft>
                <a:spcPts val="0"/>
              </a:spcAft>
            </a:pPr>
            <a:r>
              <a:rPr sz="1150" b="1" i="0" lang="ar-DZ" rtl="1">
                <a:solidFill>
                  <a:srgbClr val="FFFFFF"/>
                </a:solidFill>
                <a:latin typeface="Cairo"/>
                <a:cs typeface="Cairo"/>
                <a:ea typeface="Cairo"/>
              </a:rPr>
              <a:t>مخرجات أُنجزت</a:t>
            </a:r>
          </a:p>
        </p:txBody>
      </p:sp>
      <p:sp>
        <p:nvSpPr>
          <p:cNvPr id="15" name="Rounded Rectangle 14"/>
          <p:cNvSpPr/>
          <p:nvPr/>
        </p:nvSpPr>
        <p:spPr>
          <a:xfrm>
            <a:off x="10716768" y="2267712"/>
            <a:ext cx="347472" cy="265176"/>
          </a:xfrm>
          <a:prstGeom prst="roundRect">
            <a:avLst/>
          </a:prstGeom>
          <a:solidFill>
            <a:srgbClr val="DCA74C"/>
          </a:solidFill>
          <a:ln w="8890">
            <a:solidFill>
              <a:srgbClr val="DCA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57916" y="2272284"/>
            <a:ext cx="265176" cy="256031"/>
          </a:xfrm>
          <a:prstGeom prst="rect">
            <a:avLst/>
          </a:prstGeom>
          <a:noFill/>
        </p:spPr>
        <p:txBody>
          <a:bodyPr wrap="square" lIns="9144" rIns="9144" tIns="9144" bIns="9144" anchor="ctr">
            <a:spAutoFit/>
          </a:bodyPr>
          <a:lstStyle/>
          <a:p>
            <a:pPr algn="ctr" rtl="0">
              <a:lnSpc>
                <a:spcPct val="100000"/>
              </a:lnSpc>
              <a:spcAft>
                <a:spcPts val="0"/>
              </a:spcAft>
            </a:pPr>
            <a:r>
              <a:rPr sz="850" b="1" i="0" lang="en-US">
                <a:solidFill>
                  <a:srgbClr val="10233D"/>
                </a:solidFill>
                <a:latin typeface="Aptos"/>
                <a:cs typeface="Aptos"/>
                <a:ea typeface="Aptos"/>
              </a:rPr>
              <a:t>01</a:t>
            </a:r>
          </a:p>
        </p:txBody>
      </p:sp>
      <p:sp>
        <p:nvSpPr>
          <p:cNvPr id="17" name="TextBox 16"/>
          <p:cNvSpPr txBox="1"/>
          <p:nvPr/>
        </p:nvSpPr>
        <p:spPr>
          <a:xfrm>
            <a:off x="6565392" y="2249424"/>
            <a:ext cx="3886200" cy="374904"/>
          </a:xfrm>
          <a:prstGeom prst="rect">
            <a:avLst/>
          </a:prstGeom>
          <a:noFill/>
        </p:spPr>
        <p:txBody>
          <a:bodyPr wrap="square" lIns="18288" rIns="18288" tIns="18288" bIns="18288" anchor="ctr">
            <a:spAutoFit/>
          </a:bodyPr>
          <a:lstStyle/>
          <a:p>
            <a:pPr algn="r" rtl="1">
              <a:lnSpc>
                <a:spcPct val="100000"/>
              </a:lnSpc>
              <a:spcAft>
                <a:spcPts val="0"/>
              </a:spcAft>
            </a:pPr>
            <a:r>
              <a:rPr sz="1320" b="1" i="0" lang="ar-DZ" rtl="1">
                <a:solidFill>
                  <a:srgbClr val="FFFFFF"/>
                </a:solidFill>
                <a:latin typeface="Cairo"/>
                <a:cs typeface="Cairo"/>
                <a:ea typeface="Cairo"/>
              </a:rPr>
              <a:t>تصميم البيانات: MCD → MLD → MPD</a:t>
            </a:r>
          </a:p>
        </p:txBody>
      </p:sp>
      <p:sp>
        <p:nvSpPr>
          <p:cNvPr id="18" name="Rounded Rectangle 17"/>
          <p:cNvSpPr/>
          <p:nvPr/>
        </p:nvSpPr>
        <p:spPr>
          <a:xfrm>
            <a:off x="10716768" y="2880360"/>
            <a:ext cx="347472" cy="265176"/>
          </a:xfrm>
          <a:prstGeom prst="roundRect">
            <a:avLst/>
          </a:prstGeom>
          <a:solidFill>
            <a:srgbClr val="DCA74C"/>
          </a:solidFill>
          <a:ln w="8890">
            <a:solidFill>
              <a:srgbClr val="DCA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757916" y="2884932"/>
            <a:ext cx="265176" cy="256031"/>
          </a:xfrm>
          <a:prstGeom prst="rect">
            <a:avLst/>
          </a:prstGeom>
          <a:noFill/>
        </p:spPr>
        <p:txBody>
          <a:bodyPr wrap="square" lIns="9144" rIns="9144" tIns="9144" bIns="9144" anchor="ctr">
            <a:spAutoFit/>
          </a:bodyPr>
          <a:lstStyle/>
          <a:p>
            <a:pPr algn="ctr" rtl="0">
              <a:lnSpc>
                <a:spcPct val="100000"/>
              </a:lnSpc>
              <a:spcAft>
                <a:spcPts val="0"/>
              </a:spcAft>
            </a:pPr>
            <a:r>
              <a:rPr sz="850" b="1" i="0" lang="en-US">
                <a:solidFill>
                  <a:srgbClr val="10233D"/>
                </a:solidFill>
                <a:latin typeface="Aptos"/>
                <a:cs typeface="Aptos"/>
                <a:ea typeface="Aptos"/>
              </a:rPr>
              <a:t>02</a:t>
            </a:r>
          </a:p>
        </p:txBody>
      </p:sp>
      <p:sp>
        <p:nvSpPr>
          <p:cNvPr id="20" name="TextBox 19"/>
          <p:cNvSpPr txBox="1"/>
          <p:nvPr/>
        </p:nvSpPr>
        <p:spPr>
          <a:xfrm>
            <a:off x="6565392" y="2862072"/>
            <a:ext cx="3886200" cy="374904"/>
          </a:xfrm>
          <a:prstGeom prst="rect">
            <a:avLst/>
          </a:prstGeom>
          <a:noFill/>
        </p:spPr>
        <p:txBody>
          <a:bodyPr wrap="square" lIns="18288" rIns="18288" tIns="18288" bIns="18288" anchor="ctr">
            <a:spAutoFit/>
          </a:bodyPr>
          <a:lstStyle/>
          <a:p>
            <a:pPr algn="r" rtl="1">
              <a:lnSpc>
                <a:spcPct val="100000"/>
              </a:lnSpc>
              <a:spcAft>
                <a:spcPts val="0"/>
              </a:spcAft>
            </a:pPr>
            <a:r>
              <a:rPr sz="1320" b="0" i="0" lang="ar-DZ" rtl="1">
                <a:solidFill>
                  <a:srgbClr val="FFFFFF"/>
                </a:solidFill>
                <a:latin typeface="Cairo"/>
                <a:cs typeface="Cairo"/>
                <a:ea typeface="Cairo"/>
              </a:rPr>
              <a:t>قاعدة My_Data على SQL Server</a:t>
            </a:r>
          </a:p>
        </p:txBody>
      </p:sp>
      <p:sp>
        <p:nvSpPr>
          <p:cNvPr id="21" name="Rounded Rectangle 20"/>
          <p:cNvSpPr/>
          <p:nvPr/>
        </p:nvSpPr>
        <p:spPr>
          <a:xfrm>
            <a:off x="10716768" y="3493008"/>
            <a:ext cx="347472" cy="265176"/>
          </a:xfrm>
          <a:prstGeom prst="roundRect">
            <a:avLst/>
          </a:prstGeom>
          <a:solidFill>
            <a:srgbClr val="DCA74C"/>
          </a:solidFill>
          <a:ln w="8890">
            <a:solidFill>
              <a:srgbClr val="DCA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57916" y="3497580"/>
            <a:ext cx="265176" cy="256031"/>
          </a:xfrm>
          <a:prstGeom prst="rect">
            <a:avLst/>
          </a:prstGeom>
          <a:noFill/>
        </p:spPr>
        <p:txBody>
          <a:bodyPr wrap="square" lIns="9144" rIns="9144" tIns="9144" bIns="9144" anchor="ctr">
            <a:spAutoFit/>
          </a:bodyPr>
          <a:lstStyle/>
          <a:p>
            <a:pPr algn="ctr" rtl="0">
              <a:lnSpc>
                <a:spcPct val="100000"/>
              </a:lnSpc>
              <a:spcAft>
                <a:spcPts val="0"/>
              </a:spcAft>
            </a:pPr>
            <a:r>
              <a:rPr sz="850" b="1" i="0" lang="en-US">
                <a:solidFill>
                  <a:srgbClr val="10233D"/>
                </a:solidFill>
                <a:latin typeface="Aptos"/>
                <a:cs typeface="Aptos"/>
                <a:ea typeface="Aptos"/>
              </a:rPr>
              <a:t>03</a:t>
            </a:r>
          </a:p>
        </p:txBody>
      </p:sp>
      <p:sp>
        <p:nvSpPr>
          <p:cNvPr id="23" name="TextBox 22"/>
          <p:cNvSpPr txBox="1"/>
          <p:nvPr/>
        </p:nvSpPr>
        <p:spPr>
          <a:xfrm>
            <a:off x="6565392" y="3474720"/>
            <a:ext cx="3886200" cy="374904"/>
          </a:xfrm>
          <a:prstGeom prst="rect">
            <a:avLst/>
          </a:prstGeom>
          <a:noFill/>
        </p:spPr>
        <p:txBody>
          <a:bodyPr wrap="square" lIns="18288" rIns="18288" tIns="18288" bIns="18288" anchor="ctr">
            <a:spAutoFit/>
          </a:bodyPr>
          <a:lstStyle/>
          <a:p>
            <a:pPr algn="r" rtl="1">
              <a:lnSpc>
                <a:spcPct val="100000"/>
              </a:lnSpc>
              <a:spcAft>
                <a:spcPts val="0"/>
              </a:spcAft>
            </a:pPr>
            <a:r>
              <a:rPr sz="1320" b="0" i="0" lang="ar-DZ" rtl="1">
                <a:solidFill>
                  <a:srgbClr val="FFFFFF"/>
                </a:solidFill>
                <a:latin typeface="Cairo"/>
                <a:cs typeface="Cairo"/>
                <a:ea typeface="Cairo"/>
              </a:rPr>
              <a:t>تطبيق Delphi مع شاشة دخول وواجهة رئيسية</a:t>
            </a:r>
          </a:p>
        </p:txBody>
      </p:sp>
      <p:sp>
        <p:nvSpPr>
          <p:cNvPr id="24" name="Rounded Rectangle 23"/>
          <p:cNvSpPr/>
          <p:nvPr/>
        </p:nvSpPr>
        <p:spPr>
          <a:xfrm>
            <a:off x="10716768" y="4105656"/>
            <a:ext cx="347472" cy="265176"/>
          </a:xfrm>
          <a:prstGeom prst="roundRect">
            <a:avLst/>
          </a:prstGeom>
          <a:solidFill>
            <a:srgbClr val="DCA74C"/>
          </a:solidFill>
          <a:ln w="8890">
            <a:solidFill>
              <a:srgbClr val="DCA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757916" y="4110228"/>
            <a:ext cx="265176" cy="256031"/>
          </a:xfrm>
          <a:prstGeom prst="rect">
            <a:avLst/>
          </a:prstGeom>
          <a:noFill/>
        </p:spPr>
        <p:txBody>
          <a:bodyPr wrap="square" lIns="9144" rIns="9144" tIns="9144" bIns="9144" anchor="ctr">
            <a:spAutoFit/>
          </a:bodyPr>
          <a:lstStyle/>
          <a:p>
            <a:pPr algn="ctr" rtl="0">
              <a:lnSpc>
                <a:spcPct val="100000"/>
              </a:lnSpc>
              <a:spcAft>
                <a:spcPts val="0"/>
              </a:spcAft>
            </a:pPr>
            <a:r>
              <a:rPr sz="850" b="1" i="0" lang="en-US">
                <a:solidFill>
                  <a:srgbClr val="10233D"/>
                </a:solidFill>
                <a:latin typeface="Aptos"/>
                <a:cs typeface="Aptos"/>
                <a:ea typeface="Aptos"/>
              </a:rPr>
              <a:t>04</a:t>
            </a:r>
          </a:p>
        </p:txBody>
      </p:sp>
      <p:sp>
        <p:nvSpPr>
          <p:cNvPr id="26" name="TextBox 25"/>
          <p:cNvSpPr txBox="1"/>
          <p:nvPr/>
        </p:nvSpPr>
        <p:spPr>
          <a:xfrm>
            <a:off x="6565392" y="4087368"/>
            <a:ext cx="3886200" cy="374904"/>
          </a:xfrm>
          <a:prstGeom prst="rect">
            <a:avLst/>
          </a:prstGeom>
          <a:noFill/>
        </p:spPr>
        <p:txBody>
          <a:bodyPr wrap="square" lIns="18288" rIns="18288" tIns="18288" bIns="18288" anchor="ctr">
            <a:spAutoFit/>
          </a:bodyPr>
          <a:lstStyle/>
          <a:p>
            <a:pPr algn="r" rtl="1">
              <a:lnSpc>
                <a:spcPct val="100000"/>
              </a:lnSpc>
              <a:spcAft>
                <a:spcPts val="0"/>
              </a:spcAft>
            </a:pPr>
            <a:r>
              <a:rPr sz="1320" b="0" i="0" lang="ar-DZ" rtl="1">
                <a:solidFill>
                  <a:srgbClr val="FFFFFF"/>
                </a:solidFill>
                <a:latin typeface="Cairo"/>
                <a:cs typeface="Cairo"/>
                <a:ea typeface="Cairo"/>
              </a:rPr>
              <a:t>إجراءات مخزنة وTrigger</a:t>
            </a:r>
          </a:p>
        </p:txBody>
      </p:sp>
      <p:sp>
        <p:nvSpPr>
          <p:cNvPr id="27" name="Rounded Rectangle 26"/>
          <p:cNvSpPr/>
          <p:nvPr/>
        </p:nvSpPr>
        <p:spPr>
          <a:xfrm>
            <a:off x="10716768" y="4718304"/>
            <a:ext cx="347472" cy="265176"/>
          </a:xfrm>
          <a:prstGeom prst="roundRect">
            <a:avLst/>
          </a:prstGeom>
          <a:solidFill>
            <a:srgbClr val="DCA74C"/>
          </a:solidFill>
          <a:ln w="8890">
            <a:solidFill>
              <a:srgbClr val="DCA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757916" y="4722876"/>
            <a:ext cx="265176" cy="256031"/>
          </a:xfrm>
          <a:prstGeom prst="rect">
            <a:avLst/>
          </a:prstGeom>
          <a:noFill/>
        </p:spPr>
        <p:txBody>
          <a:bodyPr wrap="square" lIns="9144" rIns="9144" tIns="9144" bIns="9144" anchor="ctr">
            <a:spAutoFit/>
          </a:bodyPr>
          <a:lstStyle/>
          <a:p>
            <a:pPr algn="ctr" rtl="0">
              <a:lnSpc>
                <a:spcPct val="100000"/>
              </a:lnSpc>
              <a:spcAft>
                <a:spcPts val="0"/>
              </a:spcAft>
            </a:pPr>
            <a:r>
              <a:rPr sz="850" b="1" i="0" lang="en-US">
                <a:solidFill>
                  <a:srgbClr val="10233D"/>
                </a:solidFill>
                <a:latin typeface="Aptos"/>
                <a:cs typeface="Aptos"/>
                <a:ea typeface="Aptos"/>
              </a:rPr>
              <a:t>05</a:t>
            </a:r>
          </a:p>
        </p:txBody>
      </p:sp>
      <p:sp>
        <p:nvSpPr>
          <p:cNvPr id="29" name="TextBox 28"/>
          <p:cNvSpPr txBox="1"/>
          <p:nvPr/>
        </p:nvSpPr>
        <p:spPr>
          <a:xfrm>
            <a:off x="6565392" y="4700016"/>
            <a:ext cx="3886200" cy="374904"/>
          </a:xfrm>
          <a:prstGeom prst="rect">
            <a:avLst/>
          </a:prstGeom>
          <a:noFill/>
        </p:spPr>
        <p:txBody>
          <a:bodyPr wrap="square" lIns="18288" rIns="18288" tIns="18288" bIns="18288" anchor="ctr">
            <a:spAutoFit/>
          </a:bodyPr>
          <a:lstStyle/>
          <a:p>
            <a:pPr algn="r" rtl="1">
              <a:lnSpc>
                <a:spcPct val="100000"/>
              </a:lnSpc>
              <a:spcAft>
                <a:spcPts val="0"/>
              </a:spcAft>
            </a:pPr>
            <a:r>
              <a:rPr sz="1320" b="0" i="0" lang="ar-DZ" rtl="1">
                <a:solidFill>
                  <a:srgbClr val="FFFFFF"/>
                </a:solidFill>
                <a:latin typeface="Cairo"/>
                <a:cs typeface="Cairo"/>
                <a:ea typeface="Cairo"/>
              </a:rPr>
              <a:t>مسار أرشفة واسترجاع موثق</a:t>
            </a:r>
          </a:p>
        </p:txBody>
      </p:sp>
      <p:sp>
        <p:nvSpPr>
          <p:cNvPr id="30" name="Rounded Rectangle 29"/>
          <p:cNvSpPr/>
          <p:nvPr/>
        </p:nvSpPr>
        <p:spPr>
          <a:xfrm>
            <a:off x="699516" y="1513332"/>
            <a:ext cx="5285232" cy="4526280"/>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58368" y="1463040"/>
            <a:ext cx="5285232" cy="4526280"/>
          </a:xfrm>
          <a:prstGeom prst="roundRect">
            <a:avLst/>
          </a:prstGeom>
          <a:solidFill>
            <a:srgbClr val="FFFFFF"/>
          </a:solidFill>
          <a:ln w="10160">
            <a:solidFill>
              <a:srgbClr val="D5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3429000" y="1700784"/>
            <a:ext cx="2212848" cy="301752"/>
          </a:xfrm>
          <a:prstGeom prst="roundRect">
            <a:avLst/>
          </a:prstGeom>
          <a:solidFill>
            <a:srgbClr val="F8F0DF"/>
          </a:solidFill>
          <a:ln w="8890">
            <a:solidFill>
              <a:srgbClr val="F8F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70148" y="1705356"/>
            <a:ext cx="2130552" cy="292608"/>
          </a:xfrm>
          <a:prstGeom prst="rect">
            <a:avLst/>
          </a:prstGeom>
          <a:noFill/>
        </p:spPr>
        <p:txBody>
          <a:bodyPr wrap="square" lIns="9144" rIns="9144" tIns="9144" bIns="9144" anchor="ctr">
            <a:spAutoFit/>
          </a:bodyPr>
          <a:lstStyle/>
          <a:p>
            <a:pPr algn="ctr" rtl="1">
              <a:lnSpc>
                <a:spcPct val="100000"/>
              </a:lnSpc>
              <a:spcAft>
                <a:spcPts val="0"/>
              </a:spcAft>
            </a:pPr>
            <a:r>
              <a:rPr sz="1120" b="1" i="0" lang="ar-DZ" rtl="1">
                <a:solidFill>
                  <a:srgbClr val="10233D"/>
                </a:solidFill>
                <a:latin typeface="Cairo"/>
                <a:cs typeface="Cairo"/>
                <a:ea typeface="Cairo"/>
              </a:rPr>
              <a:t>الأثر الذي يستهدفه الحل</a:t>
            </a:r>
          </a:p>
        </p:txBody>
      </p:sp>
      <p:sp>
        <p:nvSpPr>
          <p:cNvPr id="34" name="Oval 33"/>
          <p:cNvSpPr/>
          <p:nvPr/>
        </p:nvSpPr>
        <p:spPr>
          <a:xfrm>
            <a:off x="5230368" y="2386584"/>
            <a:ext cx="91440" cy="91440"/>
          </a:xfrm>
          <a:prstGeom prst="ellipse">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60704" y="2322576"/>
            <a:ext cx="3904487" cy="329184"/>
          </a:xfrm>
          <a:prstGeom prst="rect">
            <a:avLst/>
          </a:prstGeom>
          <a:noFill/>
        </p:spPr>
        <p:txBody>
          <a:bodyPr wrap="square" lIns="18288" rIns="18288" tIns="18288" bIns="18288" anchor="ctr">
            <a:spAutoFit/>
          </a:bodyPr>
          <a:lstStyle/>
          <a:p>
            <a:pPr algn="r" rtl="1">
              <a:lnSpc>
                <a:spcPct val="100000"/>
              </a:lnSpc>
              <a:spcAft>
                <a:spcPts val="0"/>
              </a:spcAft>
            </a:pPr>
            <a:r>
              <a:rPr sz="1600" b="1" i="0" lang="ar-DZ" rtl="1">
                <a:solidFill>
                  <a:srgbClr val="10233D"/>
                </a:solidFill>
                <a:latin typeface="Cairo"/>
                <a:cs typeface="Cairo"/>
                <a:ea typeface="Cairo"/>
              </a:rPr>
              <a:t>تنظيم البيانات</a:t>
            </a:r>
          </a:p>
        </p:txBody>
      </p:sp>
      <p:cxnSp>
        <p:nvCxnSpPr>
          <p:cNvPr id="36" name="Connector 35"/>
          <p:cNvCxnSpPr/>
          <p:nvPr/>
        </p:nvCxnSpPr>
        <p:spPr>
          <a:xfrm>
            <a:off x="1078992" y="2816352"/>
            <a:ext cx="4270248" cy="0"/>
          </a:xfrm>
          <a:prstGeom prst="line">
            <a:avLst/>
          </a:prstGeom>
          <a:ln w="10160">
            <a:solidFill>
              <a:srgbClr val="D5DFEA"/>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5230368" y="3099816"/>
            <a:ext cx="91440" cy="91440"/>
          </a:xfrm>
          <a:prstGeom prst="ellipse">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60704" y="3035808"/>
            <a:ext cx="3904487" cy="329184"/>
          </a:xfrm>
          <a:prstGeom prst="rect">
            <a:avLst/>
          </a:prstGeom>
          <a:noFill/>
        </p:spPr>
        <p:txBody>
          <a:bodyPr wrap="square" lIns="18288" rIns="18288" tIns="18288" bIns="18288" anchor="ctr">
            <a:spAutoFit/>
          </a:bodyPr>
          <a:lstStyle/>
          <a:p>
            <a:pPr algn="r" rtl="1">
              <a:lnSpc>
                <a:spcPct val="100000"/>
              </a:lnSpc>
              <a:spcAft>
                <a:spcPts val="0"/>
              </a:spcAft>
            </a:pPr>
            <a:r>
              <a:rPr sz="1600" b="1" i="0" lang="ar-DZ" rtl="1">
                <a:solidFill>
                  <a:srgbClr val="10233D"/>
                </a:solidFill>
                <a:latin typeface="Cairo"/>
                <a:cs typeface="Cairo"/>
                <a:ea typeface="Cairo"/>
              </a:rPr>
              <a:t>دقة أعلى في المعالجة</a:t>
            </a:r>
          </a:p>
        </p:txBody>
      </p:sp>
      <p:cxnSp>
        <p:nvCxnSpPr>
          <p:cNvPr id="39" name="Connector 38"/>
          <p:cNvCxnSpPr/>
          <p:nvPr/>
        </p:nvCxnSpPr>
        <p:spPr>
          <a:xfrm>
            <a:off x="1078992" y="3529584"/>
            <a:ext cx="4270248" cy="0"/>
          </a:xfrm>
          <a:prstGeom prst="line">
            <a:avLst/>
          </a:prstGeom>
          <a:ln w="10160">
            <a:solidFill>
              <a:srgbClr val="D5DFEA"/>
            </a:solidFill>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5230368" y="3813048"/>
            <a:ext cx="91440" cy="91440"/>
          </a:xfrm>
          <a:prstGeom prst="ellipse">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60704" y="3749039"/>
            <a:ext cx="3904487" cy="329184"/>
          </a:xfrm>
          <a:prstGeom prst="rect">
            <a:avLst/>
          </a:prstGeom>
          <a:noFill/>
        </p:spPr>
        <p:txBody>
          <a:bodyPr wrap="square" lIns="18288" rIns="18288" tIns="18288" bIns="18288" anchor="ctr">
            <a:spAutoFit/>
          </a:bodyPr>
          <a:lstStyle/>
          <a:p>
            <a:pPr algn="r" rtl="1">
              <a:lnSpc>
                <a:spcPct val="100000"/>
              </a:lnSpc>
              <a:spcAft>
                <a:spcPts val="0"/>
              </a:spcAft>
            </a:pPr>
            <a:r>
              <a:rPr sz="1600" b="1" i="0" lang="ar-DZ" rtl="1">
                <a:solidFill>
                  <a:srgbClr val="10233D"/>
                </a:solidFill>
                <a:latin typeface="Cairo"/>
                <a:cs typeface="Cairo"/>
                <a:ea typeface="Cairo"/>
              </a:rPr>
              <a:t>وقت وجهد أقل</a:t>
            </a:r>
          </a:p>
        </p:txBody>
      </p:sp>
      <p:cxnSp>
        <p:nvCxnSpPr>
          <p:cNvPr id="42" name="Connector 41"/>
          <p:cNvCxnSpPr/>
          <p:nvPr/>
        </p:nvCxnSpPr>
        <p:spPr>
          <a:xfrm>
            <a:off x="1078992" y="4242816"/>
            <a:ext cx="4270248" cy="0"/>
          </a:xfrm>
          <a:prstGeom prst="line">
            <a:avLst/>
          </a:prstGeom>
          <a:ln w="10160">
            <a:solidFill>
              <a:srgbClr val="D5DFEA"/>
            </a:solidFill>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5230368" y="4526280"/>
            <a:ext cx="91440" cy="91440"/>
          </a:xfrm>
          <a:prstGeom prst="ellipse">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60704" y="4462272"/>
            <a:ext cx="3904487" cy="329184"/>
          </a:xfrm>
          <a:prstGeom prst="rect">
            <a:avLst/>
          </a:prstGeom>
          <a:noFill/>
        </p:spPr>
        <p:txBody>
          <a:bodyPr wrap="square" lIns="18288" rIns="18288" tIns="18288" bIns="18288" anchor="ctr">
            <a:spAutoFit/>
          </a:bodyPr>
          <a:lstStyle/>
          <a:p>
            <a:pPr algn="r" rtl="1">
              <a:lnSpc>
                <a:spcPct val="100000"/>
              </a:lnSpc>
              <a:spcAft>
                <a:spcPts val="0"/>
              </a:spcAft>
            </a:pPr>
            <a:r>
              <a:rPr sz="1600" b="1" i="0" lang="ar-DZ" rtl="1">
                <a:solidFill>
                  <a:srgbClr val="10233D"/>
                </a:solidFill>
                <a:latin typeface="Cairo"/>
                <a:cs typeface="Cairo"/>
                <a:ea typeface="Cairo"/>
              </a:rPr>
              <a:t>تخفيف العبء وتحسين الأداء</a:t>
            </a:r>
          </a:p>
        </p:txBody>
      </p:sp>
      <p:sp>
        <p:nvSpPr>
          <p:cNvPr id="45" name="TextBox 44"/>
          <p:cNvSpPr txBox="1"/>
          <p:nvPr/>
        </p:nvSpPr>
        <p:spPr>
          <a:xfrm>
            <a:off x="932688" y="6089904"/>
            <a:ext cx="10287000" cy="219456"/>
          </a:xfrm>
          <a:prstGeom prst="rect">
            <a:avLst/>
          </a:prstGeom>
          <a:noFill/>
        </p:spPr>
        <p:txBody>
          <a:bodyPr wrap="square" lIns="18288" rIns="18288" tIns="18288" bIns="18288" anchor="ctr">
            <a:spAutoFit/>
          </a:bodyPr>
          <a:lstStyle/>
          <a:p>
            <a:pPr algn="r" rtl="1">
              <a:lnSpc>
                <a:spcPct val="100000"/>
              </a:lnSpc>
              <a:spcAft>
                <a:spcPts val="0"/>
              </a:spcAft>
            </a:pPr>
            <a:r>
              <a:rPr sz="1030" b="0" i="0" lang="ar-DZ" rtl="1">
                <a:solidFill>
                  <a:srgbClr val="617187"/>
                </a:solidFill>
                <a:latin typeface="Cairo"/>
                <a:cs typeface="Cairo"/>
                <a:ea typeface="Cairo"/>
              </a:rPr>
              <a:t>الأثر مستخلص من أهداف وخاتمة المذكرة؛ لا تعرض المذكرة قياسًا كميًا قبل/بعد.</a:t>
            </a:r>
          </a:p>
        </p:txBody>
      </p:sp>
    </p:spTree>
  </p:cSld>
  <p:clrMapOvr>
    <a:masterClrMapping/>
  </p:clrMapOvr>
  <p:transition spd="med"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0233D"/>
        </a:solidFill>
        <a:effectLst/>
      </p:bgPr>
    </p:bg>
    <p:spTree>
      <p:nvGrpSpPr>
        <p:cNvPr id="1" name=""/>
        <p:cNvGrpSpPr/>
        <p:nvPr/>
      </p:nvGrpSpPr>
      <p:grpSpPr/>
      <p:sp>
        <p:nvSpPr>
          <p:cNvPr id="2" name="Oval 1"/>
          <p:cNvSpPr/>
          <p:nvPr/>
        </p:nvSpPr>
        <p:spPr>
          <a:xfrm>
            <a:off x="7818120" y="1051560"/>
            <a:ext cx="4023360" cy="4023360"/>
          </a:xfrm>
          <a:prstGeom prst="ellipse">
            <a:avLst/>
          </a:prstGeom>
          <a:noFill/>
          <a:ln w="15240">
            <a:solidFill>
              <a:srgbClr val="173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366760" y="1600200"/>
            <a:ext cx="2926080" cy="2926080"/>
          </a:xfrm>
          <a:prstGeom prst="ellipse">
            <a:avLst/>
          </a:prstGeom>
          <a:noFill/>
          <a:ln w="15240">
            <a:solidFill>
              <a:srgbClr val="1A3A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915400" y="2148840"/>
            <a:ext cx="1828800" cy="1828800"/>
          </a:xfrm>
          <a:prstGeom prst="ellipse">
            <a:avLst/>
          </a:prstGeom>
          <a:noFill/>
          <a:ln w="15240">
            <a:solidFill>
              <a:srgbClr val="2048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n 4"/>
          <p:cNvSpPr/>
          <p:nvPr/>
        </p:nvSpPr>
        <p:spPr>
          <a:xfrm>
            <a:off x="9098280" y="2331720"/>
            <a:ext cx="1481328" cy="1444752"/>
          </a:xfrm>
          <a:prstGeom prst="can">
            <a:avLst/>
          </a:prstGeom>
          <a:solidFill>
            <a:srgbClr val="275A91"/>
          </a:solidFill>
          <a:ln w="12700">
            <a:solidFill>
              <a:srgbClr val="6E91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9198864" y="2816352"/>
            <a:ext cx="1280160" cy="0"/>
          </a:xfrm>
          <a:prstGeom prst="line">
            <a:avLst/>
          </a:prstGeom>
          <a:ln w="13970">
            <a:solidFill>
              <a:srgbClr val="B7C9E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9198864" y="3127248"/>
            <a:ext cx="1280160" cy="0"/>
          </a:xfrm>
          <a:prstGeom prst="line">
            <a:avLst/>
          </a:prstGeom>
          <a:ln w="13970">
            <a:solidFill>
              <a:srgbClr val="B7C9E0"/>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8092440" y="1965960"/>
            <a:ext cx="82296" cy="82296"/>
          </a:xfrm>
          <a:prstGeom prst="ellipse">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0" y="2331720"/>
            <a:ext cx="82296" cy="82296"/>
          </a:xfrm>
          <a:prstGeom prst="ellipse">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229600" y="4041648"/>
            <a:ext cx="82296" cy="82296"/>
          </a:xfrm>
          <a:prstGeom prst="ellipse">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835640" y="4224528"/>
            <a:ext cx="82296" cy="82296"/>
          </a:xfrm>
          <a:prstGeom prst="ellipse">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09560" y="4754880"/>
            <a:ext cx="82296" cy="82296"/>
          </a:xfrm>
          <a:prstGeom prst="ellipse">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292840" y="1645920"/>
            <a:ext cx="82296" cy="82296"/>
          </a:xfrm>
          <a:prstGeom prst="ellipse">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389888"/>
            <a:ext cx="6537960" cy="1408176"/>
          </a:xfrm>
          <a:prstGeom prst="rect">
            <a:avLst/>
          </a:prstGeom>
          <a:noFill/>
        </p:spPr>
        <p:txBody>
          <a:bodyPr wrap="square" lIns="18288" rIns="18288" tIns="18288" bIns="18288" anchor="ctr">
            <a:spAutoFit/>
          </a:bodyPr>
          <a:lstStyle/>
          <a:p>
            <a:pPr algn="r" rtl="1">
              <a:lnSpc>
                <a:spcPct val="105000"/>
              </a:lnSpc>
              <a:spcAft>
                <a:spcPts val="0"/>
              </a:spcAft>
            </a:pPr>
            <a:r>
              <a:rPr sz="3000" b="1" i="0" lang="ar-DZ" rtl="1">
                <a:solidFill>
                  <a:srgbClr val="FFFFFF"/>
                </a:solidFill>
                <a:latin typeface="Cairo"/>
                <a:cs typeface="Cairo"/>
                <a:ea typeface="Cairo"/>
              </a:rPr>
              <a:t>من دفترٍ يدوي</a:t>
            </a:r>
            <a:br/>
            <a:r>
              <a:rPr sz="3000" b="1" i="0" lang="ar-DZ" rtl="1">
                <a:solidFill>
                  <a:srgbClr val="FFFFFF"/>
                </a:solidFill>
                <a:latin typeface="Cairo"/>
                <a:cs typeface="Cairo"/>
                <a:ea typeface="Cairo"/>
              </a:rPr>
              <a:t>إلى نظام معلوماتي قابل للتنفيذ</a:t>
            </a:r>
          </a:p>
        </p:txBody>
      </p:sp>
      <p:sp>
        <p:nvSpPr>
          <p:cNvPr id="15" name="Rectangle 14"/>
          <p:cNvSpPr/>
          <p:nvPr/>
        </p:nvSpPr>
        <p:spPr>
          <a:xfrm>
            <a:off x="6885432" y="3081528"/>
            <a:ext cx="73152" cy="896112"/>
          </a:xfrm>
          <a:prstGeom prst="rect">
            <a:avLst/>
          </a:prstGeom>
          <a:solidFill>
            <a:srgbClr val="DCA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3090672"/>
            <a:ext cx="5806440" cy="896112"/>
          </a:xfrm>
          <a:prstGeom prst="rect">
            <a:avLst/>
          </a:prstGeom>
          <a:noFill/>
        </p:spPr>
        <p:txBody>
          <a:bodyPr wrap="square" lIns="18288" rIns="18288" tIns="18288" bIns="18288" anchor="ctr">
            <a:spAutoFit/>
          </a:bodyPr>
          <a:lstStyle/>
          <a:p>
            <a:pPr algn="r" rtl="1">
              <a:lnSpc>
                <a:spcPct val="112000"/>
              </a:lnSpc>
              <a:spcAft>
                <a:spcPts val="0"/>
              </a:spcAft>
            </a:pPr>
            <a:r>
              <a:rPr sz="2000" b="1" i="0" lang="ar-DZ" rtl="1">
                <a:solidFill>
                  <a:srgbClr val="D2DFEF"/>
                </a:solidFill>
                <a:latin typeface="Cairo"/>
                <a:cs typeface="Cairo"/>
                <a:ea typeface="Cairo"/>
              </a:rPr>
              <a:t>نحو تنظيم أدق للمعلومة</a:t>
            </a:r>
            <a:br/>
            <a:r>
              <a:rPr sz="2000" b="1" i="0" lang="ar-DZ" rtl="1">
                <a:solidFill>
                  <a:srgbClr val="D2DFEF"/>
                </a:solidFill>
                <a:latin typeface="Cairo"/>
                <a:cs typeface="Cairo"/>
                <a:ea typeface="Cairo"/>
              </a:rPr>
              <a:t>وتسيير أسرع لخدمات المكتبة</a:t>
            </a:r>
          </a:p>
        </p:txBody>
      </p:sp>
      <p:sp>
        <p:nvSpPr>
          <p:cNvPr id="17" name="Rounded Rectangle 16"/>
          <p:cNvSpPr/>
          <p:nvPr/>
        </p:nvSpPr>
        <p:spPr>
          <a:xfrm>
            <a:off x="4187952" y="4645152"/>
            <a:ext cx="3310128" cy="448056"/>
          </a:xfrm>
          <a:prstGeom prst="roundRect">
            <a:avLst/>
          </a:prstGeom>
          <a:solidFill>
            <a:srgbClr val="244A78"/>
          </a:solidFill>
          <a:ln w="8890">
            <a:solidFill>
              <a:srgbClr val="24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29100" y="4649724"/>
            <a:ext cx="3227832" cy="438912"/>
          </a:xfrm>
          <a:prstGeom prst="rect">
            <a:avLst/>
          </a:prstGeom>
          <a:noFill/>
        </p:spPr>
        <p:txBody>
          <a:bodyPr wrap="square" lIns="9144" rIns="9144" tIns="9144" bIns="9144" anchor="ctr">
            <a:spAutoFit/>
          </a:bodyPr>
          <a:lstStyle/>
          <a:p>
            <a:pPr algn="ctr" rtl="1">
              <a:lnSpc>
                <a:spcPct val="100000"/>
              </a:lnSpc>
              <a:spcAft>
                <a:spcPts val="0"/>
              </a:spcAft>
            </a:pPr>
            <a:r>
              <a:rPr sz="1600" b="1" i="0" lang="ar-DZ" rtl="1">
                <a:solidFill>
                  <a:srgbClr val="FFFFFF"/>
                </a:solidFill>
                <a:latin typeface="Cairo"/>
                <a:cs typeface="Cairo"/>
                <a:ea typeface="Cairo"/>
              </a:rPr>
              <a:t>شكرًا لحسن الإصغاء</a:t>
            </a:r>
          </a:p>
        </p:txBody>
      </p:sp>
      <p:sp>
        <p:nvSpPr>
          <p:cNvPr id="19" name="TextBox 18"/>
          <p:cNvSpPr txBox="1"/>
          <p:nvPr/>
        </p:nvSpPr>
        <p:spPr>
          <a:xfrm>
            <a:off x="4800600" y="5294376"/>
            <a:ext cx="2103120" cy="347472"/>
          </a:xfrm>
          <a:prstGeom prst="rect">
            <a:avLst/>
          </a:prstGeom>
          <a:noFill/>
        </p:spPr>
        <p:txBody>
          <a:bodyPr wrap="square" lIns="18288" rIns="18288" tIns="18288" bIns="18288" anchor="ctr">
            <a:spAutoFit/>
          </a:bodyPr>
          <a:lstStyle/>
          <a:p>
            <a:pPr algn="ctr" rtl="1">
              <a:lnSpc>
                <a:spcPct val="100000"/>
              </a:lnSpc>
              <a:spcAft>
                <a:spcPts val="0"/>
              </a:spcAft>
            </a:pPr>
            <a:r>
              <a:rPr sz="1800" b="1" i="0" lang="ar-DZ" rtl="1">
                <a:solidFill>
                  <a:srgbClr val="DCA74C"/>
                </a:solidFill>
                <a:latin typeface="Cairo"/>
                <a:cs typeface="Cairo"/>
                <a:ea typeface="Cairo"/>
              </a:rPr>
              <a:t>أسئلة ومناقشة</a:t>
            </a:r>
          </a:p>
        </p:txBody>
      </p:sp>
      <p:sp>
        <p:nvSpPr>
          <p:cNvPr id="20" name="TextBox 19"/>
          <p:cNvSpPr txBox="1"/>
          <p:nvPr/>
        </p:nvSpPr>
        <p:spPr>
          <a:xfrm>
            <a:off x="731520" y="6153912"/>
            <a:ext cx="10789920" cy="274320"/>
          </a:xfrm>
          <a:prstGeom prst="rect">
            <a:avLst/>
          </a:prstGeom>
          <a:noFill/>
        </p:spPr>
        <p:txBody>
          <a:bodyPr wrap="square" lIns="18288" rIns="18288" tIns="18288" bIns="18288" anchor="ctr">
            <a:spAutoFit/>
          </a:bodyPr>
          <a:lstStyle/>
          <a:p>
            <a:pPr algn="ctr" rtl="1">
              <a:lnSpc>
                <a:spcPct val="100000"/>
              </a:lnSpc>
              <a:spcAft>
                <a:spcPts val="0"/>
              </a:spcAft>
            </a:pPr>
            <a:r>
              <a:rPr sz="1100" b="0" i="0" lang="ar-DZ" rtl="1">
                <a:solidFill>
                  <a:srgbClr val="AFC1D8"/>
                </a:solidFill>
                <a:latin typeface="Cairo"/>
                <a:cs typeface="Cairo"/>
                <a:ea typeface="Cairo"/>
              </a:rPr>
              <a:t>حمي فطيمة  ·  حماني عائشة  ·  بلابل فرح  |  المؤطرة: صبرينة قرزي</a:t>
            </a:r>
          </a:p>
        </p:txBody>
      </p:sp>
    </p:spTree>
  </p:cSld>
  <p:clrMapOvr>
    <a:masterClrMapping/>
  </p:clrMapOvr>
  <p:transition spd="med"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تصميم وإنجاز نظام معلوماتي لتسيير مكتبة كلية العلوم الاجتماعية والإنسانية</dc:title>
  <dc:subject>عرض مناقشة مذكرة تخرج — مارس 2026</dc:subject>
  <dc:creator>حمي فطيمة، حماني عائشة، بلابل فرح</dc:creator>
  <cp:keywords>MERISE, MCD, MLD, MPD, SQL Server, Delphi, Library Information System</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